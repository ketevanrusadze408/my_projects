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anva Sans Bold" panose="020B0604020202020204" charset="0"/>
      <p:regular r:id="rId17"/>
    </p:embeddedFont>
    <p:embeddedFont>
      <p:font typeface="Canva Sans Bold Italics" panose="020B0604020202020204" charset="0"/>
      <p:regular r:id="rId18"/>
    </p:embeddedFont>
    <p:embeddedFont>
      <p:font typeface="Garet" panose="020B0604020202020204" charset="0"/>
      <p:regular r:id="rId19"/>
    </p:embeddedFont>
    <p:embeddedFont>
      <p:font typeface="Sifonn" panose="020B0604020202020204" charset="0"/>
      <p:regular r:id="rId20"/>
    </p:embeddedFont>
    <p:embeddedFont>
      <p:font typeface="Tomorrow" panose="020B0604020202020204" charset="0"/>
      <p:regular r:id="rId21"/>
    </p:embeddedFont>
    <p:embeddedFont>
      <p:font typeface="Tomorrow Bold" panose="020B0604020202020204" charset="0"/>
      <p:regular r:id="rId22"/>
    </p:embeddedFont>
    <p:embeddedFont>
      <p:font typeface="Tomorrow Bold Italics" panose="020B0604020202020204" charset="0"/>
      <p:regular r:id="rId23"/>
    </p:embeddedFont>
    <p:embeddedFont>
      <p:font typeface="Tomorrow Italics"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315C15-63C4-6DB2-90A9-94407D37F6A6}" v="70" dt="2024-10-14T15:21:11.079"/>
    <p1510:client id="{8CEC366F-4EBD-EB3B-3575-C49F7E96185F}" v="4" dt="2024-10-14T15:09:44.6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 Id="rId30"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3.png"/><Relationship Id="rId7"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219200" y="3532145"/>
            <a:ext cx="12928751" cy="3057675"/>
          </a:xfrm>
          <a:prstGeom prst="rect">
            <a:avLst/>
          </a:prstGeom>
        </p:spPr>
        <p:txBody>
          <a:bodyPr lIns="0" tIns="0" rIns="0" bIns="0" rtlCol="0" anchor="t">
            <a:spAutoFit/>
          </a:bodyPr>
          <a:lstStyle/>
          <a:p>
            <a:pPr algn="l">
              <a:lnSpc>
                <a:spcPts val="7867"/>
              </a:lnSpc>
            </a:pPr>
            <a:r>
              <a:rPr lang="en-US" sz="8369" b="1">
                <a:solidFill>
                  <a:srgbClr val="FFFFFF"/>
                </a:solidFill>
                <a:latin typeface="Sifonn"/>
                <a:ea typeface="Sifonn"/>
                <a:cs typeface="Sifonn"/>
                <a:sym typeface="Sifonn"/>
              </a:rPr>
              <a:t>ADVERTISING STRATEGY DURING A RECESSION</a:t>
            </a:r>
          </a:p>
        </p:txBody>
      </p:sp>
      <p:sp>
        <p:nvSpPr>
          <p:cNvPr id="3" name="Freeform 3"/>
          <p:cNvSpPr/>
          <p:nvPr/>
        </p:nvSpPr>
        <p:spPr>
          <a:xfrm flipH="1">
            <a:off x="10490351" y="1028700"/>
            <a:ext cx="7315200" cy="2310063"/>
          </a:xfrm>
          <a:custGeom>
            <a:avLst/>
            <a:gdLst/>
            <a:ahLst/>
            <a:cxnLst/>
            <a:rect l="l" t="t" r="r" b="b"/>
            <a:pathLst>
              <a:path w="7315200" h="2310063">
                <a:moveTo>
                  <a:pt x="7315200" y="0"/>
                </a:moveTo>
                <a:lnTo>
                  <a:pt x="0" y="0"/>
                </a:lnTo>
                <a:lnTo>
                  <a:pt x="0" y="2310063"/>
                </a:lnTo>
                <a:lnTo>
                  <a:pt x="7315200" y="2310063"/>
                </a:lnTo>
                <a:lnTo>
                  <a:pt x="7315200" y="0"/>
                </a:lnTo>
                <a:close/>
              </a:path>
            </a:pathLst>
          </a:custGeom>
          <a:blipFill>
            <a:blip r:embed="rId2">
              <a:alphaModFix amt="46000"/>
              <a:extLst>
                <a:ext uri="{96DAC541-7B7A-43D3-8B79-37D633B846F1}">
                  <asvg:svgBlip xmlns:asvg="http://schemas.microsoft.com/office/drawing/2016/SVG/main" r:embed="rId3"/>
                </a:ext>
              </a:extLst>
            </a:blip>
            <a:stretch>
              <a:fillRect/>
            </a:stretch>
          </a:blipFill>
        </p:spPr>
      </p:sp>
      <p:sp>
        <p:nvSpPr>
          <p:cNvPr id="8" name="Freeform 8"/>
          <p:cNvSpPr/>
          <p:nvPr/>
        </p:nvSpPr>
        <p:spPr>
          <a:xfrm rot="1946899" flipV="1">
            <a:off x="11666008" y="335356"/>
            <a:ext cx="6746580" cy="10130653"/>
          </a:xfrm>
          <a:custGeom>
            <a:avLst/>
            <a:gdLst/>
            <a:ahLst/>
            <a:cxnLst/>
            <a:rect l="l" t="t" r="r" b="b"/>
            <a:pathLst>
              <a:path w="8108095" h="15324578">
                <a:moveTo>
                  <a:pt x="0" y="15324578"/>
                </a:moveTo>
                <a:lnTo>
                  <a:pt x="8108095" y="15324578"/>
                </a:lnTo>
                <a:lnTo>
                  <a:pt x="8108095" y="0"/>
                </a:lnTo>
                <a:lnTo>
                  <a:pt x="0" y="0"/>
                </a:lnTo>
                <a:lnTo>
                  <a:pt x="0" y="15324578"/>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219200" y="8458098"/>
            <a:ext cx="4756684" cy="724535"/>
          </a:xfrm>
          <a:prstGeom prst="rect">
            <a:avLst/>
          </a:prstGeom>
        </p:spPr>
        <p:txBody>
          <a:bodyPr lIns="0" tIns="0" rIns="0" bIns="0" rtlCol="0" anchor="t">
            <a:spAutoFit/>
          </a:bodyPr>
          <a:lstStyle/>
          <a:p>
            <a:pPr marL="0" lvl="0" indent="0" algn="l">
              <a:lnSpc>
                <a:spcPts val="2859"/>
              </a:lnSpc>
              <a:spcBef>
                <a:spcPct val="0"/>
              </a:spcBef>
            </a:pPr>
            <a:r>
              <a:rPr lang="en-US" sz="2199" b="1" spc="54">
                <a:solidFill>
                  <a:srgbClr val="F2EFF0"/>
                </a:solidFill>
                <a:latin typeface="Tomorrow Bold"/>
                <a:ea typeface="Tomorrow Bold"/>
                <a:cs typeface="Tomorrow Bold"/>
                <a:sym typeface="Tomorrow Bold"/>
              </a:rPr>
              <a:t>Presented by McKinsey consultant:</a:t>
            </a:r>
          </a:p>
        </p:txBody>
      </p:sp>
      <p:sp>
        <p:nvSpPr>
          <p:cNvPr id="5" name="TextBox 5"/>
          <p:cNvSpPr txBox="1"/>
          <p:nvPr/>
        </p:nvSpPr>
        <p:spPr>
          <a:xfrm>
            <a:off x="1219200" y="9257665"/>
            <a:ext cx="4756684" cy="362585"/>
          </a:xfrm>
          <a:prstGeom prst="rect">
            <a:avLst/>
          </a:prstGeom>
        </p:spPr>
        <p:txBody>
          <a:bodyPr lIns="0" tIns="0" rIns="0" bIns="0" rtlCol="0" anchor="t">
            <a:spAutoFit/>
          </a:bodyPr>
          <a:lstStyle/>
          <a:p>
            <a:pPr marL="0" lvl="0" indent="0" algn="l">
              <a:lnSpc>
                <a:spcPts val="2859"/>
              </a:lnSpc>
              <a:spcBef>
                <a:spcPct val="0"/>
              </a:spcBef>
            </a:pPr>
            <a:r>
              <a:rPr lang="en-US" sz="2199" spc="54">
                <a:solidFill>
                  <a:srgbClr val="F2EFF0"/>
                </a:solidFill>
                <a:latin typeface="Tomorrow"/>
                <a:ea typeface="Tomorrow"/>
                <a:cs typeface="Tomorrow"/>
                <a:sym typeface="Tomorrow"/>
              </a:rPr>
              <a:t>KETEVAN RUSADZE</a:t>
            </a:r>
          </a:p>
        </p:txBody>
      </p:sp>
      <p:sp>
        <p:nvSpPr>
          <p:cNvPr id="6" name="TextBox 6"/>
          <p:cNvSpPr txBox="1"/>
          <p:nvPr/>
        </p:nvSpPr>
        <p:spPr>
          <a:xfrm>
            <a:off x="1294919" y="989844"/>
            <a:ext cx="11718117" cy="2220995"/>
          </a:xfrm>
          <a:prstGeom prst="rect">
            <a:avLst/>
          </a:prstGeom>
        </p:spPr>
        <p:txBody>
          <a:bodyPr lIns="0" tIns="0" rIns="0" bIns="0" rtlCol="0" anchor="t">
            <a:spAutoFit/>
          </a:bodyPr>
          <a:lstStyle/>
          <a:p>
            <a:pPr algn="l">
              <a:lnSpc>
                <a:spcPts val="8453"/>
              </a:lnSpc>
            </a:pPr>
            <a:r>
              <a:rPr lang="en-US" sz="8992" b="1">
                <a:solidFill>
                  <a:srgbClr val="FF1B50"/>
                </a:solidFill>
                <a:latin typeface="Sifonn"/>
                <a:ea typeface="Sifonn"/>
                <a:cs typeface="Sifonn"/>
                <a:sym typeface="Sifonn"/>
              </a:rPr>
              <a:t>BMW SERIES 3 PRICING AND</a:t>
            </a:r>
          </a:p>
        </p:txBody>
      </p:sp>
      <p:sp>
        <p:nvSpPr>
          <p:cNvPr id="7" name="TextBox 7"/>
          <p:cNvSpPr txBox="1"/>
          <p:nvPr/>
        </p:nvSpPr>
        <p:spPr>
          <a:xfrm>
            <a:off x="1028700" y="6675545"/>
            <a:ext cx="10366515" cy="1110724"/>
          </a:xfrm>
          <a:prstGeom prst="rect">
            <a:avLst/>
          </a:prstGeom>
        </p:spPr>
        <p:txBody>
          <a:bodyPr lIns="0" tIns="0" rIns="0" bIns="0" rtlCol="0" anchor="t">
            <a:spAutoFit/>
          </a:bodyPr>
          <a:lstStyle/>
          <a:p>
            <a:pPr algn="l">
              <a:lnSpc>
                <a:spcPts val="4317"/>
              </a:lnSpc>
            </a:pPr>
            <a:r>
              <a:rPr lang="en-US" sz="4361" spc="252">
                <a:solidFill>
                  <a:srgbClr val="FFFFFF"/>
                </a:solidFill>
                <a:latin typeface="Garet"/>
                <a:ea typeface="Garet"/>
                <a:cs typeface="Garet"/>
                <a:sym typeface="Garet"/>
              </a:rPr>
              <a:t>COMPREHENSIVE PLAN TO MAXIMIZE PROFIT AND GROWTH</a:t>
            </a:r>
          </a:p>
        </p:txBody>
      </p:sp>
      <p:sp>
        <p:nvSpPr>
          <p:cNvPr id="9" name="TextBox 9"/>
          <p:cNvSpPr txBox="1"/>
          <p:nvPr/>
        </p:nvSpPr>
        <p:spPr>
          <a:xfrm>
            <a:off x="7294627" y="9229725"/>
            <a:ext cx="1619964" cy="362585"/>
          </a:xfrm>
          <a:prstGeom prst="rect">
            <a:avLst/>
          </a:prstGeom>
        </p:spPr>
        <p:txBody>
          <a:bodyPr lIns="0" tIns="0" rIns="0" bIns="0" rtlCol="0" anchor="t">
            <a:spAutoFit/>
          </a:bodyPr>
          <a:lstStyle/>
          <a:p>
            <a:pPr algn="ctr">
              <a:lnSpc>
                <a:spcPts val="2859"/>
              </a:lnSpc>
              <a:spcBef>
                <a:spcPct val="0"/>
              </a:spcBef>
            </a:pPr>
            <a:r>
              <a:rPr lang="en-US" sz="2199" spc="54">
                <a:solidFill>
                  <a:srgbClr val="FFFFFF"/>
                </a:solidFill>
                <a:latin typeface="Tomorrow"/>
                <a:ea typeface="Tomorrow"/>
                <a:cs typeface="Tomorrow"/>
                <a:sym typeface="Tomorrow"/>
              </a:rPr>
              <a:t>10/14/2023</a:t>
            </a:r>
          </a:p>
        </p:txBody>
      </p:sp>
      <p:sp>
        <p:nvSpPr>
          <p:cNvPr id="10" name="TextBox 10"/>
          <p:cNvSpPr txBox="1"/>
          <p:nvPr/>
        </p:nvSpPr>
        <p:spPr>
          <a:xfrm>
            <a:off x="7377733" y="8756509"/>
            <a:ext cx="3868607" cy="362585"/>
          </a:xfrm>
          <a:prstGeom prst="rect">
            <a:avLst/>
          </a:prstGeom>
        </p:spPr>
        <p:txBody>
          <a:bodyPr lIns="0" tIns="0" rIns="0" bIns="0" rtlCol="0" anchor="t">
            <a:spAutoFit/>
          </a:bodyPr>
          <a:lstStyle/>
          <a:p>
            <a:pPr marL="0" lvl="0" indent="0" algn="l">
              <a:lnSpc>
                <a:spcPts val="2859"/>
              </a:lnSpc>
              <a:spcBef>
                <a:spcPct val="0"/>
              </a:spcBef>
            </a:pPr>
            <a:r>
              <a:rPr lang="en-US" sz="2199" b="1" spc="54">
                <a:solidFill>
                  <a:srgbClr val="F2EFF0"/>
                </a:solidFill>
                <a:latin typeface="Tomorrow Bold"/>
                <a:ea typeface="Tomorrow Bold"/>
                <a:cs typeface="Tomorrow Bold"/>
                <a:sym typeface="Tomorrow Bold"/>
              </a:rPr>
              <a:t>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E282B"/>
        </a:solidFill>
        <a:effectLst/>
      </p:bgPr>
    </p:bg>
    <p:spTree>
      <p:nvGrpSpPr>
        <p:cNvPr id="1" name=""/>
        <p:cNvGrpSpPr/>
        <p:nvPr/>
      </p:nvGrpSpPr>
      <p:grpSpPr>
        <a:xfrm>
          <a:off x="0" y="0"/>
          <a:ext cx="0" cy="0"/>
          <a:chOff x="0" y="0"/>
          <a:chExt cx="0" cy="0"/>
        </a:xfrm>
      </p:grpSpPr>
      <p:grpSp>
        <p:nvGrpSpPr>
          <p:cNvPr id="2" name="Group 2"/>
          <p:cNvGrpSpPr/>
          <p:nvPr/>
        </p:nvGrpSpPr>
        <p:grpSpPr>
          <a:xfrm>
            <a:off x="-4817" y="24146"/>
            <a:ext cx="18285627" cy="1594451"/>
            <a:chOff x="0" y="0"/>
            <a:chExt cx="5076324" cy="1632221"/>
          </a:xfrm>
        </p:grpSpPr>
        <p:sp>
          <p:nvSpPr>
            <p:cNvPr id="3" name="Freeform 3"/>
            <p:cNvSpPr/>
            <p:nvPr/>
          </p:nvSpPr>
          <p:spPr>
            <a:xfrm>
              <a:off x="0" y="0"/>
              <a:ext cx="5076323" cy="1632221"/>
            </a:xfrm>
            <a:custGeom>
              <a:avLst/>
              <a:gdLst/>
              <a:ahLst/>
              <a:cxnLst/>
              <a:rect l="l" t="t" r="r" b="b"/>
              <a:pathLst>
                <a:path w="5076323" h="1632221">
                  <a:moveTo>
                    <a:pt x="0" y="0"/>
                  </a:moveTo>
                  <a:lnTo>
                    <a:pt x="5076323" y="0"/>
                  </a:lnTo>
                  <a:lnTo>
                    <a:pt x="5076323" y="1632221"/>
                  </a:lnTo>
                  <a:lnTo>
                    <a:pt x="0" y="1632221"/>
                  </a:lnTo>
                  <a:close/>
                </a:path>
              </a:pathLst>
            </a:custGeom>
            <a:solidFill>
              <a:srgbClr val="000000"/>
            </a:solidFill>
          </p:spPr>
        </p:sp>
        <p:sp>
          <p:nvSpPr>
            <p:cNvPr id="4" name="TextBox 4"/>
            <p:cNvSpPr txBox="1"/>
            <p:nvPr/>
          </p:nvSpPr>
          <p:spPr>
            <a:xfrm>
              <a:off x="0" y="-9525"/>
              <a:ext cx="5076324" cy="1641746"/>
            </a:xfrm>
            <a:prstGeom prst="rect">
              <a:avLst/>
            </a:prstGeom>
          </p:spPr>
          <p:txBody>
            <a:bodyPr lIns="50800" tIns="50800" rIns="50800" bIns="50800" rtlCol="0" anchor="ctr"/>
            <a:lstStyle/>
            <a:p>
              <a:pPr algn="ctr">
                <a:lnSpc>
                  <a:spcPts val="1950"/>
                </a:lnSpc>
              </a:pPr>
              <a:endParaRPr/>
            </a:p>
          </p:txBody>
        </p:sp>
      </p:grpSp>
      <p:sp>
        <p:nvSpPr>
          <p:cNvPr id="5" name="Freeform 5"/>
          <p:cNvSpPr/>
          <p:nvPr/>
        </p:nvSpPr>
        <p:spPr>
          <a:xfrm flipV="1">
            <a:off x="-6561" y="715945"/>
            <a:ext cx="5712011" cy="9575404"/>
          </a:xfrm>
          <a:custGeom>
            <a:avLst/>
            <a:gdLst/>
            <a:ahLst/>
            <a:cxnLst/>
            <a:rect l="l" t="t" r="r" b="b"/>
            <a:pathLst>
              <a:path w="6978579" h="13189755">
                <a:moveTo>
                  <a:pt x="0" y="13189754"/>
                </a:moveTo>
                <a:lnTo>
                  <a:pt x="6978579" y="13189754"/>
                </a:lnTo>
                <a:lnTo>
                  <a:pt x="6978579" y="0"/>
                </a:lnTo>
                <a:lnTo>
                  <a:pt x="0" y="0"/>
                </a:lnTo>
                <a:lnTo>
                  <a:pt x="0" y="1318975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332121" y="206578"/>
            <a:ext cx="17729425" cy="1381125"/>
          </a:xfrm>
          <a:prstGeom prst="rect">
            <a:avLst/>
          </a:prstGeom>
        </p:spPr>
        <p:txBody>
          <a:bodyPr lIns="0" tIns="0" rIns="0" bIns="0" rtlCol="0" anchor="t">
            <a:spAutoFit/>
          </a:bodyPr>
          <a:lstStyle/>
          <a:p>
            <a:pPr algn="l">
              <a:lnSpc>
                <a:spcPts val="10800"/>
              </a:lnSpc>
            </a:pPr>
            <a:r>
              <a:rPr lang="en-US" sz="9000" spc="-225">
                <a:solidFill>
                  <a:srgbClr val="FF1B50"/>
                </a:solidFill>
                <a:latin typeface="Sifonn"/>
                <a:ea typeface="Sifonn"/>
                <a:cs typeface="Sifonn"/>
                <a:sym typeface="Sifonn"/>
              </a:rPr>
              <a:t>THE PROBLEM BMW FACES</a:t>
            </a:r>
          </a:p>
        </p:txBody>
      </p:sp>
      <p:sp>
        <p:nvSpPr>
          <p:cNvPr id="7" name="TextBox 7"/>
          <p:cNvSpPr txBox="1"/>
          <p:nvPr/>
        </p:nvSpPr>
        <p:spPr>
          <a:xfrm>
            <a:off x="772344" y="2317942"/>
            <a:ext cx="16743312" cy="971550"/>
          </a:xfrm>
          <a:prstGeom prst="rect">
            <a:avLst/>
          </a:prstGeom>
        </p:spPr>
        <p:txBody>
          <a:bodyPr lIns="0" tIns="0" rIns="0" bIns="0" rtlCol="0" anchor="t">
            <a:spAutoFit/>
          </a:bodyPr>
          <a:lstStyle/>
          <a:p>
            <a:pPr algn="ctr">
              <a:lnSpc>
                <a:spcPts val="3899"/>
              </a:lnSpc>
            </a:pPr>
            <a:r>
              <a:rPr lang="en-US" sz="2999" spc="74">
                <a:solidFill>
                  <a:srgbClr val="F2EFF0"/>
                </a:solidFill>
                <a:latin typeface="Tomorrow"/>
                <a:ea typeface="Tomorrow"/>
                <a:cs typeface="Tomorrow"/>
                <a:sym typeface="Tomorrow"/>
              </a:rPr>
              <a:t>BMW needs to adjust its Series 3 pricing and advertising strategy to remain competitive during a recession.</a:t>
            </a:r>
          </a:p>
        </p:txBody>
      </p:sp>
      <p:sp>
        <p:nvSpPr>
          <p:cNvPr id="8" name="TextBox 8"/>
          <p:cNvSpPr txBox="1"/>
          <p:nvPr/>
        </p:nvSpPr>
        <p:spPr>
          <a:xfrm>
            <a:off x="1709795" y="4451413"/>
            <a:ext cx="14868411" cy="4561000"/>
          </a:xfrm>
          <a:prstGeom prst="rect">
            <a:avLst/>
          </a:prstGeom>
        </p:spPr>
        <p:txBody>
          <a:bodyPr lIns="0" tIns="0" rIns="0" bIns="0" rtlCol="0" anchor="t">
            <a:spAutoFit/>
          </a:bodyPr>
          <a:lstStyle/>
          <a:p>
            <a:pPr marL="657874" lvl="1" indent="-328937" algn="ctr">
              <a:lnSpc>
                <a:spcPts val="3961"/>
              </a:lnSpc>
              <a:spcBef>
                <a:spcPct val="0"/>
              </a:spcBef>
              <a:buFont typeface="Arial"/>
              <a:buChar char="•"/>
            </a:pPr>
            <a:r>
              <a:rPr lang="en-US" sz="3047" spc="76">
                <a:solidFill>
                  <a:srgbClr val="FFFFFF"/>
                </a:solidFill>
                <a:latin typeface="Tomorrow"/>
                <a:ea typeface="Tomorrow"/>
                <a:cs typeface="Tomorrow"/>
                <a:sym typeface="Tomorrow"/>
              </a:rPr>
              <a:t>Problem: What kind of balanced, pricing and advertising economic model will  increase demand and profitability while considering price-sensitive customers during recession.</a:t>
            </a:r>
          </a:p>
          <a:p>
            <a:pPr algn="ctr">
              <a:lnSpc>
                <a:spcPts val="3961"/>
              </a:lnSpc>
              <a:spcBef>
                <a:spcPct val="0"/>
              </a:spcBef>
            </a:pPr>
            <a:endParaRPr lang="en-US" sz="3047" spc="76">
              <a:solidFill>
                <a:srgbClr val="FFFFFF"/>
              </a:solidFill>
              <a:latin typeface="Tomorrow"/>
              <a:ea typeface="Tomorrow"/>
              <a:cs typeface="Tomorrow"/>
              <a:sym typeface="Tomorrow"/>
            </a:endParaRPr>
          </a:p>
          <a:p>
            <a:pPr algn="ctr">
              <a:lnSpc>
                <a:spcPts val="3961"/>
              </a:lnSpc>
              <a:spcBef>
                <a:spcPct val="0"/>
              </a:spcBef>
            </a:pPr>
            <a:endParaRPr lang="en-US" sz="3047" spc="76">
              <a:solidFill>
                <a:srgbClr val="FFFFFF"/>
              </a:solidFill>
              <a:latin typeface="Tomorrow"/>
              <a:ea typeface="Tomorrow"/>
              <a:cs typeface="Tomorrow"/>
              <a:sym typeface="Tomorrow"/>
            </a:endParaRPr>
          </a:p>
          <a:p>
            <a:pPr marL="657874" lvl="1" indent="-328937" algn="ctr">
              <a:lnSpc>
                <a:spcPts val="3961"/>
              </a:lnSpc>
              <a:spcBef>
                <a:spcPct val="0"/>
              </a:spcBef>
              <a:buFont typeface="Arial"/>
              <a:buChar char="•"/>
            </a:pPr>
            <a:r>
              <a:rPr lang="en-US" sz="3047" spc="76">
                <a:solidFill>
                  <a:srgbClr val="FFFFFF"/>
                </a:solidFill>
                <a:latin typeface="Tomorrow"/>
                <a:ea typeface="Tomorrow"/>
                <a:cs typeface="Tomorrow"/>
                <a:sym typeface="Tomorrow"/>
              </a:rPr>
              <a:t>Our Goal: Design a subscription model and advertising strategy that increases market penetration and generates profits, even in tough economic conditions.</a:t>
            </a:r>
          </a:p>
          <a:p>
            <a:pPr algn="ctr">
              <a:lnSpc>
                <a:spcPts val="4507"/>
              </a:lnSpc>
              <a:spcBef>
                <a:spcPct val="0"/>
              </a:spcBef>
            </a:pPr>
            <a:endParaRPr lang="en-US" sz="3047" spc="76">
              <a:solidFill>
                <a:srgbClr val="FFFFFF"/>
              </a:solidFill>
              <a:latin typeface="Tomorrow"/>
              <a:ea typeface="Tomorrow"/>
              <a:cs typeface="Tomorrow"/>
              <a:sym typeface="Tomorrow"/>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859209" y="415672"/>
            <a:ext cx="7428791" cy="1214576"/>
            <a:chOff x="0" y="0"/>
            <a:chExt cx="1956554" cy="319888"/>
          </a:xfrm>
        </p:grpSpPr>
        <p:sp>
          <p:nvSpPr>
            <p:cNvPr id="3" name="Freeform 3"/>
            <p:cNvSpPr/>
            <p:nvPr/>
          </p:nvSpPr>
          <p:spPr>
            <a:xfrm>
              <a:off x="0" y="0"/>
              <a:ext cx="1956554" cy="319888"/>
            </a:xfrm>
            <a:custGeom>
              <a:avLst/>
              <a:gdLst/>
              <a:ahLst/>
              <a:cxnLst/>
              <a:rect l="l" t="t" r="r" b="b"/>
              <a:pathLst>
                <a:path w="1956554" h="319888">
                  <a:moveTo>
                    <a:pt x="0" y="0"/>
                  </a:moveTo>
                  <a:lnTo>
                    <a:pt x="1956554" y="0"/>
                  </a:lnTo>
                  <a:lnTo>
                    <a:pt x="1956554" y="319888"/>
                  </a:lnTo>
                  <a:lnTo>
                    <a:pt x="0" y="319888"/>
                  </a:lnTo>
                  <a:close/>
                </a:path>
              </a:pathLst>
            </a:custGeom>
            <a:solidFill>
              <a:srgbClr val="FF1B50"/>
            </a:solidFill>
          </p:spPr>
        </p:sp>
        <p:sp>
          <p:nvSpPr>
            <p:cNvPr id="4" name="TextBox 4"/>
            <p:cNvSpPr txBox="1"/>
            <p:nvPr/>
          </p:nvSpPr>
          <p:spPr>
            <a:xfrm>
              <a:off x="0" y="-28575"/>
              <a:ext cx="1956554" cy="348463"/>
            </a:xfrm>
            <a:prstGeom prst="rect">
              <a:avLst/>
            </a:prstGeom>
          </p:spPr>
          <p:txBody>
            <a:bodyPr lIns="50800" tIns="50800" rIns="50800" bIns="50800" rtlCol="0" anchor="ctr"/>
            <a:lstStyle/>
            <a:p>
              <a:pPr algn="ctr">
                <a:lnSpc>
                  <a:spcPts val="2859"/>
                </a:lnSpc>
              </a:pPr>
              <a:endParaRPr/>
            </a:p>
          </p:txBody>
        </p:sp>
      </p:grpSp>
      <p:sp>
        <p:nvSpPr>
          <p:cNvPr id="5" name="TextBox 5"/>
          <p:cNvSpPr txBox="1"/>
          <p:nvPr/>
        </p:nvSpPr>
        <p:spPr>
          <a:xfrm>
            <a:off x="354457" y="182448"/>
            <a:ext cx="17762093" cy="1447800"/>
          </a:xfrm>
          <a:prstGeom prst="rect">
            <a:avLst/>
          </a:prstGeom>
        </p:spPr>
        <p:txBody>
          <a:bodyPr lIns="0" tIns="0" rIns="0" bIns="0" rtlCol="0" anchor="t">
            <a:spAutoFit/>
          </a:bodyPr>
          <a:lstStyle/>
          <a:p>
            <a:pPr algn="l">
              <a:lnSpc>
                <a:spcPts val="11376"/>
              </a:lnSpc>
            </a:pPr>
            <a:r>
              <a:rPr lang="en-US" sz="9480" spc="-237">
                <a:solidFill>
                  <a:srgbClr val="FFFFFF"/>
                </a:solidFill>
                <a:latin typeface="Sifonn"/>
                <a:ea typeface="Sifonn"/>
                <a:cs typeface="Sifonn"/>
                <a:sym typeface="Sifonn"/>
              </a:rPr>
              <a:t> </a:t>
            </a:r>
            <a:r>
              <a:rPr lang="en-US" sz="9480" spc="-237">
                <a:solidFill>
                  <a:srgbClr val="FF1B50"/>
                </a:solidFill>
                <a:latin typeface="Sifonn"/>
                <a:ea typeface="Sifonn"/>
                <a:cs typeface="Sifonn"/>
                <a:sym typeface="Sifonn"/>
              </a:rPr>
              <a:t>OUR STRATEGIC </a:t>
            </a:r>
            <a:r>
              <a:rPr lang="en-US" sz="9480" spc="-237">
                <a:solidFill>
                  <a:srgbClr val="FFFFFF"/>
                </a:solidFill>
                <a:latin typeface="Sifonn"/>
                <a:ea typeface="Sifonn"/>
                <a:cs typeface="Sifonn"/>
                <a:sym typeface="Sifonn"/>
              </a:rPr>
              <a:t>APPROACH</a:t>
            </a:r>
          </a:p>
        </p:txBody>
      </p:sp>
      <p:sp>
        <p:nvSpPr>
          <p:cNvPr id="6" name="TextBox 6"/>
          <p:cNvSpPr txBox="1"/>
          <p:nvPr/>
        </p:nvSpPr>
        <p:spPr>
          <a:xfrm>
            <a:off x="6636236" y="1314750"/>
            <a:ext cx="7937369" cy="535745"/>
          </a:xfrm>
          <a:prstGeom prst="rect">
            <a:avLst/>
          </a:prstGeom>
        </p:spPr>
        <p:txBody>
          <a:bodyPr lIns="0" tIns="0" rIns="0" bIns="0" rtlCol="0" anchor="t">
            <a:spAutoFit/>
          </a:bodyPr>
          <a:lstStyle/>
          <a:p>
            <a:pPr algn="l">
              <a:lnSpc>
                <a:spcPts val="4407"/>
              </a:lnSpc>
            </a:pPr>
            <a:r>
              <a:rPr lang="en-US" sz="2938">
                <a:solidFill>
                  <a:srgbClr val="FFFFFF"/>
                </a:solidFill>
                <a:latin typeface="Tomorrow"/>
                <a:ea typeface="Tomorrow"/>
                <a:cs typeface="Tomorrow"/>
                <a:sym typeface="Tomorrow"/>
              </a:rPr>
              <a:t>overview of our solution</a:t>
            </a:r>
          </a:p>
        </p:txBody>
      </p:sp>
      <p:grpSp>
        <p:nvGrpSpPr>
          <p:cNvPr id="7" name="Group 7"/>
          <p:cNvGrpSpPr/>
          <p:nvPr/>
        </p:nvGrpSpPr>
        <p:grpSpPr>
          <a:xfrm>
            <a:off x="532281" y="2019007"/>
            <a:ext cx="8022718" cy="3476241"/>
            <a:chOff x="0" y="0"/>
            <a:chExt cx="2112979" cy="915553"/>
          </a:xfrm>
        </p:grpSpPr>
        <p:sp>
          <p:nvSpPr>
            <p:cNvPr id="8" name="Freeform 8"/>
            <p:cNvSpPr/>
            <p:nvPr/>
          </p:nvSpPr>
          <p:spPr>
            <a:xfrm>
              <a:off x="0" y="0"/>
              <a:ext cx="2112979" cy="915553"/>
            </a:xfrm>
            <a:custGeom>
              <a:avLst/>
              <a:gdLst/>
              <a:ahLst/>
              <a:cxnLst/>
              <a:rect l="l" t="t" r="r" b="b"/>
              <a:pathLst>
                <a:path w="2112979" h="915553">
                  <a:moveTo>
                    <a:pt x="0" y="0"/>
                  </a:moveTo>
                  <a:lnTo>
                    <a:pt x="2112979" y="0"/>
                  </a:lnTo>
                  <a:lnTo>
                    <a:pt x="2112979" y="915553"/>
                  </a:lnTo>
                  <a:lnTo>
                    <a:pt x="0" y="915553"/>
                  </a:lnTo>
                  <a:close/>
                </a:path>
              </a:pathLst>
            </a:custGeom>
            <a:solidFill>
              <a:srgbClr val="2E282B"/>
            </a:solidFill>
          </p:spPr>
        </p:sp>
        <p:sp>
          <p:nvSpPr>
            <p:cNvPr id="9" name="TextBox 9"/>
            <p:cNvSpPr txBox="1"/>
            <p:nvPr/>
          </p:nvSpPr>
          <p:spPr>
            <a:xfrm>
              <a:off x="0" y="-28575"/>
              <a:ext cx="2112979" cy="944128"/>
            </a:xfrm>
            <a:prstGeom prst="rect">
              <a:avLst/>
            </a:prstGeom>
          </p:spPr>
          <p:txBody>
            <a:bodyPr lIns="50800" tIns="50800" rIns="50800" bIns="50800" rtlCol="0" anchor="ctr"/>
            <a:lstStyle/>
            <a:p>
              <a:pPr algn="ctr">
                <a:lnSpc>
                  <a:spcPts val="2859"/>
                </a:lnSpc>
              </a:pPr>
              <a:endParaRPr/>
            </a:p>
          </p:txBody>
        </p:sp>
      </p:grpSp>
      <p:grpSp>
        <p:nvGrpSpPr>
          <p:cNvPr id="10" name="Group 10"/>
          <p:cNvGrpSpPr/>
          <p:nvPr/>
        </p:nvGrpSpPr>
        <p:grpSpPr>
          <a:xfrm>
            <a:off x="9579826" y="2019007"/>
            <a:ext cx="8022718" cy="3476241"/>
            <a:chOff x="0" y="0"/>
            <a:chExt cx="2112979" cy="915553"/>
          </a:xfrm>
        </p:grpSpPr>
        <p:sp>
          <p:nvSpPr>
            <p:cNvPr id="11" name="Freeform 11"/>
            <p:cNvSpPr/>
            <p:nvPr/>
          </p:nvSpPr>
          <p:spPr>
            <a:xfrm>
              <a:off x="0" y="0"/>
              <a:ext cx="2112979" cy="915553"/>
            </a:xfrm>
            <a:custGeom>
              <a:avLst/>
              <a:gdLst/>
              <a:ahLst/>
              <a:cxnLst/>
              <a:rect l="l" t="t" r="r" b="b"/>
              <a:pathLst>
                <a:path w="2112979" h="915553">
                  <a:moveTo>
                    <a:pt x="0" y="0"/>
                  </a:moveTo>
                  <a:lnTo>
                    <a:pt x="2112979" y="0"/>
                  </a:lnTo>
                  <a:lnTo>
                    <a:pt x="2112979" y="915553"/>
                  </a:lnTo>
                  <a:lnTo>
                    <a:pt x="0" y="915553"/>
                  </a:lnTo>
                  <a:close/>
                </a:path>
              </a:pathLst>
            </a:custGeom>
            <a:solidFill>
              <a:srgbClr val="2E282B"/>
            </a:solidFill>
          </p:spPr>
        </p:sp>
        <p:sp>
          <p:nvSpPr>
            <p:cNvPr id="12" name="TextBox 12"/>
            <p:cNvSpPr txBox="1"/>
            <p:nvPr/>
          </p:nvSpPr>
          <p:spPr>
            <a:xfrm>
              <a:off x="0" y="-28575"/>
              <a:ext cx="2112979" cy="944128"/>
            </a:xfrm>
            <a:prstGeom prst="rect">
              <a:avLst/>
            </a:prstGeom>
          </p:spPr>
          <p:txBody>
            <a:bodyPr lIns="50800" tIns="50800" rIns="50800" bIns="50800" rtlCol="0" anchor="ctr"/>
            <a:lstStyle/>
            <a:p>
              <a:pPr algn="ctr">
                <a:lnSpc>
                  <a:spcPts val="2859"/>
                </a:lnSpc>
              </a:pPr>
              <a:endParaRPr/>
            </a:p>
          </p:txBody>
        </p:sp>
      </p:grpSp>
      <p:grpSp>
        <p:nvGrpSpPr>
          <p:cNvPr id="13" name="Group 13"/>
          <p:cNvGrpSpPr/>
          <p:nvPr/>
        </p:nvGrpSpPr>
        <p:grpSpPr>
          <a:xfrm>
            <a:off x="9579826" y="6277084"/>
            <a:ext cx="8022718" cy="3476241"/>
            <a:chOff x="0" y="0"/>
            <a:chExt cx="2112979" cy="915553"/>
          </a:xfrm>
        </p:grpSpPr>
        <p:sp>
          <p:nvSpPr>
            <p:cNvPr id="14" name="Freeform 14"/>
            <p:cNvSpPr/>
            <p:nvPr/>
          </p:nvSpPr>
          <p:spPr>
            <a:xfrm>
              <a:off x="0" y="0"/>
              <a:ext cx="2112979" cy="915553"/>
            </a:xfrm>
            <a:custGeom>
              <a:avLst/>
              <a:gdLst/>
              <a:ahLst/>
              <a:cxnLst/>
              <a:rect l="l" t="t" r="r" b="b"/>
              <a:pathLst>
                <a:path w="2112979" h="915553">
                  <a:moveTo>
                    <a:pt x="0" y="0"/>
                  </a:moveTo>
                  <a:lnTo>
                    <a:pt x="2112979" y="0"/>
                  </a:lnTo>
                  <a:lnTo>
                    <a:pt x="2112979" y="915553"/>
                  </a:lnTo>
                  <a:lnTo>
                    <a:pt x="0" y="915553"/>
                  </a:lnTo>
                  <a:close/>
                </a:path>
              </a:pathLst>
            </a:custGeom>
            <a:solidFill>
              <a:srgbClr val="2E282B"/>
            </a:solidFill>
          </p:spPr>
        </p:sp>
        <p:sp>
          <p:nvSpPr>
            <p:cNvPr id="15" name="TextBox 15"/>
            <p:cNvSpPr txBox="1"/>
            <p:nvPr/>
          </p:nvSpPr>
          <p:spPr>
            <a:xfrm>
              <a:off x="0" y="-28575"/>
              <a:ext cx="2112979" cy="944128"/>
            </a:xfrm>
            <a:prstGeom prst="rect">
              <a:avLst/>
            </a:prstGeom>
          </p:spPr>
          <p:txBody>
            <a:bodyPr lIns="50800" tIns="50800" rIns="50800" bIns="50800" rtlCol="0" anchor="ctr"/>
            <a:lstStyle/>
            <a:p>
              <a:pPr algn="ctr">
                <a:lnSpc>
                  <a:spcPts val="2859"/>
                </a:lnSpc>
              </a:pPr>
              <a:endParaRPr/>
            </a:p>
          </p:txBody>
        </p:sp>
      </p:grpSp>
      <p:grpSp>
        <p:nvGrpSpPr>
          <p:cNvPr id="16" name="Group 16"/>
          <p:cNvGrpSpPr/>
          <p:nvPr/>
        </p:nvGrpSpPr>
        <p:grpSpPr>
          <a:xfrm rot="5400000">
            <a:off x="6961137" y="7133921"/>
            <a:ext cx="288964" cy="355647"/>
            <a:chOff x="0" y="0"/>
            <a:chExt cx="660400" cy="812800"/>
          </a:xfrm>
        </p:grpSpPr>
        <p:sp>
          <p:nvSpPr>
            <p:cNvPr id="17" name="Freeform 17"/>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F1B50"/>
            </a:solidFill>
          </p:spPr>
        </p:sp>
        <p:sp>
          <p:nvSpPr>
            <p:cNvPr id="18" name="TextBox 18"/>
            <p:cNvSpPr txBox="1"/>
            <p:nvPr/>
          </p:nvSpPr>
          <p:spPr>
            <a:xfrm>
              <a:off x="0" y="117475"/>
              <a:ext cx="660400" cy="695325"/>
            </a:xfrm>
            <a:prstGeom prst="rect">
              <a:avLst/>
            </a:prstGeom>
          </p:spPr>
          <p:txBody>
            <a:bodyPr lIns="50800" tIns="50800" rIns="50800" bIns="50800" rtlCol="0" anchor="ctr"/>
            <a:lstStyle/>
            <a:p>
              <a:pPr algn="ctr">
                <a:lnSpc>
                  <a:spcPts val="1950"/>
                </a:lnSpc>
              </a:pPr>
              <a:endParaRPr/>
            </a:p>
          </p:txBody>
        </p:sp>
      </p:grpSp>
      <p:sp>
        <p:nvSpPr>
          <p:cNvPr id="19" name="TextBox 19"/>
          <p:cNvSpPr txBox="1"/>
          <p:nvPr/>
        </p:nvSpPr>
        <p:spPr>
          <a:xfrm>
            <a:off x="725367" y="1999957"/>
            <a:ext cx="7905493" cy="5311775"/>
          </a:xfrm>
          <a:prstGeom prst="rect">
            <a:avLst/>
          </a:prstGeom>
        </p:spPr>
        <p:txBody>
          <a:bodyPr lIns="0" tIns="0" rIns="0" bIns="0" rtlCol="0" anchor="t">
            <a:spAutoFit/>
          </a:bodyPr>
          <a:lstStyle/>
          <a:p>
            <a:pPr algn="l">
              <a:lnSpc>
                <a:spcPts val="3250"/>
              </a:lnSpc>
            </a:pPr>
            <a:r>
              <a:rPr lang="en-US" sz="2500" b="1" spc="62">
                <a:solidFill>
                  <a:srgbClr val="FF1B50"/>
                </a:solidFill>
                <a:latin typeface="Tomorrow Bold"/>
                <a:ea typeface="Tomorrow Bold"/>
                <a:cs typeface="Tomorrow Bold"/>
                <a:sym typeface="Tomorrow Bold"/>
              </a:rPr>
              <a:t>                          Subscription Model:</a:t>
            </a:r>
          </a:p>
          <a:p>
            <a:pPr marL="539756" lvl="1" indent="-269878" algn="l">
              <a:lnSpc>
                <a:spcPts val="3250"/>
              </a:lnSpc>
              <a:buFont typeface="Arial"/>
              <a:buChar char="•"/>
            </a:pPr>
            <a:r>
              <a:rPr lang="en-US" sz="2500" spc="62">
                <a:solidFill>
                  <a:srgbClr val="F2EFF0"/>
                </a:solidFill>
                <a:latin typeface="Tomorrow"/>
                <a:ea typeface="Tomorrow"/>
                <a:cs typeface="Tomorrow"/>
                <a:sym typeface="Tomorrow"/>
              </a:rPr>
              <a:t>Three-tier pricing: Basic, Standard, Premium</a:t>
            </a:r>
          </a:p>
          <a:p>
            <a:pPr algn="l">
              <a:lnSpc>
                <a:spcPts val="3250"/>
              </a:lnSpc>
            </a:pPr>
            <a:endParaRPr lang="en-US" sz="2500" spc="62">
              <a:solidFill>
                <a:srgbClr val="F2EFF0"/>
              </a:solidFill>
              <a:latin typeface="Tomorrow"/>
              <a:ea typeface="Tomorrow"/>
              <a:cs typeface="Tomorrow"/>
              <a:sym typeface="Tomorrow"/>
            </a:endParaRPr>
          </a:p>
          <a:p>
            <a:pPr marL="539756" lvl="1" indent="-269878" algn="l">
              <a:lnSpc>
                <a:spcPts val="3250"/>
              </a:lnSpc>
              <a:buFont typeface="Arial"/>
              <a:buChar char="•"/>
            </a:pPr>
            <a:r>
              <a:rPr lang="en-US" sz="2500" spc="62">
                <a:solidFill>
                  <a:srgbClr val="F2EFF0"/>
                </a:solidFill>
                <a:latin typeface="Tomorrow"/>
                <a:ea typeface="Tomorrow"/>
                <a:cs typeface="Tomorrow"/>
                <a:sym typeface="Tomorrow"/>
              </a:rPr>
              <a:t>Price discrimination to capture different income segments during recession</a:t>
            </a:r>
          </a:p>
          <a:p>
            <a:pPr algn="l">
              <a:lnSpc>
                <a:spcPts val="3250"/>
              </a:lnSpc>
            </a:pPr>
            <a:endParaRPr lang="en-US" sz="2500" spc="62">
              <a:solidFill>
                <a:srgbClr val="F2EFF0"/>
              </a:solidFill>
              <a:latin typeface="Tomorrow"/>
              <a:ea typeface="Tomorrow"/>
              <a:cs typeface="Tomorrow"/>
              <a:sym typeface="Tomorrow"/>
            </a:endParaRPr>
          </a:p>
          <a:p>
            <a:pPr marL="539756" lvl="1" indent="-269878" algn="l">
              <a:lnSpc>
                <a:spcPts val="3250"/>
              </a:lnSpc>
              <a:buFont typeface="Arial"/>
              <a:buChar char="•"/>
            </a:pPr>
            <a:r>
              <a:rPr lang="en-US" sz="2500" spc="62">
                <a:solidFill>
                  <a:srgbClr val="F2EFF0"/>
                </a:solidFill>
                <a:latin typeface="Tomorrow"/>
                <a:ea typeface="Tomorrow"/>
                <a:cs typeface="Tomorrow"/>
                <a:sym typeface="Tomorrow"/>
              </a:rPr>
              <a:t>Stable revenue stream through monthly subscriptions</a:t>
            </a:r>
          </a:p>
          <a:p>
            <a:pPr algn="l">
              <a:lnSpc>
                <a:spcPts val="3250"/>
              </a:lnSpc>
            </a:pPr>
            <a:endParaRPr lang="en-US" sz="2500" spc="62">
              <a:solidFill>
                <a:srgbClr val="F2EFF0"/>
              </a:solidFill>
              <a:latin typeface="Tomorrow"/>
              <a:ea typeface="Tomorrow"/>
              <a:cs typeface="Tomorrow"/>
              <a:sym typeface="Tomorrow"/>
            </a:endParaRPr>
          </a:p>
          <a:p>
            <a:pPr algn="l">
              <a:lnSpc>
                <a:spcPts val="3250"/>
              </a:lnSpc>
            </a:pPr>
            <a:endParaRPr lang="en-US" sz="2500" spc="62">
              <a:solidFill>
                <a:srgbClr val="F2EFF0"/>
              </a:solidFill>
              <a:latin typeface="Tomorrow"/>
              <a:ea typeface="Tomorrow"/>
              <a:cs typeface="Tomorrow"/>
              <a:sym typeface="Tomorrow"/>
            </a:endParaRPr>
          </a:p>
          <a:p>
            <a:pPr algn="l">
              <a:lnSpc>
                <a:spcPts val="3250"/>
              </a:lnSpc>
            </a:pPr>
            <a:endParaRPr lang="en-US" sz="2500" spc="62">
              <a:solidFill>
                <a:srgbClr val="F2EFF0"/>
              </a:solidFill>
              <a:latin typeface="Tomorrow"/>
              <a:ea typeface="Tomorrow"/>
              <a:cs typeface="Tomorrow"/>
              <a:sym typeface="Tomorrow"/>
            </a:endParaRPr>
          </a:p>
          <a:p>
            <a:pPr algn="l">
              <a:lnSpc>
                <a:spcPts val="3250"/>
              </a:lnSpc>
            </a:pPr>
            <a:endParaRPr lang="en-US" sz="2500" spc="62">
              <a:solidFill>
                <a:srgbClr val="F2EFF0"/>
              </a:solidFill>
              <a:latin typeface="Tomorrow"/>
              <a:ea typeface="Tomorrow"/>
              <a:cs typeface="Tomorrow"/>
              <a:sym typeface="Tomorrow"/>
            </a:endParaRPr>
          </a:p>
          <a:p>
            <a:pPr algn="l">
              <a:lnSpc>
                <a:spcPts val="3250"/>
              </a:lnSpc>
            </a:pPr>
            <a:endParaRPr lang="en-US" sz="2500" spc="62">
              <a:solidFill>
                <a:srgbClr val="F2EFF0"/>
              </a:solidFill>
              <a:latin typeface="Tomorrow"/>
              <a:ea typeface="Tomorrow"/>
              <a:cs typeface="Tomorrow"/>
              <a:sym typeface="Tomorrow"/>
            </a:endParaRPr>
          </a:p>
        </p:txBody>
      </p:sp>
      <p:grpSp>
        <p:nvGrpSpPr>
          <p:cNvPr id="20" name="Group 20"/>
          <p:cNvGrpSpPr/>
          <p:nvPr/>
        </p:nvGrpSpPr>
        <p:grpSpPr>
          <a:xfrm>
            <a:off x="532281" y="6277084"/>
            <a:ext cx="8022718" cy="3476241"/>
            <a:chOff x="0" y="0"/>
            <a:chExt cx="2112979" cy="915553"/>
          </a:xfrm>
        </p:grpSpPr>
        <p:sp>
          <p:nvSpPr>
            <p:cNvPr id="21" name="Freeform 21"/>
            <p:cNvSpPr/>
            <p:nvPr/>
          </p:nvSpPr>
          <p:spPr>
            <a:xfrm>
              <a:off x="0" y="0"/>
              <a:ext cx="2112979" cy="915553"/>
            </a:xfrm>
            <a:custGeom>
              <a:avLst/>
              <a:gdLst/>
              <a:ahLst/>
              <a:cxnLst/>
              <a:rect l="l" t="t" r="r" b="b"/>
              <a:pathLst>
                <a:path w="2112979" h="915553">
                  <a:moveTo>
                    <a:pt x="0" y="0"/>
                  </a:moveTo>
                  <a:lnTo>
                    <a:pt x="2112979" y="0"/>
                  </a:lnTo>
                  <a:lnTo>
                    <a:pt x="2112979" y="915553"/>
                  </a:lnTo>
                  <a:lnTo>
                    <a:pt x="0" y="915553"/>
                  </a:lnTo>
                  <a:close/>
                </a:path>
              </a:pathLst>
            </a:custGeom>
            <a:solidFill>
              <a:srgbClr val="2E282B"/>
            </a:solidFill>
          </p:spPr>
        </p:sp>
        <p:sp>
          <p:nvSpPr>
            <p:cNvPr id="22" name="TextBox 22"/>
            <p:cNvSpPr txBox="1"/>
            <p:nvPr/>
          </p:nvSpPr>
          <p:spPr>
            <a:xfrm>
              <a:off x="0" y="-28575"/>
              <a:ext cx="2112979" cy="944128"/>
            </a:xfrm>
            <a:prstGeom prst="rect">
              <a:avLst/>
            </a:prstGeom>
          </p:spPr>
          <p:txBody>
            <a:bodyPr lIns="50800" tIns="50800" rIns="50800" bIns="50800" rtlCol="0" anchor="ctr"/>
            <a:lstStyle/>
            <a:p>
              <a:pPr algn="ctr">
                <a:lnSpc>
                  <a:spcPts val="2859"/>
                </a:lnSpc>
              </a:pPr>
              <a:endParaRPr/>
            </a:p>
          </p:txBody>
        </p:sp>
      </p:grpSp>
      <p:sp>
        <p:nvSpPr>
          <p:cNvPr id="23" name="TextBox 23"/>
          <p:cNvSpPr txBox="1"/>
          <p:nvPr/>
        </p:nvSpPr>
        <p:spPr>
          <a:xfrm>
            <a:off x="9668949" y="1999957"/>
            <a:ext cx="7844470" cy="4111625"/>
          </a:xfrm>
          <a:prstGeom prst="rect">
            <a:avLst/>
          </a:prstGeom>
        </p:spPr>
        <p:txBody>
          <a:bodyPr lIns="0" tIns="0" rIns="0" bIns="0" rtlCol="0" anchor="t">
            <a:spAutoFit/>
          </a:bodyPr>
          <a:lstStyle/>
          <a:p>
            <a:pPr algn="l">
              <a:lnSpc>
                <a:spcPts val="3250"/>
              </a:lnSpc>
            </a:pPr>
            <a:r>
              <a:rPr lang="en-US" sz="2500" b="1" spc="62">
                <a:solidFill>
                  <a:srgbClr val="FF1B50"/>
                </a:solidFill>
                <a:latin typeface="Tomorrow Bold"/>
                <a:ea typeface="Tomorrow Bold"/>
                <a:cs typeface="Tomorrow Bold"/>
                <a:sym typeface="Tomorrow Bold"/>
              </a:rPr>
              <a:t>                          Advertising Strategy:</a:t>
            </a:r>
          </a:p>
          <a:p>
            <a:pPr marL="474988" lvl="1" indent="-237494" algn="l">
              <a:lnSpc>
                <a:spcPts val="2860"/>
              </a:lnSpc>
              <a:buFont typeface="Arial"/>
              <a:buChar char="•"/>
            </a:pPr>
            <a:r>
              <a:rPr lang="en-US" sz="2200" spc="55">
                <a:solidFill>
                  <a:srgbClr val="FFFFFF"/>
                </a:solidFill>
                <a:latin typeface="Tomorrow"/>
                <a:ea typeface="Tomorrow"/>
                <a:cs typeface="Tomorrow"/>
                <a:sym typeface="Tomorrow"/>
              </a:rPr>
              <a:t>Targeted physical and digital marketing: car stands and Facebook, Instagram, Google Ads</a:t>
            </a:r>
          </a:p>
          <a:p>
            <a:pPr algn="l">
              <a:lnSpc>
                <a:spcPts val="2860"/>
              </a:lnSpc>
            </a:pPr>
            <a:endParaRPr lang="en-US" sz="2200" spc="55">
              <a:solidFill>
                <a:srgbClr val="FFFFFF"/>
              </a:solidFill>
              <a:latin typeface="Tomorrow"/>
              <a:ea typeface="Tomorrow"/>
              <a:cs typeface="Tomorrow"/>
              <a:sym typeface="Tomorrow"/>
            </a:endParaRPr>
          </a:p>
          <a:p>
            <a:pPr marL="474988" lvl="1" indent="-237494" algn="l">
              <a:lnSpc>
                <a:spcPts val="2860"/>
              </a:lnSpc>
              <a:buFont typeface="Arial"/>
              <a:buChar char="•"/>
            </a:pPr>
            <a:r>
              <a:rPr lang="en-US" sz="2200" spc="55">
                <a:solidFill>
                  <a:srgbClr val="FFFFFF"/>
                </a:solidFill>
                <a:latin typeface="Tomorrow"/>
                <a:ea typeface="Tomorrow"/>
                <a:cs typeface="Tomorrow"/>
                <a:sym typeface="Tomorrow"/>
              </a:rPr>
              <a:t>Focus on price-sensitive consumers during the recession</a:t>
            </a:r>
          </a:p>
          <a:p>
            <a:pPr algn="l">
              <a:lnSpc>
                <a:spcPts val="2860"/>
              </a:lnSpc>
            </a:pPr>
            <a:endParaRPr lang="en-US" sz="2200" spc="55">
              <a:solidFill>
                <a:srgbClr val="FFFFFF"/>
              </a:solidFill>
              <a:latin typeface="Tomorrow"/>
              <a:ea typeface="Tomorrow"/>
              <a:cs typeface="Tomorrow"/>
              <a:sym typeface="Tomorrow"/>
            </a:endParaRPr>
          </a:p>
          <a:p>
            <a:pPr marL="474988" lvl="1" indent="-237494" algn="l">
              <a:lnSpc>
                <a:spcPts val="2860"/>
              </a:lnSpc>
              <a:buFont typeface="Arial"/>
              <a:buChar char="•"/>
            </a:pPr>
            <a:r>
              <a:rPr lang="en-US" sz="2200" spc="55">
                <a:solidFill>
                  <a:srgbClr val="FFFFFF"/>
                </a:solidFill>
                <a:latin typeface="Tomorrow"/>
                <a:ea typeface="Tomorrow"/>
                <a:cs typeface="Tomorrow"/>
                <a:sym typeface="Tomorrow"/>
              </a:rPr>
              <a:t>Our Message: Affordability, flexibility, cost-savings (no-penalty early termination, insurance benefits)</a:t>
            </a:r>
          </a:p>
          <a:p>
            <a:pPr algn="l">
              <a:lnSpc>
                <a:spcPts val="3250"/>
              </a:lnSpc>
            </a:pPr>
            <a:endParaRPr lang="en-US" sz="2200" spc="55">
              <a:solidFill>
                <a:srgbClr val="FFFFFF"/>
              </a:solidFill>
              <a:latin typeface="Tomorrow"/>
              <a:ea typeface="Tomorrow"/>
              <a:cs typeface="Tomorrow"/>
              <a:sym typeface="Tomorrow"/>
            </a:endParaRPr>
          </a:p>
          <a:p>
            <a:pPr algn="l">
              <a:lnSpc>
                <a:spcPts val="3250"/>
              </a:lnSpc>
            </a:pPr>
            <a:r>
              <a:rPr lang="en-US" sz="2500" spc="62">
                <a:solidFill>
                  <a:srgbClr val="FFFFFF"/>
                </a:solidFill>
                <a:latin typeface="Tomorrow"/>
                <a:ea typeface="Tomorrow"/>
                <a:cs typeface="Tomorrow"/>
                <a:sym typeface="Tomorrow"/>
              </a:rPr>
              <a:t> </a:t>
            </a:r>
          </a:p>
        </p:txBody>
      </p:sp>
      <p:sp>
        <p:nvSpPr>
          <p:cNvPr id="24" name="TextBox 24"/>
          <p:cNvSpPr txBox="1"/>
          <p:nvPr/>
        </p:nvSpPr>
        <p:spPr>
          <a:xfrm>
            <a:off x="532281" y="6344938"/>
            <a:ext cx="8098579" cy="4378325"/>
          </a:xfrm>
          <a:prstGeom prst="rect">
            <a:avLst/>
          </a:prstGeom>
        </p:spPr>
        <p:txBody>
          <a:bodyPr lIns="0" tIns="0" rIns="0" bIns="0" rtlCol="0" anchor="t">
            <a:spAutoFit/>
          </a:bodyPr>
          <a:lstStyle/>
          <a:p>
            <a:pPr algn="l">
              <a:lnSpc>
                <a:spcPts val="3250"/>
              </a:lnSpc>
            </a:pPr>
            <a:r>
              <a:rPr lang="en-US" sz="2500" spc="62">
                <a:solidFill>
                  <a:srgbClr val="FFFFFF"/>
                </a:solidFill>
                <a:latin typeface="Tomorrow"/>
                <a:ea typeface="Tomorrow"/>
                <a:cs typeface="Tomorrow"/>
                <a:sym typeface="Tomorrow"/>
              </a:rPr>
              <a:t>                       </a:t>
            </a:r>
            <a:r>
              <a:rPr lang="en-US" sz="2500" b="1" spc="62">
                <a:solidFill>
                  <a:srgbClr val="FF1B50"/>
                </a:solidFill>
                <a:latin typeface="Tomorrow Bold"/>
                <a:ea typeface="Tomorrow Bold"/>
                <a:cs typeface="Tomorrow Bold"/>
                <a:sym typeface="Tomorrow Bold"/>
              </a:rPr>
              <a:t>Competitor Analysis:</a:t>
            </a:r>
            <a:r>
              <a:rPr lang="en-US" sz="2500" spc="62">
                <a:solidFill>
                  <a:srgbClr val="FFFFFF"/>
                </a:solidFill>
                <a:latin typeface="Tomorrow"/>
                <a:ea typeface="Tomorrow"/>
                <a:cs typeface="Tomorrow"/>
                <a:sym typeface="Tomorrow"/>
              </a:rPr>
              <a:t> </a:t>
            </a:r>
          </a:p>
          <a:p>
            <a:pPr algn="l">
              <a:lnSpc>
                <a:spcPts val="3250"/>
              </a:lnSpc>
            </a:pPr>
            <a:endParaRPr lang="en-US" sz="2500" spc="62">
              <a:solidFill>
                <a:srgbClr val="FFFFFF"/>
              </a:solidFill>
              <a:latin typeface="Tomorrow"/>
              <a:ea typeface="Tomorrow"/>
              <a:cs typeface="Tomorrow"/>
              <a:sym typeface="Tomorrow"/>
            </a:endParaRPr>
          </a:p>
          <a:p>
            <a:pPr marL="518166" lvl="1" indent="-259083" algn="l">
              <a:lnSpc>
                <a:spcPts val="3120"/>
              </a:lnSpc>
              <a:buFont typeface="Arial"/>
              <a:buChar char="•"/>
            </a:pPr>
            <a:r>
              <a:rPr lang="en-US" sz="2400" spc="60">
                <a:solidFill>
                  <a:srgbClr val="FFFFFF"/>
                </a:solidFill>
                <a:latin typeface="Tomorrow"/>
                <a:ea typeface="Tomorrow"/>
                <a:cs typeface="Tomorrow"/>
                <a:sym typeface="Tomorrow"/>
              </a:rPr>
              <a:t>Key competitors: Tesla, Mercedes-Benz, Audi</a:t>
            </a:r>
          </a:p>
          <a:p>
            <a:pPr algn="l">
              <a:lnSpc>
                <a:spcPts val="3120"/>
              </a:lnSpc>
            </a:pPr>
            <a:endParaRPr lang="en-US" sz="2400" spc="60">
              <a:solidFill>
                <a:srgbClr val="FFFFFF"/>
              </a:solidFill>
              <a:latin typeface="Tomorrow"/>
              <a:ea typeface="Tomorrow"/>
              <a:cs typeface="Tomorrow"/>
              <a:sym typeface="Tomorrow"/>
            </a:endParaRPr>
          </a:p>
          <a:p>
            <a:pPr algn="l">
              <a:lnSpc>
                <a:spcPts val="3120"/>
              </a:lnSpc>
            </a:pPr>
            <a:endParaRPr lang="en-US" sz="2400" spc="60">
              <a:solidFill>
                <a:srgbClr val="FFFFFF"/>
              </a:solidFill>
              <a:latin typeface="Tomorrow"/>
              <a:ea typeface="Tomorrow"/>
              <a:cs typeface="Tomorrow"/>
              <a:sym typeface="Tomorrow"/>
            </a:endParaRPr>
          </a:p>
          <a:p>
            <a:pPr marL="518166" lvl="1" indent="-259083" algn="l">
              <a:lnSpc>
                <a:spcPts val="3120"/>
              </a:lnSpc>
              <a:buFont typeface="Arial"/>
              <a:buChar char="•"/>
            </a:pPr>
            <a:r>
              <a:rPr lang="en-US" sz="2400" spc="60">
                <a:solidFill>
                  <a:srgbClr val="FFFFFF"/>
                </a:solidFill>
                <a:latin typeface="Tomorrow"/>
                <a:ea typeface="Tomorrow"/>
                <a:cs typeface="Tomorrow"/>
                <a:sym typeface="Tomorrow"/>
              </a:rPr>
              <a:t>BMW undercuts premium competitors with lower pricing</a:t>
            </a:r>
          </a:p>
          <a:p>
            <a:pPr algn="l">
              <a:lnSpc>
                <a:spcPts val="3120"/>
              </a:lnSpc>
            </a:pPr>
            <a:endParaRPr lang="en-US" sz="2400" spc="60">
              <a:solidFill>
                <a:srgbClr val="FFFFFF"/>
              </a:solidFill>
              <a:latin typeface="Tomorrow"/>
              <a:ea typeface="Tomorrow"/>
              <a:cs typeface="Tomorrow"/>
              <a:sym typeface="Tomorrow"/>
            </a:endParaRPr>
          </a:p>
          <a:p>
            <a:pPr algn="l">
              <a:lnSpc>
                <a:spcPts val="3250"/>
              </a:lnSpc>
            </a:pPr>
            <a:endParaRPr lang="en-US" sz="2400" spc="60">
              <a:solidFill>
                <a:srgbClr val="FFFFFF"/>
              </a:solidFill>
              <a:latin typeface="Tomorrow"/>
              <a:ea typeface="Tomorrow"/>
              <a:cs typeface="Tomorrow"/>
              <a:sym typeface="Tomorrow"/>
            </a:endParaRPr>
          </a:p>
          <a:p>
            <a:pPr algn="l">
              <a:lnSpc>
                <a:spcPts val="3250"/>
              </a:lnSpc>
            </a:pPr>
            <a:endParaRPr lang="en-US" sz="2400" spc="60">
              <a:solidFill>
                <a:srgbClr val="FFFFFF"/>
              </a:solidFill>
              <a:latin typeface="Tomorrow"/>
              <a:ea typeface="Tomorrow"/>
              <a:cs typeface="Tomorrow"/>
              <a:sym typeface="Tomorrow"/>
            </a:endParaRPr>
          </a:p>
          <a:p>
            <a:pPr algn="l">
              <a:lnSpc>
                <a:spcPts val="3250"/>
              </a:lnSpc>
            </a:pPr>
            <a:endParaRPr lang="en-US" sz="2400" spc="60">
              <a:solidFill>
                <a:srgbClr val="FFFFFF"/>
              </a:solidFill>
              <a:latin typeface="Tomorrow"/>
              <a:ea typeface="Tomorrow"/>
              <a:cs typeface="Tomorrow"/>
              <a:sym typeface="Tomorrow"/>
            </a:endParaRPr>
          </a:p>
        </p:txBody>
      </p:sp>
      <p:sp>
        <p:nvSpPr>
          <p:cNvPr id="25" name="TextBox 25"/>
          <p:cNvSpPr txBox="1"/>
          <p:nvPr/>
        </p:nvSpPr>
        <p:spPr>
          <a:xfrm>
            <a:off x="9579826" y="6325888"/>
            <a:ext cx="7767174" cy="3007995"/>
          </a:xfrm>
          <a:prstGeom prst="rect">
            <a:avLst/>
          </a:prstGeom>
        </p:spPr>
        <p:txBody>
          <a:bodyPr lIns="0" tIns="0" rIns="0" bIns="0" rtlCol="0" anchor="t">
            <a:spAutoFit/>
          </a:bodyPr>
          <a:lstStyle/>
          <a:p>
            <a:pPr algn="ctr">
              <a:lnSpc>
                <a:spcPts val="3249"/>
              </a:lnSpc>
            </a:pPr>
            <a:r>
              <a:rPr lang="en-US" sz="2499" b="1" spc="62">
                <a:solidFill>
                  <a:srgbClr val="FF1B50"/>
                </a:solidFill>
                <a:latin typeface="Tomorrow Bold"/>
                <a:ea typeface="Tomorrow Bold"/>
                <a:cs typeface="Tomorrow Bold"/>
                <a:sym typeface="Tomorrow Bold"/>
              </a:rPr>
              <a:t> Cost Management:</a:t>
            </a:r>
          </a:p>
          <a:p>
            <a:pPr algn="ctr">
              <a:lnSpc>
                <a:spcPts val="2859"/>
              </a:lnSpc>
            </a:pPr>
            <a:endParaRPr lang="en-US" sz="2499" b="1" spc="62">
              <a:solidFill>
                <a:srgbClr val="FF1B50"/>
              </a:solidFill>
              <a:latin typeface="Tomorrow Bold"/>
              <a:ea typeface="Tomorrow Bold"/>
              <a:cs typeface="Tomorrow Bold"/>
              <a:sym typeface="Tomorrow Bold"/>
            </a:endParaRPr>
          </a:p>
          <a:p>
            <a:pPr marL="496569" lvl="1" indent="-248284" algn="ctr">
              <a:lnSpc>
                <a:spcPts val="2989"/>
              </a:lnSpc>
              <a:buFont typeface="Arial"/>
              <a:buChar char="•"/>
            </a:pPr>
            <a:r>
              <a:rPr lang="en-US" sz="2299" spc="57">
                <a:solidFill>
                  <a:srgbClr val="FFFFFF"/>
                </a:solidFill>
                <a:latin typeface="Tomorrow"/>
                <a:ea typeface="Tomorrow"/>
                <a:cs typeface="Tomorrow"/>
                <a:sym typeface="Tomorrow"/>
              </a:rPr>
              <a:t>Operational cost control through scaled subscription services</a:t>
            </a:r>
          </a:p>
          <a:p>
            <a:pPr algn="ctr">
              <a:lnSpc>
                <a:spcPts val="2989"/>
              </a:lnSpc>
            </a:pPr>
            <a:endParaRPr lang="en-US" sz="2299" spc="57">
              <a:solidFill>
                <a:srgbClr val="FFFFFF"/>
              </a:solidFill>
              <a:latin typeface="Tomorrow"/>
              <a:ea typeface="Tomorrow"/>
              <a:cs typeface="Tomorrow"/>
              <a:sym typeface="Tomorrow"/>
            </a:endParaRPr>
          </a:p>
          <a:p>
            <a:pPr marL="496569" lvl="1" indent="-248284" algn="ctr">
              <a:lnSpc>
                <a:spcPts val="2989"/>
              </a:lnSpc>
              <a:buFont typeface="Arial"/>
              <a:buChar char="•"/>
            </a:pPr>
            <a:r>
              <a:rPr lang="en-US" sz="2299" spc="57">
                <a:solidFill>
                  <a:srgbClr val="FFFFFF"/>
                </a:solidFill>
                <a:latin typeface="Tomorrow"/>
                <a:ea typeface="Tomorrow"/>
                <a:cs typeface="Tomorrow"/>
                <a:sym typeface="Tomorrow"/>
              </a:rPr>
              <a:t>Dorfman-Steiner theorem: Optimized advertising spend to maximize demand</a:t>
            </a:r>
          </a:p>
          <a:p>
            <a:pPr algn="ctr">
              <a:lnSpc>
                <a:spcPts val="2989"/>
              </a:lnSpc>
              <a:spcBef>
                <a:spcPct val="0"/>
              </a:spcBef>
            </a:pPr>
            <a:endParaRPr lang="en-US" sz="2299" spc="57">
              <a:solidFill>
                <a:srgbClr val="FFFFFF"/>
              </a:solidFill>
              <a:latin typeface="Tomorrow"/>
              <a:ea typeface="Tomorrow"/>
              <a:cs typeface="Tomorrow"/>
              <a:sym typeface="Tomorro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203638" y="541902"/>
            <a:ext cx="3930417" cy="4197162"/>
            <a:chOff x="0" y="0"/>
            <a:chExt cx="5046047" cy="1105425"/>
          </a:xfrm>
        </p:grpSpPr>
        <p:sp>
          <p:nvSpPr>
            <p:cNvPr id="6" name="Freeform 6"/>
            <p:cNvSpPr/>
            <p:nvPr/>
          </p:nvSpPr>
          <p:spPr>
            <a:xfrm>
              <a:off x="0" y="0"/>
              <a:ext cx="5046047" cy="1105425"/>
            </a:xfrm>
            <a:custGeom>
              <a:avLst/>
              <a:gdLst/>
              <a:ahLst/>
              <a:cxnLst/>
              <a:rect l="l" t="t" r="r" b="b"/>
              <a:pathLst>
                <a:path w="5046047" h="1105425">
                  <a:moveTo>
                    <a:pt x="0" y="0"/>
                  </a:moveTo>
                  <a:lnTo>
                    <a:pt x="5046047" y="0"/>
                  </a:lnTo>
                  <a:lnTo>
                    <a:pt x="5046047" y="1105425"/>
                  </a:lnTo>
                  <a:lnTo>
                    <a:pt x="0" y="1105425"/>
                  </a:lnTo>
                  <a:close/>
                </a:path>
              </a:pathLst>
            </a:custGeom>
            <a:solidFill>
              <a:srgbClr val="E6E7E8"/>
            </a:solidFill>
          </p:spPr>
        </p:sp>
        <p:sp>
          <p:nvSpPr>
            <p:cNvPr id="7" name="TextBox 7"/>
            <p:cNvSpPr txBox="1"/>
            <p:nvPr/>
          </p:nvSpPr>
          <p:spPr>
            <a:xfrm>
              <a:off x="0" y="-28575"/>
              <a:ext cx="5046047" cy="1134000"/>
            </a:xfrm>
            <a:prstGeom prst="rect">
              <a:avLst/>
            </a:prstGeom>
          </p:spPr>
          <p:txBody>
            <a:bodyPr lIns="50800" tIns="50800" rIns="50800" bIns="50800" rtlCol="0" anchor="ctr"/>
            <a:lstStyle/>
            <a:p>
              <a:pPr algn="ctr">
                <a:lnSpc>
                  <a:spcPts val="2859"/>
                </a:lnSpc>
              </a:pPr>
              <a:endParaRPr/>
            </a:p>
          </p:txBody>
        </p:sp>
      </p:grpSp>
      <p:grpSp>
        <p:nvGrpSpPr>
          <p:cNvPr id="8" name="Group 8"/>
          <p:cNvGrpSpPr/>
          <p:nvPr/>
        </p:nvGrpSpPr>
        <p:grpSpPr>
          <a:xfrm>
            <a:off x="-1220991" y="75917"/>
            <a:ext cx="1930554" cy="1641048"/>
            <a:chOff x="0" y="0"/>
            <a:chExt cx="508459" cy="432210"/>
          </a:xfrm>
        </p:grpSpPr>
        <p:sp>
          <p:nvSpPr>
            <p:cNvPr id="9" name="Freeform 9"/>
            <p:cNvSpPr/>
            <p:nvPr/>
          </p:nvSpPr>
          <p:spPr>
            <a:xfrm>
              <a:off x="0" y="0"/>
              <a:ext cx="508459" cy="432210"/>
            </a:xfrm>
            <a:custGeom>
              <a:avLst/>
              <a:gdLst/>
              <a:ahLst/>
              <a:cxnLst/>
              <a:rect l="l" t="t" r="r" b="b"/>
              <a:pathLst>
                <a:path w="508459" h="432210">
                  <a:moveTo>
                    <a:pt x="0" y="0"/>
                  </a:moveTo>
                  <a:lnTo>
                    <a:pt x="508459" y="0"/>
                  </a:lnTo>
                  <a:lnTo>
                    <a:pt x="508459" y="432210"/>
                  </a:lnTo>
                  <a:lnTo>
                    <a:pt x="0" y="432210"/>
                  </a:lnTo>
                  <a:close/>
                </a:path>
              </a:pathLst>
            </a:custGeom>
            <a:solidFill>
              <a:srgbClr val="FF1B50"/>
            </a:solidFill>
          </p:spPr>
        </p:sp>
        <p:sp>
          <p:nvSpPr>
            <p:cNvPr id="10" name="TextBox 10"/>
            <p:cNvSpPr txBox="1"/>
            <p:nvPr/>
          </p:nvSpPr>
          <p:spPr>
            <a:xfrm>
              <a:off x="0" y="-28575"/>
              <a:ext cx="508459" cy="460785"/>
            </a:xfrm>
            <a:prstGeom prst="rect">
              <a:avLst/>
            </a:prstGeom>
          </p:spPr>
          <p:txBody>
            <a:bodyPr lIns="50800" tIns="50800" rIns="50800" bIns="50800" rtlCol="0" anchor="ctr"/>
            <a:lstStyle/>
            <a:p>
              <a:pPr algn="ctr">
                <a:lnSpc>
                  <a:spcPts val="2859"/>
                </a:lnSpc>
              </a:pPr>
              <a:endParaRPr/>
            </a:p>
          </p:txBody>
        </p:sp>
      </p:grpSp>
      <p:graphicFrame>
        <p:nvGraphicFramePr>
          <p:cNvPr id="11" name="Table 11"/>
          <p:cNvGraphicFramePr>
            <a:graphicFrameLocks noGrp="1"/>
          </p:cNvGraphicFramePr>
          <p:nvPr/>
        </p:nvGraphicFramePr>
        <p:xfrm>
          <a:off x="2304900" y="2143012"/>
          <a:ext cx="13484317" cy="5184064"/>
        </p:xfrm>
        <a:graphic>
          <a:graphicData uri="http://schemas.openxmlformats.org/drawingml/2006/table">
            <a:tbl>
              <a:tblPr/>
              <a:tblGrid>
                <a:gridCol w="2081023">
                  <a:extLst>
                    <a:ext uri="{9D8B030D-6E8A-4147-A177-3AD203B41FA5}">
                      <a16:colId xmlns:a16="http://schemas.microsoft.com/office/drawing/2014/main" val="20000"/>
                    </a:ext>
                  </a:extLst>
                </a:gridCol>
                <a:gridCol w="1754131">
                  <a:extLst>
                    <a:ext uri="{9D8B030D-6E8A-4147-A177-3AD203B41FA5}">
                      <a16:colId xmlns:a16="http://schemas.microsoft.com/office/drawing/2014/main" val="20001"/>
                    </a:ext>
                  </a:extLst>
                </a:gridCol>
                <a:gridCol w="5349944">
                  <a:extLst>
                    <a:ext uri="{9D8B030D-6E8A-4147-A177-3AD203B41FA5}">
                      <a16:colId xmlns:a16="http://schemas.microsoft.com/office/drawing/2014/main" val="20002"/>
                    </a:ext>
                  </a:extLst>
                </a:gridCol>
                <a:gridCol w="4299219">
                  <a:extLst>
                    <a:ext uri="{9D8B030D-6E8A-4147-A177-3AD203B41FA5}">
                      <a16:colId xmlns:a16="http://schemas.microsoft.com/office/drawing/2014/main" val="20003"/>
                    </a:ext>
                  </a:extLst>
                </a:gridCol>
              </a:tblGrid>
              <a:tr h="1129043">
                <a:tc>
                  <a:txBody>
                    <a:bodyPr/>
                    <a:lstStyle/>
                    <a:p>
                      <a:pPr algn="ctr">
                        <a:lnSpc>
                          <a:spcPts val="2519"/>
                        </a:lnSpc>
                        <a:defRPr/>
                      </a:pPr>
                      <a:r>
                        <a:rPr lang="en-US" sz="1799" b="1">
                          <a:solidFill>
                            <a:srgbClr val="000000"/>
                          </a:solidFill>
                          <a:latin typeface="Tomorrow Bold"/>
                          <a:ea typeface="Tomorrow Bold"/>
                          <a:cs typeface="Tomorrow Bold"/>
                          <a:sym typeface="Tomorrow Bold"/>
                        </a:rPr>
                        <a:t>Tier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B9B9B9"/>
                    </a:solidFill>
                  </a:tcPr>
                </a:tc>
                <a:tc>
                  <a:txBody>
                    <a:bodyPr/>
                    <a:lstStyle/>
                    <a:p>
                      <a:pPr algn="ctr">
                        <a:lnSpc>
                          <a:spcPts val="2239"/>
                        </a:lnSpc>
                        <a:defRPr/>
                      </a:pPr>
                      <a:r>
                        <a:rPr lang="en-US" sz="1599" b="1">
                          <a:solidFill>
                            <a:srgbClr val="000000"/>
                          </a:solidFill>
                          <a:latin typeface="Tomorrow Bold"/>
                          <a:ea typeface="Tomorrow Bold"/>
                          <a:cs typeface="Tomorrow Bold"/>
                          <a:sym typeface="Tomorrow Bold"/>
                        </a:rPr>
                        <a:t>Monthly Fee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B9B9B9"/>
                    </a:solidFill>
                  </a:tcPr>
                </a:tc>
                <a:tc>
                  <a:txBody>
                    <a:bodyPr/>
                    <a:lstStyle/>
                    <a:p>
                      <a:pPr algn="ctr">
                        <a:lnSpc>
                          <a:spcPts val="2659"/>
                        </a:lnSpc>
                        <a:defRPr/>
                      </a:pPr>
                      <a:r>
                        <a:rPr lang="en-US" sz="1899" b="1">
                          <a:solidFill>
                            <a:srgbClr val="000000"/>
                          </a:solidFill>
                          <a:latin typeface="Tomorrow Bold"/>
                          <a:ea typeface="Tomorrow Bold"/>
                          <a:cs typeface="Tomorrow Bold"/>
                          <a:sym typeface="Tomorrow Bold"/>
                        </a:rPr>
                        <a:t>Key Services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B9B9B9"/>
                    </a:solidFill>
                  </a:tcPr>
                </a:tc>
                <a:tc>
                  <a:txBody>
                    <a:bodyPr/>
                    <a:lstStyle/>
                    <a:p>
                      <a:pPr algn="ctr">
                        <a:lnSpc>
                          <a:spcPts val="2659"/>
                        </a:lnSpc>
                        <a:defRPr/>
                      </a:pPr>
                      <a:r>
                        <a:rPr lang="en-US" sz="1899" b="1">
                          <a:solidFill>
                            <a:srgbClr val="000000"/>
                          </a:solidFill>
                          <a:latin typeface="Tomorrow Bold"/>
                          <a:ea typeface="Tomorrow Bold"/>
                          <a:cs typeface="Tomorrow Bold"/>
                          <a:sym typeface="Tomorrow Bold"/>
                        </a:rPr>
                        <a:t>Target Customer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B9B9B9"/>
                    </a:solidFill>
                  </a:tcPr>
                </a:tc>
                <a:extLst>
                  <a:ext uri="{0D108BD9-81ED-4DB2-BD59-A6C34878D82A}">
                    <a16:rowId xmlns:a16="http://schemas.microsoft.com/office/drawing/2014/main" val="10000"/>
                  </a:ext>
                </a:extLst>
              </a:tr>
              <a:tr h="1258309">
                <a:tc>
                  <a:txBody>
                    <a:bodyPr/>
                    <a:lstStyle/>
                    <a:p>
                      <a:pPr algn="ctr">
                        <a:lnSpc>
                          <a:spcPts val="2100"/>
                        </a:lnSpc>
                        <a:defRPr/>
                      </a:pPr>
                      <a:r>
                        <a:rPr lang="en-US" sz="1500" b="1" i="1">
                          <a:solidFill>
                            <a:srgbClr val="000000"/>
                          </a:solidFill>
                          <a:latin typeface="Tomorrow Bold Italics"/>
                          <a:ea typeface="Tomorrow Bold Italics"/>
                          <a:cs typeface="Tomorrow Bold Italics"/>
                          <a:sym typeface="Tomorrow Bold Italics"/>
                        </a:rPr>
                        <a:t>BASIC TIER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Tomorrow"/>
                          <a:ea typeface="Tomorrow"/>
                          <a:cs typeface="Tomorrow"/>
                          <a:sym typeface="Tomorrow"/>
                        </a:rPr>
                        <a:t>$400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FF1B50"/>
                          </a:solidFill>
                          <a:latin typeface="Tomorrow Bold"/>
                          <a:ea typeface="Tomorrow Bold"/>
                          <a:cs typeface="Tomorrow Bold"/>
                          <a:sym typeface="Tomorrow Bold"/>
                        </a:rPr>
                        <a:t>Routine maintenance, seasonal repairs, limited insurance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000000"/>
                          </a:solidFill>
                          <a:latin typeface="Tomorrow Bold"/>
                          <a:ea typeface="Tomorrow Bold"/>
                          <a:cs typeface="Tomorrow Bold"/>
                          <a:sym typeface="Tomorrow Bold"/>
                        </a:rPr>
                        <a:t>Price-sensitive customers looking for essential services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390484">
                <a:tc>
                  <a:txBody>
                    <a:bodyPr/>
                    <a:lstStyle/>
                    <a:p>
                      <a:pPr algn="ctr">
                        <a:lnSpc>
                          <a:spcPts val="2100"/>
                        </a:lnSpc>
                        <a:defRPr/>
                      </a:pPr>
                      <a:r>
                        <a:rPr lang="en-US" sz="1500" b="1" i="1">
                          <a:solidFill>
                            <a:srgbClr val="000000"/>
                          </a:solidFill>
                          <a:latin typeface="Tomorrow Bold Italics"/>
                          <a:ea typeface="Tomorrow Bold Italics"/>
                          <a:cs typeface="Tomorrow Bold Italics"/>
                          <a:sym typeface="Tomorrow Bold Italics"/>
                        </a:rPr>
                        <a:t>STANDARD TIER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Tomorrow"/>
                          <a:ea typeface="Tomorrow"/>
                          <a:cs typeface="Tomorrow"/>
                          <a:sym typeface="Tomorrow"/>
                        </a:rPr>
                        <a:t>$500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099"/>
                        </a:lnSpc>
                        <a:defRPr/>
                      </a:pPr>
                      <a:r>
                        <a:rPr lang="en-US" sz="1499" b="1">
                          <a:solidFill>
                            <a:srgbClr val="FF1B50"/>
                          </a:solidFill>
                          <a:latin typeface="Tomorrow Bold"/>
                          <a:ea typeface="Tomorrow Bold"/>
                          <a:cs typeface="Tomorrow Bold"/>
                          <a:sym typeface="Tomorrow Bold"/>
                        </a:rPr>
                        <a:t>Routine maintenance, extended seasonal repairs, improved insurance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000000"/>
                          </a:solidFill>
                          <a:latin typeface="Tomorrow Bold"/>
                          <a:ea typeface="Tomorrow Bold"/>
                          <a:cs typeface="Tomorrow Bold"/>
                          <a:sym typeface="Tomorrow Bold"/>
                        </a:rPr>
                        <a:t>Customers wanting a balance of cost and comprehensive coverage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06228">
                <a:tc>
                  <a:txBody>
                    <a:bodyPr/>
                    <a:lstStyle/>
                    <a:p>
                      <a:pPr algn="ctr">
                        <a:lnSpc>
                          <a:spcPts val="2100"/>
                        </a:lnSpc>
                        <a:defRPr/>
                      </a:pPr>
                      <a:r>
                        <a:rPr lang="en-US" sz="1500" b="1" i="1">
                          <a:solidFill>
                            <a:srgbClr val="000000"/>
                          </a:solidFill>
                          <a:latin typeface="Tomorrow Bold Italics"/>
                          <a:ea typeface="Tomorrow Bold Italics"/>
                          <a:cs typeface="Tomorrow Bold Italics"/>
                          <a:sym typeface="Tomorrow Bold Italics"/>
                        </a:rPr>
                        <a:t>PREMIUM TIER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Tomorrow"/>
                          <a:ea typeface="Tomorrow"/>
                          <a:cs typeface="Tomorrow"/>
                          <a:sym typeface="Tomorrow"/>
                        </a:rPr>
                        <a:t>$600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FF1B50"/>
                          </a:solidFill>
                          <a:latin typeface="Tomorrow Bold"/>
                          <a:ea typeface="Tomorrow Bold"/>
                          <a:cs typeface="Tomorrow Bold"/>
                          <a:sym typeface="Tomorrow Bold"/>
                        </a:rPr>
                        <a:t>Full maintenance, extended repairs, lower deductibles, priority services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b="1">
                          <a:solidFill>
                            <a:srgbClr val="000000"/>
                          </a:solidFill>
                          <a:latin typeface="Tomorrow Bold"/>
                          <a:ea typeface="Tomorrow Bold"/>
                          <a:cs typeface="Tomorrow Bold"/>
                          <a:sym typeface="Tomorrow Bold"/>
                        </a:rPr>
                        <a:t>Prince-insensitive customers willing to pay for premium, full-service offerings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TextBox 12"/>
          <p:cNvSpPr txBox="1"/>
          <p:nvPr/>
        </p:nvSpPr>
        <p:spPr>
          <a:xfrm>
            <a:off x="1028700" y="38100"/>
            <a:ext cx="17259300" cy="990600"/>
          </a:xfrm>
          <a:prstGeom prst="rect">
            <a:avLst/>
          </a:prstGeom>
        </p:spPr>
        <p:txBody>
          <a:bodyPr lIns="0" tIns="0" rIns="0" bIns="0" rtlCol="0" anchor="t">
            <a:spAutoFit/>
          </a:bodyPr>
          <a:lstStyle/>
          <a:p>
            <a:pPr algn="l">
              <a:lnSpc>
                <a:spcPts val="7680"/>
              </a:lnSpc>
            </a:pPr>
            <a:r>
              <a:rPr lang="en-US" sz="6400" spc="-160">
                <a:solidFill>
                  <a:srgbClr val="000000"/>
                </a:solidFill>
                <a:latin typeface="Sifonn"/>
                <a:ea typeface="Sifonn"/>
                <a:cs typeface="Sifonn"/>
                <a:sym typeface="Sifonn"/>
              </a:rPr>
              <a:t>BMW SERIES 3 BM3-DRIVE SUBSCRIPTION</a:t>
            </a:r>
          </a:p>
        </p:txBody>
      </p:sp>
      <p:grpSp>
        <p:nvGrpSpPr>
          <p:cNvPr id="13" name="Group 13"/>
          <p:cNvGrpSpPr/>
          <p:nvPr/>
        </p:nvGrpSpPr>
        <p:grpSpPr>
          <a:xfrm>
            <a:off x="12466646" y="7511243"/>
            <a:ext cx="4403282" cy="2339156"/>
            <a:chOff x="0" y="0"/>
            <a:chExt cx="5871042" cy="3118875"/>
          </a:xfrm>
        </p:grpSpPr>
        <p:grpSp>
          <p:nvGrpSpPr>
            <p:cNvPr id="14" name="Group 14"/>
            <p:cNvGrpSpPr/>
            <p:nvPr/>
          </p:nvGrpSpPr>
          <p:grpSpPr>
            <a:xfrm>
              <a:off x="0" y="0"/>
              <a:ext cx="5871042" cy="2960412"/>
              <a:chOff x="0" y="0"/>
              <a:chExt cx="1159712" cy="584773"/>
            </a:xfrm>
          </p:grpSpPr>
          <p:sp>
            <p:nvSpPr>
              <p:cNvPr id="15" name="Freeform 15"/>
              <p:cNvSpPr/>
              <p:nvPr/>
            </p:nvSpPr>
            <p:spPr>
              <a:xfrm>
                <a:off x="0" y="0"/>
                <a:ext cx="1159712" cy="584773"/>
              </a:xfrm>
              <a:custGeom>
                <a:avLst/>
                <a:gdLst/>
                <a:ahLst/>
                <a:cxnLst/>
                <a:rect l="l" t="t" r="r" b="b"/>
                <a:pathLst>
                  <a:path w="1159712" h="584773">
                    <a:moveTo>
                      <a:pt x="0" y="0"/>
                    </a:moveTo>
                    <a:lnTo>
                      <a:pt x="1159712" y="0"/>
                    </a:lnTo>
                    <a:lnTo>
                      <a:pt x="1159712" y="584773"/>
                    </a:lnTo>
                    <a:lnTo>
                      <a:pt x="0" y="584773"/>
                    </a:lnTo>
                    <a:close/>
                  </a:path>
                </a:pathLst>
              </a:custGeom>
              <a:solidFill>
                <a:srgbClr val="FF1B50"/>
              </a:solidFill>
            </p:spPr>
          </p:sp>
          <p:sp>
            <p:nvSpPr>
              <p:cNvPr id="16" name="TextBox 16"/>
              <p:cNvSpPr txBox="1"/>
              <p:nvPr/>
            </p:nvSpPr>
            <p:spPr>
              <a:xfrm>
                <a:off x="0" y="-28575"/>
                <a:ext cx="1159712" cy="613348"/>
              </a:xfrm>
              <a:prstGeom prst="rect">
                <a:avLst/>
              </a:prstGeom>
            </p:spPr>
            <p:txBody>
              <a:bodyPr lIns="50800" tIns="50800" rIns="50800" bIns="50800" rtlCol="0" anchor="ctr"/>
              <a:lstStyle/>
              <a:p>
                <a:pPr algn="ctr">
                  <a:lnSpc>
                    <a:spcPts val="2859"/>
                  </a:lnSpc>
                </a:pPr>
                <a:endParaRPr/>
              </a:p>
            </p:txBody>
          </p:sp>
        </p:grpSp>
        <p:sp>
          <p:nvSpPr>
            <p:cNvPr id="17" name="TextBox 17"/>
            <p:cNvSpPr txBox="1"/>
            <p:nvPr/>
          </p:nvSpPr>
          <p:spPr>
            <a:xfrm>
              <a:off x="178417" y="-19050"/>
              <a:ext cx="5295731" cy="3137925"/>
            </a:xfrm>
            <a:prstGeom prst="rect">
              <a:avLst/>
            </a:prstGeom>
          </p:spPr>
          <p:txBody>
            <a:bodyPr lIns="0" tIns="0" rIns="0" bIns="0" rtlCol="0" anchor="t">
              <a:spAutoFit/>
            </a:bodyPr>
            <a:lstStyle/>
            <a:p>
              <a:pPr marL="391745" lvl="1" indent="-195873" algn="ctr">
                <a:lnSpc>
                  <a:spcPts val="2358"/>
                </a:lnSpc>
                <a:spcBef>
                  <a:spcPct val="0"/>
                </a:spcBef>
                <a:buFont typeface="Arial"/>
                <a:buChar char="•"/>
              </a:pPr>
              <a:r>
                <a:rPr lang="en-US" sz="1814" b="1" spc="45">
                  <a:solidFill>
                    <a:srgbClr val="262626"/>
                  </a:solidFill>
                  <a:latin typeface="Tomorrow Bold"/>
                  <a:ea typeface="Tomorrow Bold"/>
                  <a:cs typeface="Tomorrow Bold"/>
                  <a:sym typeface="Tomorrow Bold"/>
                </a:rPr>
                <a:t>First Month Payment:</a:t>
              </a:r>
            </a:p>
            <a:p>
              <a:pPr algn="ctr">
                <a:lnSpc>
                  <a:spcPts val="2358"/>
                </a:lnSpc>
                <a:spcBef>
                  <a:spcPct val="0"/>
                </a:spcBef>
              </a:pPr>
              <a:r>
                <a:rPr lang="en-US" sz="1814" b="1" spc="45">
                  <a:solidFill>
                    <a:srgbClr val="EFEFEF"/>
                  </a:solidFill>
                  <a:latin typeface="Tomorrow Bold"/>
                  <a:ea typeface="Tomorrow Bold"/>
                  <a:cs typeface="Tomorrow Bold"/>
                  <a:sym typeface="Tomorrow Bold"/>
                </a:rPr>
                <a:t>Requirement: All BMW series 3 buyers must pay for the first month of their chosen tier or for basic $400 tier upon signing up, allowing them to experience the service.</a:t>
              </a:r>
            </a:p>
            <a:p>
              <a:pPr algn="ctr">
                <a:lnSpc>
                  <a:spcPts val="2358"/>
                </a:lnSpc>
                <a:spcBef>
                  <a:spcPct val="0"/>
                </a:spcBef>
              </a:pPr>
              <a:endParaRPr lang="en-US" sz="1814" b="1" spc="45">
                <a:solidFill>
                  <a:srgbClr val="EFEFEF"/>
                </a:solidFill>
                <a:latin typeface="Tomorrow Bold"/>
                <a:ea typeface="Tomorrow Bold"/>
                <a:cs typeface="Tomorrow Bold"/>
                <a:sym typeface="Tomorrow Bold"/>
              </a:endParaRPr>
            </a:p>
          </p:txBody>
        </p:sp>
      </p:grpSp>
      <p:grpSp>
        <p:nvGrpSpPr>
          <p:cNvPr id="18" name="Group 18"/>
          <p:cNvGrpSpPr/>
          <p:nvPr/>
        </p:nvGrpSpPr>
        <p:grpSpPr>
          <a:xfrm>
            <a:off x="1321903" y="7486348"/>
            <a:ext cx="4305525" cy="2220309"/>
            <a:chOff x="0" y="0"/>
            <a:chExt cx="1133965" cy="584773"/>
          </a:xfrm>
        </p:grpSpPr>
        <p:sp>
          <p:nvSpPr>
            <p:cNvPr id="19" name="Freeform 19"/>
            <p:cNvSpPr/>
            <p:nvPr/>
          </p:nvSpPr>
          <p:spPr>
            <a:xfrm>
              <a:off x="0" y="0"/>
              <a:ext cx="1133965" cy="584773"/>
            </a:xfrm>
            <a:custGeom>
              <a:avLst/>
              <a:gdLst/>
              <a:ahLst/>
              <a:cxnLst/>
              <a:rect l="l" t="t" r="r" b="b"/>
              <a:pathLst>
                <a:path w="1133965" h="584773">
                  <a:moveTo>
                    <a:pt x="0" y="0"/>
                  </a:moveTo>
                  <a:lnTo>
                    <a:pt x="1133965" y="0"/>
                  </a:lnTo>
                  <a:lnTo>
                    <a:pt x="1133965" y="584773"/>
                  </a:lnTo>
                  <a:lnTo>
                    <a:pt x="0" y="584773"/>
                  </a:lnTo>
                  <a:close/>
                </a:path>
              </a:pathLst>
            </a:custGeom>
            <a:solidFill>
              <a:srgbClr val="FF1B50"/>
            </a:solidFill>
          </p:spPr>
        </p:sp>
        <p:sp>
          <p:nvSpPr>
            <p:cNvPr id="20" name="TextBox 20"/>
            <p:cNvSpPr txBox="1"/>
            <p:nvPr/>
          </p:nvSpPr>
          <p:spPr>
            <a:xfrm>
              <a:off x="0" y="-28575"/>
              <a:ext cx="1133965" cy="613348"/>
            </a:xfrm>
            <a:prstGeom prst="rect">
              <a:avLst/>
            </a:prstGeom>
          </p:spPr>
          <p:txBody>
            <a:bodyPr lIns="50800" tIns="50800" rIns="50800" bIns="50800" rtlCol="0" anchor="ctr"/>
            <a:lstStyle/>
            <a:p>
              <a:pPr algn="ctr">
                <a:lnSpc>
                  <a:spcPts val="2859"/>
                </a:lnSpc>
              </a:pPr>
              <a:endParaRPr/>
            </a:p>
          </p:txBody>
        </p:sp>
      </p:grpSp>
      <p:sp>
        <p:nvSpPr>
          <p:cNvPr id="21" name="TextBox 21"/>
          <p:cNvSpPr txBox="1"/>
          <p:nvPr/>
        </p:nvSpPr>
        <p:spPr>
          <a:xfrm>
            <a:off x="1566851" y="7492193"/>
            <a:ext cx="3794207" cy="2358206"/>
          </a:xfrm>
          <a:prstGeom prst="rect">
            <a:avLst/>
          </a:prstGeom>
        </p:spPr>
        <p:txBody>
          <a:bodyPr lIns="0" tIns="0" rIns="0" bIns="0" rtlCol="0" anchor="t">
            <a:spAutoFit/>
          </a:bodyPr>
          <a:lstStyle/>
          <a:p>
            <a:pPr marL="391745" lvl="1" indent="-195873" algn="ctr">
              <a:lnSpc>
                <a:spcPts val="2358"/>
              </a:lnSpc>
              <a:buFont typeface="Arial"/>
              <a:buChar char="•"/>
            </a:pPr>
            <a:r>
              <a:rPr lang="en-US" sz="1814" b="1" spc="45">
                <a:solidFill>
                  <a:srgbClr val="262626"/>
                </a:solidFill>
                <a:latin typeface="Tomorrow Bold"/>
                <a:ea typeface="Tomorrow Bold"/>
                <a:cs typeface="Tomorrow Bold"/>
                <a:sym typeface="Tomorrow Bold"/>
              </a:rPr>
              <a:t>Continued Subscription:</a:t>
            </a:r>
          </a:p>
          <a:p>
            <a:pPr algn="ctr">
              <a:lnSpc>
                <a:spcPts val="2358"/>
              </a:lnSpc>
            </a:pPr>
            <a:r>
              <a:rPr lang="en-US" sz="1814" b="1" spc="45">
                <a:solidFill>
                  <a:srgbClr val="F2EFF0"/>
                </a:solidFill>
                <a:latin typeface="Tomorrow Bold"/>
                <a:ea typeface="Tomorrow Bold"/>
                <a:cs typeface="Tomorrow Bold"/>
                <a:sym typeface="Tomorrow Bold"/>
              </a:rPr>
              <a:t>Flexibility: After the initial 12 months, subscribers can choose to continue the service. If they wish to renew, an additional fee will apply.</a:t>
            </a:r>
          </a:p>
          <a:p>
            <a:pPr algn="ctr">
              <a:lnSpc>
                <a:spcPts val="2358"/>
              </a:lnSpc>
              <a:spcBef>
                <a:spcPct val="0"/>
              </a:spcBef>
            </a:pPr>
            <a:endParaRPr lang="en-US" sz="1814" b="1" spc="45">
              <a:solidFill>
                <a:srgbClr val="F2EFF0"/>
              </a:solidFill>
              <a:latin typeface="Tomorrow Bold"/>
              <a:ea typeface="Tomorrow Bold"/>
              <a:cs typeface="Tomorrow Bold"/>
              <a:sym typeface="Tomorrow Bold"/>
            </a:endParaRPr>
          </a:p>
        </p:txBody>
      </p:sp>
      <p:grpSp>
        <p:nvGrpSpPr>
          <p:cNvPr id="22" name="Group 22"/>
          <p:cNvGrpSpPr/>
          <p:nvPr/>
        </p:nvGrpSpPr>
        <p:grpSpPr>
          <a:xfrm>
            <a:off x="6894296" y="7486348"/>
            <a:ext cx="4305525" cy="2220309"/>
            <a:chOff x="0" y="0"/>
            <a:chExt cx="1133965" cy="584773"/>
          </a:xfrm>
        </p:grpSpPr>
        <p:sp>
          <p:nvSpPr>
            <p:cNvPr id="23" name="Freeform 23"/>
            <p:cNvSpPr/>
            <p:nvPr/>
          </p:nvSpPr>
          <p:spPr>
            <a:xfrm>
              <a:off x="0" y="0"/>
              <a:ext cx="1133965" cy="584773"/>
            </a:xfrm>
            <a:custGeom>
              <a:avLst/>
              <a:gdLst/>
              <a:ahLst/>
              <a:cxnLst/>
              <a:rect l="l" t="t" r="r" b="b"/>
              <a:pathLst>
                <a:path w="1133965" h="584773">
                  <a:moveTo>
                    <a:pt x="0" y="0"/>
                  </a:moveTo>
                  <a:lnTo>
                    <a:pt x="1133965" y="0"/>
                  </a:lnTo>
                  <a:lnTo>
                    <a:pt x="1133965" y="584773"/>
                  </a:lnTo>
                  <a:lnTo>
                    <a:pt x="0" y="584773"/>
                  </a:lnTo>
                  <a:close/>
                </a:path>
              </a:pathLst>
            </a:custGeom>
            <a:solidFill>
              <a:srgbClr val="FF1B50"/>
            </a:solidFill>
          </p:spPr>
        </p:sp>
        <p:sp>
          <p:nvSpPr>
            <p:cNvPr id="24" name="TextBox 24"/>
            <p:cNvSpPr txBox="1"/>
            <p:nvPr/>
          </p:nvSpPr>
          <p:spPr>
            <a:xfrm>
              <a:off x="0" y="-28575"/>
              <a:ext cx="1133965" cy="613348"/>
            </a:xfrm>
            <a:prstGeom prst="rect">
              <a:avLst/>
            </a:prstGeom>
          </p:spPr>
          <p:txBody>
            <a:bodyPr lIns="50800" tIns="50800" rIns="50800" bIns="50800" rtlCol="0" anchor="ctr"/>
            <a:lstStyle/>
            <a:p>
              <a:pPr algn="ctr">
                <a:lnSpc>
                  <a:spcPts val="2859"/>
                </a:lnSpc>
              </a:pPr>
              <a:endParaRPr/>
            </a:p>
          </p:txBody>
        </p:sp>
      </p:grpSp>
      <p:sp>
        <p:nvSpPr>
          <p:cNvPr id="25" name="TextBox 25"/>
          <p:cNvSpPr txBox="1"/>
          <p:nvPr/>
        </p:nvSpPr>
        <p:spPr>
          <a:xfrm>
            <a:off x="6894296" y="7467298"/>
            <a:ext cx="3794207" cy="2062931"/>
          </a:xfrm>
          <a:prstGeom prst="rect">
            <a:avLst/>
          </a:prstGeom>
        </p:spPr>
        <p:txBody>
          <a:bodyPr lIns="0" tIns="0" rIns="0" bIns="0" rtlCol="0" anchor="t">
            <a:spAutoFit/>
          </a:bodyPr>
          <a:lstStyle/>
          <a:p>
            <a:pPr marL="391745" lvl="1" indent="-195873" algn="ctr">
              <a:lnSpc>
                <a:spcPts val="2358"/>
              </a:lnSpc>
              <a:buFont typeface="Arial"/>
              <a:buChar char="•"/>
            </a:pPr>
            <a:r>
              <a:rPr lang="en-US" sz="1814" b="1" spc="45">
                <a:solidFill>
                  <a:srgbClr val="262626"/>
                </a:solidFill>
                <a:latin typeface="Tomorrow Bold"/>
                <a:ea typeface="Tomorrow Bold"/>
                <a:cs typeface="Tomorrow Bold"/>
                <a:sym typeface="Tomorrow Bold"/>
              </a:rPr>
              <a:t>Easy Termination:</a:t>
            </a:r>
            <a:r>
              <a:rPr lang="en-US" sz="1814" b="1" spc="45">
                <a:solidFill>
                  <a:srgbClr val="F2EFF0"/>
                </a:solidFill>
                <a:latin typeface="Tomorrow Bold"/>
                <a:ea typeface="Tomorrow Bold"/>
                <a:cs typeface="Tomorrow Bold"/>
                <a:sym typeface="Tomorrow Bold"/>
              </a:rPr>
              <a:t> Customers can opt-out after the first month if they decide the subscription doesn’t meet their needs, minimizing long-term commitment concerns.</a:t>
            </a:r>
          </a:p>
        </p:txBody>
      </p:sp>
      <p:sp>
        <p:nvSpPr>
          <p:cNvPr id="26" name="TextBox 26"/>
          <p:cNvSpPr txBox="1"/>
          <p:nvPr/>
        </p:nvSpPr>
        <p:spPr>
          <a:xfrm>
            <a:off x="0" y="1009650"/>
            <a:ext cx="18094117" cy="1027004"/>
          </a:xfrm>
          <a:prstGeom prst="rect">
            <a:avLst/>
          </a:prstGeom>
        </p:spPr>
        <p:txBody>
          <a:bodyPr lIns="0" tIns="0" rIns="0" bIns="0" rtlCol="0" anchor="t">
            <a:spAutoFit/>
          </a:bodyPr>
          <a:lstStyle/>
          <a:p>
            <a:pPr algn="ctr">
              <a:lnSpc>
                <a:spcPts val="2345"/>
              </a:lnSpc>
            </a:pPr>
            <a:r>
              <a:rPr lang="en-US" sz="1804" b="1" i="1" spc="45">
                <a:solidFill>
                  <a:srgbClr val="000000"/>
                </a:solidFill>
                <a:latin typeface="Tomorrow Bold Italics"/>
                <a:ea typeface="Tomorrow Bold Italics"/>
                <a:cs typeface="Tomorrow Bold Italics"/>
                <a:sym typeface="Tomorrow Bold Italics"/>
              </a:rPr>
              <a:t>In response to ongoing recession, we introduce the BM3-Drive Subscription Plan for the Series 3.This model uses price discrimination to meet the needs of price-sensitive consumers during a recession. For instance, with basic tier fee of just $400, customers can instantly recognize that this is significantly less than the typical costs of $600-$800 for routine maintenance and insurance without a subscription.</a:t>
            </a:r>
          </a:p>
          <a:p>
            <a:pPr algn="ctr">
              <a:lnSpc>
                <a:spcPts val="1104"/>
              </a:lnSpc>
              <a:spcBef>
                <a:spcPct val="0"/>
              </a:spcBef>
            </a:pPr>
            <a:endParaRPr lang="en-US" sz="1804" b="1" i="1" spc="45">
              <a:solidFill>
                <a:srgbClr val="000000"/>
              </a:solidFill>
              <a:latin typeface="Tomorrow Bold Italics"/>
              <a:ea typeface="Tomorrow Bold Italics"/>
              <a:cs typeface="Tomorrow Bold Italics"/>
              <a:sym typeface="Tomorrow Bold Itali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493083" y="444027"/>
            <a:ext cx="19274166" cy="1037413"/>
            <a:chOff x="0" y="0"/>
            <a:chExt cx="5076324" cy="689367"/>
          </a:xfrm>
        </p:grpSpPr>
        <p:sp>
          <p:nvSpPr>
            <p:cNvPr id="3" name="Freeform 3"/>
            <p:cNvSpPr/>
            <p:nvPr/>
          </p:nvSpPr>
          <p:spPr>
            <a:xfrm>
              <a:off x="0" y="0"/>
              <a:ext cx="5076323" cy="689367"/>
            </a:xfrm>
            <a:custGeom>
              <a:avLst/>
              <a:gdLst/>
              <a:ahLst/>
              <a:cxnLst/>
              <a:rect l="l" t="t" r="r" b="b"/>
              <a:pathLst>
                <a:path w="5076323" h="689367">
                  <a:moveTo>
                    <a:pt x="0" y="0"/>
                  </a:moveTo>
                  <a:lnTo>
                    <a:pt x="5076323" y="0"/>
                  </a:lnTo>
                  <a:lnTo>
                    <a:pt x="5076323" y="689367"/>
                  </a:lnTo>
                  <a:lnTo>
                    <a:pt x="0" y="689367"/>
                  </a:lnTo>
                  <a:close/>
                </a:path>
              </a:pathLst>
            </a:custGeom>
            <a:solidFill>
              <a:srgbClr val="FF1B50"/>
            </a:solidFill>
          </p:spPr>
        </p:sp>
        <p:sp>
          <p:nvSpPr>
            <p:cNvPr id="4" name="TextBox 4"/>
            <p:cNvSpPr txBox="1"/>
            <p:nvPr/>
          </p:nvSpPr>
          <p:spPr>
            <a:xfrm>
              <a:off x="0" y="-9525"/>
              <a:ext cx="5076324" cy="698892"/>
            </a:xfrm>
            <a:prstGeom prst="rect">
              <a:avLst/>
            </a:prstGeom>
          </p:spPr>
          <p:txBody>
            <a:bodyPr lIns="50800" tIns="50800" rIns="50800" bIns="50800" rtlCol="0" anchor="ctr"/>
            <a:lstStyle/>
            <a:p>
              <a:pPr algn="ctr">
                <a:lnSpc>
                  <a:spcPts val="1950"/>
                </a:lnSpc>
              </a:pPr>
              <a:endParaRPr/>
            </a:p>
          </p:txBody>
        </p:sp>
      </p:grpSp>
      <p:grpSp>
        <p:nvGrpSpPr>
          <p:cNvPr id="5" name="Group 5"/>
          <p:cNvGrpSpPr/>
          <p:nvPr/>
        </p:nvGrpSpPr>
        <p:grpSpPr>
          <a:xfrm>
            <a:off x="1030994" y="2307781"/>
            <a:ext cx="16228306" cy="352425"/>
            <a:chOff x="0" y="0"/>
            <a:chExt cx="21637741" cy="469900"/>
          </a:xfrm>
        </p:grpSpPr>
        <p:grpSp>
          <p:nvGrpSpPr>
            <p:cNvPr id="6" name="Group 6"/>
            <p:cNvGrpSpPr/>
            <p:nvPr/>
          </p:nvGrpSpPr>
          <p:grpSpPr>
            <a:xfrm>
              <a:off x="0" y="38100"/>
              <a:ext cx="431800" cy="431800"/>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1B50"/>
              </a:solidFill>
            </p:spPr>
          </p:sp>
        </p:grpSp>
        <p:grpSp>
          <p:nvGrpSpPr>
            <p:cNvPr id="8" name="Group 8"/>
            <p:cNvGrpSpPr/>
            <p:nvPr/>
          </p:nvGrpSpPr>
          <p:grpSpPr>
            <a:xfrm>
              <a:off x="5283231" y="25400"/>
              <a:ext cx="431800" cy="4318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1B50"/>
              </a:solidFill>
            </p:spPr>
          </p:sp>
        </p:grpSp>
        <p:grpSp>
          <p:nvGrpSpPr>
            <p:cNvPr id="10" name="Group 10"/>
            <p:cNvGrpSpPr/>
            <p:nvPr/>
          </p:nvGrpSpPr>
          <p:grpSpPr>
            <a:xfrm>
              <a:off x="11433078" y="12700"/>
              <a:ext cx="431800" cy="431800"/>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1B50"/>
              </a:solidFill>
            </p:spPr>
          </p:sp>
        </p:grpSp>
        <p:sp>
          <p:nvSpPr>
            <p:cNvPr id="12" name="AutoShape 12"/>
            <p:cNvSpPr/>
            <p:nvPr/>
          </p:nvSpPr>
          <p:spPr>
            <a:xfrm flipV="1">
              <a:off x="431800" y="241300"/>
              <a:ext cx="4851431" cy="12700"/>
            </a:xfrm>
            <a:prstGeom prst="line">
              <a:avLst/>
            </a:prstGeom>
            <a:ln w="63500" cap="flat">
              <a:solidFill>
                <a:srgbClr val="FF1B50"/>
              </a:solidFill>
              <a:prstDash val="solid"/>
              <a:headEnd type="none" w="sm" len="sm"/>
              <a:tailEnd type="none" w="sm" len="sm"/>
            </a:ln>
          </p:spPr>
        </p:sp>
        <p:sp>
          <p:nvSpPr>
            <p:cNvPr id="13" name="AutoShape 13"/>
            <p:cNvSpPr/>
            <p:nvPr/>
          </p:nvSpPr>
          <p:spPr>
            <a:xfrm flipV="1">
              <a:off x="5715031" y="228600"/>
              <a:ext cx="5718047" cy="12700"/>
            </a:xfrm>
            <a:prstGeom prst="line">
              <a:avLst/>
            </a:prstGeom>
            <a:ln w="63500" cap="flat">
              <a:solidFill>
                <a:srgbClr val="FF1B50"/>
              </a:solidFill>
              <a:prstDash val="solid"/>
              <a:headEnd type="none" w="sm" len="sm"/>
              <a:tailEnd type="none" w="sm" len="sm"/>
            </a:ln>
          </p:spPr>
        </p:sp>
        <p:sp>
          <p:nvSpPr>
            <p:cNvPr id="14" name="AutoShape 14"/>
            <p:cNvSpPr/>
            <p:nvPr/>
          </p:nvSpPr>
          <p:spPr>
            <a:xfrm flipV="1">
              <a:off x="11864878" y="215900"/>
              <a:ext cx="5067300" cy="12700"/>
            </a:xfrm>
            <a:prstGeom prst="line">
              <a:avLst/>
            </a:prstGeom>
            <a:ln w="63500" cap="flat">
              <a:solidFill>
                <a:srgbClr val="FF1B50"/>
              </a:solidFill>
              <a:prstDash val="solid"/>
              <a:headEnd type="none" w="sm" len="sm"/>
              <a:tailEnd type="none" w="sm" len="sm"/>
            </a:ln>
          </p:spPr>
        </p:sp>
        <p:grpSp>
          <p:nvGrpSpPr>
            <p:cNvPr id="15" name="Group 15"/>
            <p:cNvGrpSpPr/>
            <p:nvPr/>
          </p:nvGrpSpPr>
          <p:grpSpPr>
            <a:xfrm>
              <a:off x="16932178" y="0"/>
              <a:ext cx="431800" cy="431800"/>
              <a:chOff x="0" y="0"/>
              <a:chExt cx="6350000" cy="6350000"/>
            </a:xfrm>
          </p:grpSpPr>
          <p:sp>
            <p:nvSpPr>
              <p:cNvPr id="16" name="Freeform 1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1B50"/>
              </a:solidFill>
            </p:spPr>
          </p:sp>
        </p:grpSp>
        <p:sp>
          <p:nvSpPr>
            <p:cNvPr id="17" name="AutoShape 17"/>
            <p:cNvSpPr/>
            <p:nvPr/>
          </p:nvSpPr>
          <p:spPr>
            <a:xfrm>
              <a:off x="17363978" y="215900"/>
              <a:ext cx="4273744" cy="2578"/>
            </a:xfrm>
            <a:prstGeom prst="line">
              <a:avLst/>
            </a:prstGeom>
            <a:ln w="63500" cap="flat">
              <a:solidFill>
                <a:srgbClr val="FF1B50"/>
              </a:solidFill>
              <a:prstDash val="solid"/>
              <a:headEnd type="none" w="sm" len="sm"/>
              <a:tailEnd type="none" w="sm" len="sm"/>
            </a:ln>
          </p:spPr>
        </p:sp>
      </p:grpSp>
      <p:sp>
        <p:nvSpPr>
          <p:cNvPr id="18" name="TextBox 18"/>
          <p:cNvSpPr txBox="1"/>
          <p:nvPr/>
        </p:nvSpPr>
        <p:spPr>
          <a:xfrm>
            <a:off x="252766" y="247238"/>
            <a:ext cx="18288000" cy="1238250"/>
          </a:xfrm>
          <a:prstGeom prst="rect">
            <a:avLst/>
          </a:prstGeom>
        </p:spPr>
        <p:txBody>
          <a:bodyPr lIns="0" tIns="0" rIns="0" bIns="0" rtlCol="0" anchor="t">
            <a:spAutoFit/>
          </a:bodyPr>
          <a:lstStyle/>
          <a:p>
            <a:pPr algn="l">
              <a:lnSpc>
                <a:spcPts val="9719"/>
              </a:lnSpc>
            </a:pPr>
            <a:r>
              <a:rPr lang="en-US" sz="8099" spc="-202">
                <a:solidFill>
                  <a:srgbClr val="FFFFFF"/>
                </a:solidFill>
                <a:latin typeface="Sifonn"/>
                <a:ea typeface="Sifonn"/>
                <a:cs typeface="Sifonn"/>
                <a:sym typeface="Sifonn"/>
              </a:rPr>
              <a:t>KEY FEATURES OF THE BM3-DRIVE</a:t>
            </a:r>
          </a:p>
        </p:txBody>
      </p:sp>
      <p:grpSp>
        <p:nvGrpSpPr>
          <p:cNvPr id="19" name="Group 19"/>
          <p:cNvGrpSpPr/>
          <p:nvPr/>
        </p:nvGrpSpPr>
        <p:grpSpPr>
          <a:xfrm>
            <a:off x="417261" y="3091880"/>
            <a:ext cx="17453477" cy="6468380"/>
            <a:chOff x="0" y="0"/>
            <a:chExt cx="23271303" cy="8624507"/>
          </a:xfrm>
        </p:grpSpPr>
        <p:grpSp>
          <p:nvGrpSpPr>
            <p:cNvPr id="20" name="Group 20"/>
            <p:cNvGrpSpPr/>
            <p:nvPr/>
          </p:nvGrpSpPr>
          <p:grpSpPr>
            <a:xfrm>
              <a:off x="0" y="0"/>
              <a:ext cx="23271303" cy="8624507"/>
              <a:chOff x="0" y="0"/>
              <a:chExt cx="3656285" cy="1355045"/>
            </a:xfrm>
          </p:grpSpPr>
          <p:sp>
            <p:nvSpPr>
              <p:cNvPr id="21" name="Freeform 21"/>
              <p:cNvSpPr/>
              <p:nvPr/>
            </p:nvSpPr>
            <p:spPr>
              <a:xfrm>
                <a:off x="0" y="0"/>
                <a:ext cx="3656285" cy="1355045"/>
              </a:xfrm>
              <a:custGeom>
                <a:avLst/>
                <a:gdLst/>
                <a:ahLst/>
                <a:cxnLst/>
                <a:rect l="l" t="t" r="r" b="b"/>
                <a:pathLst>
                  <a:path w="3656285" h="1355045">
                    <a:moveTo>
                      <a:pt x="0" y="0"/>
                    </a:moveTo>
                    <a:lnTo>
                      <a:pt x="3656285" y="0"/>
                    </a:lnTo>
                    <a:lnTo>
                      <a:pt x="3656285" y="1355045"/>
                    </a:lnTo>
                    <a:lnTo>
                      <a:pt x="0" y="1355045"/>
                    </a:lnTo>
                    <a:close/>
                  </a:path>
                </a:pathLst>
              </a:custGeom>
              <a:solidFill>
                <a:srgbClr val="E6E7E8"/>
              </a:solidFill>
            </p:spPr>
          </p:sp>
          <p:sp>
            <p:nvSpPr>
              <p:cNvPr id="22" name="TextBox 22"/>
              <p:cNvSpPr txBox="1"/>
              <p:nvPr/>
            </p:nvSpPr>
            <p:spPr>
              <a:xfrm>
                <a:off x="0" y="-19050"/>
                <a:ext cx="3656285" cy="1374095"/>
              </a:xfrm>
              <a:prstGeom prst="rect">
                <a:avLst/>
              </a:prstGeom>
            </p:spPr>
            <p:txBody>
              <a:bodyPr lIns="63867" tIns="63867" rIns="63867" bIns="63867" rtlCol="0" anchor="ctr"/>
              <a:lstStyle/>
              <a:p>
                <a:pPr algn="ctr">
                  <a:lnSpc>
                    <a:spcPts val="2860"/>
                  </a:lnSpc>
                </a:pPr>
                <a:endParaRPr/>
              </a:p>
            </p:txBody>
          </p:sp>
        </p:grpSp>
        <p:sp>
          <p:nvSpPr>
            <p:cNvPr id="23" name="TextBox 23"/>
            <p:cNvSpPr txBox="1"/>
            <p:nvPr/>
          </p:nvSpPr>
          <p:spPr>
            <a:xfrm>
              <a:off x="0" y="657659"/>
              <a:ext cx="7456600" cy="7541033"/>
            </a:xfrm>
            <a:prstGeom prst="rect">
              <a:avLst/>
            </a:prstGeom>
          </p:spPr>
          <p:txBody>
            <a:bodyPr lIns="0" tIns="0" rIns="0" bIns="0" rtlCol="0" anchor="t">
              <a:spAutoFit/>
            </a:bodyPr>
            <a:lstStyle/>
            <a:p>
              <a:pPr algn="ctr">
                <a:lnSpc>
                  <a:spcPts val="2649"/>
                </a:lnSpc>
              </a:pPr>
              <a:r>
                <a:rPr lang="en-US" sz="2038" b="1" spc="50">
                  <a:solidFill>
                    <a:srgbClr val="000000"/>
                  </a:solidFill>
                  <a:latin typeface="Tomorrow Bold"/>
                  <a:ea typeface="Tomorrow Bold"/>
                  <a:cs typeface="Tomorrow Bold"/>
                  <a:sym typeface="Tomorrow Bold"/>
                </a:rPr>
                <a:t>Basic Tier:</a:t>
              </a:r>
            </a:p>
            <a:p>
              <a:pPr algn="ctr">
                <a:lnSpc>
                  <a:spcPts val="2649"/>
                </a:lnSpc>
              </a:pPr>
              <a:r>
                <a:rPr lang="en-US" sz="2038" b="1" spc="50">
                  <a:solidFill>
                    <a:srgbClr val="000000"/>
                  </a:solidFill>
                  <a:latin typeface="Tomorrow Bold"/>
                  <a:ea typeface="Tomorrow Bold"/>
                  <a:cs typeface="Tomorrow Bold"/>
                  <a:sym typeface="Tomorrow Bold"/>
                </a:rPr>
                <a:t>Monthly Fee: $400</a:t>
              </a:r>
            </a:p>
            <a:p>
              <a:pPr algn="ctr">
                <a:lnSpc>
                  <a:spcPts val="2649"/>
                </a:lnSpc>
              </a:pPr>
              <a:r>
                <a:rPr lang="en-US" sz="2038" b="1" spc="50">
                  <a:solidFill>
                    <a:srgbClr val="000000"/>
                  </a:solidFill>
                  <a:latin typeface="Tomorrow Bold"/>
                  <a:ea typeface="Tomorrow Bold"/>
                  <a:cs typeface="Tomorrow Bold"/>
                  <a:sym typeface="Tomorrow Bold"/>
                </a:rPr>
                <a:t>Key Services:</a:t>
              </a:r>
            </a:p>
            <a:p>
              <a:pPr marL="440089" lvl="1" indent="-220045" algn="ctr">
                <a:lnSpc>
                  <a:spcPts val="2649"/>
                </a:lnSpc>
                <a:spcBef>
                  <a:spcPct val="0"/>
                </a:spcBef>
                <a:buFont typeface="Arial"/>
                <a:buChar char="•"/>
              </a:pPr>
              <a:r>
                <a:rPr lang="en-US" sz="2038" b="1" spc="50">
                  <a:solidFill>
                    <a:srgbClr val="000000"/>
                  </a:solidFill>
                  <a:latin typeface="Tomorrow Bold"/>
                  <a:ea typeface="Tomorrow Bold"/>
                  <a:cs typeface="Tomorrow Bold"/>
                  <a:sym typeface="Tomorrow Bold"/>
                </a:rPr>
                <a:t>Access to routine maintenance services, such as oil changes and tire rotations.</a:t>
              </a:r>
            </a:p>
            <a:p>
              <a:pPr marL="440089" lvl="1" indent="-220045" algn="ctr">
                <a:lnSpc>
                  <a:spcPts val="2649"/>
                </a:lnSpc>
                <a:spcBef>
                  <a:spcPct val="0"/>
                </a:spcBef>
                <a:buFont typeface="Arial"/>
                <a:buChar char="•"/>
              </a:pPr>
              <a:r>
                <a:rPr lang="en-US" sz="2038" b="1" spc="50">
                  <a:solidFill>
                    <a:srgbClr val="000000"/>
                  </a:solidFill>
                  <a:latin typeface="Tomorrow Bold"/>
                  <a:ea typeface="Tomorrow Bold"/>
                  <a:cs typeface="Tomorrow Bold"/>
                  <a:sym typeface="Tomorrow Bold"/>
                </a:rPr>
                <a:t>Seasonal repairs tailored to specific needs (e.g., battery checks in winter).</a:t>
              </a:r>
            </a:p>
            <a:p>
              <a:pPr marL="440089" lvl="1" indent="-220045" algn="ctr">
                <a:lnSpc>
                  <a:spcPts val="2649"/>
                </a:lnSpc>
                <a:spcBef>
                  <a:spcPct val="0"/>
                </a:spcBef>
                <a:buFont typeface="Arial"/>
                <a:buChar char="•"/>
              </a:pPr>
              <a:r>
                <a:rPr lang="en-US" sz="2038" b="1" spc="50">
                  <a:solidFill>
                    <a:srgbClr val="000000"/>
                  </a:solidFill>
                  <a:latin typeface="Tomorrow Bold"/>
                  <a:ea typeface="Tomorrow Bold"/>
                  <a:cs typeface="Tomorrow Bold"/>
                  <a:sym typeface="Tomorrow Bold"/>
                </a:rPr>
                <a:t>Limited insurance coverage with a 5% reduction in deductibles.</a:t>
              </a:r>
            </a:p>
            <a:p>
              <a:pPr marL="440089" lvl="1" indent="-220045" algn="ctr">
                <a:lnSpc>
                  <a:spcPts val="2649"/>
                </a:lnSpc>
                <a:spcBef>
                  <a:spcPct val="0"/>
                </a:spcBef>
                <a:buFont typeface="Arial"/>
                <a:buChar char="•"/>
              </a:pPr>
              <a:r>
                <a:rPr lang="en-US" sz="2038" b="1" spc="50">
                  <a:solidFill>
                    <a:srgbClr val="000000"/>
                  </a:solidFill>
                  <a:latin typeface="Tomorrow Bold"/>
                  <a:ea typeface="Tomorrow Bold"/>
                  <a:cs typeface="Tomorrow Bold"/>
                  <a:sym typeface="Tomorrow Bold"/>
                </a:rPr>
                <a:t>Target Customer: Ideal for price-sensitive consumers who want a reliable and affordable option to maintain their BMW without the financial burden of full ownership.</a:t>
              </a:r>
            </a:p>
            <a:p>
              <a:pPr algn="ctr">
                <a:lnSpc>
                  <a:spcPts val="2649"/>
                </a:lnSpc>
                <a:spcBef>
                  <a:spcPct val="0"/>
                </a:spcBef>
              </a:pPr>
              <a:endParaRPr lang="en-US" sz="2038" b="1" spc="50">
                <a:solidFill>
                  <a:srgbClr val="000000"/>
                </a:solidFill>
                <a:latin typeface="Tomorrow Bold"/>
                <a:ea typeface="Tomorrow Bold"/>
                <a:cs typeface="Tomorrow Bold"/>
                <a:sym typeface="Tomorrow Bold"/>
              </a:endParaRPr>
            </a:p>
          </p:txBody>
        </p:sp>
        <p:sp>
          <p:nvSpPr>
            <p:cNvPr id="24" name="TextBox 24"/>
            <p:cNvSpPr txBox="1"/>
            <p:nvPr/>
          </p:nvSpPr>
          <p:spPr>
            <a:xfrm>
              <a:off x="8398858" y="695788"/>
              <a:ext cx="7248062" cy="6893658"/>
            </a:xfrm>
            <a:prstGeom prst="rect">
              <a:avLst/>
            </a:prstGeom>
          </p:spPr>
          <p:txBody>
            <a:bodyPr lIns="0" tIns="0" rIns="0" bIns="0" rtlCol="0" anchor="t">
              <a:spAutoFit/>
            </a:bodyPr>
            <a:lstStyle/>
            <a:p>
              <a:pPr algn="ctr">
                <a:lnSpc>
                  <a:spcPts val="2624"/>
                </a:lnSpc>
              </a:pPr>
              <a:r>
                <a:rPr lang="en-US" sz="2019" b="1" spc="50">
                  <a:solidFill>
                    <a:srgbClr val="FF1B50"/>
                  </a:solidFill>
                  <a:latin typeface="Tomorrow Bold"/>
                  <a:ea typeface="Tomorrow Bold"/>
                  <a:cs typeface="Tomorrow Bold"/>
                  <a:sym typeface="Tomorrow Bold"/>
                </a:rPr>
                <a:t>Standard Tier:</a:t>
              </a:r>
            </a:p>
            <a:p>
              <a:pPr algn="ctr">
                <a:lnSpc>
                  <a:spcPts val="2624"/>
                </a:lnSpc>
              </a:pPr>
              <a:r>
                <a:rPr lang="en-US" sz="2019" b="1" spc="50">
                  <a:solidFill>
                    <a:srgbClr val="FF1B50"/>
                  </a:solidFill>
                  <a:latin typeface="Tomorrow Bold"/>
                  <a:ea typeface="Tomorrow Bold"/>
                  <a:cs typeface="Tomorrow Bold"/>
                  <a:sym typeface="Tomorrow Bold"/>
                </a:rPr>
                <a:t>Monthly Fee: $500</a:t>
              </a:r>
            </a:p>
            <a:p>
              <a:pPr algn="ctr">
                <a:lnSpc>
                  <a:spcPts val="2624"/>
                </a:lnSpc>
              </a:pPr>
              <a:r>
                <a:rPr lang="en-US" sz="2019" b="1" spc="50">
                  <a:solidFill>
                    <a:srgbClr val="FF1B50"/>
                  </a:solidFill>
                  <a:latin typeface="Tomorrow Bold"/>
                  <a:ea typeface="Tomorrow Bold"/>
                  <a:cs typeface="Tomorrow Bold"/>
                  <a:sym typeface="Tomorrow Bold"/>
                </a:rPr>
                <a:t>Key Services:</a:t>
              </a:r>
            </a:p>
            <a:p>
              <a:pPr algn="ctr">
                <a:lnSpc>
                  <a:spcPts val="2624"/>
                </a:lnSpc>
                <a:spcBef>
                  <a:spcPct val="0"/>
                </a:spcBef>
              </a:pPr>
              <a:r>
                <a:rPr lang="en-US" sz="2019" b="1" spc="50">
                  <a:solidFill>
                    <a:srgbClr val="FF1B50"/>
                  </a:solidFill>
                  <a:latin typeface="Tomorrow Bold"/>
                  <a:ea typeface="Tomorrow Bold"/>
                  <a:cs typeface="Tomorrow Bold"/>
                  <a:sym typeface="Tomorrow Bold"/>
                </a:rPr>
                <a:t>All features from the Basic Tier.</a:t>
              </a:r>
            </a:p>
            <a:p>
              <a:pPr marL="435947" lvl="1" indent="-217974" algn="ctr">
                <a:lnSpc>
                  <a:spcPts val="2624"/>
                </a:lnSpc>
                <a:spcBef>
                  <a:spcPct val="0"/>
                </a:spcBef>
                <a:buFont typeface="Arial"/>
                <a:buChar char="•"/>
              </a:pPr>
              <a:r>
                <a:rPr lang="en-US" sz="2019" b="1" spc="50">
                  <a:solidFill>
                    <a:srgbClr val="FF1B50"/>
                  </a:solidFill>
                  <a:latin typeface="Tomorrow Bold"/>
                  <a:ea typeface="Tomorrow Bold"/>
                  <a:cs typeface="Tomorrow Bold"/>
                  <a:sym typeface="Tomorrow Bold"/>
                </a:rPr>
                <a:t>Enhanced insurance coverage and more extensive seasonal repairs.</a:t>
              </a:r>
            </a:p>
            <a:p>
              <a:pPr marL="435947" lvl="1" indent="-217974" algn="ctr">
                <a:lnSpc>
                  <a:spcPts val="2624"/>
                </a:lnSpc>
                <a:spcBef>
                  <a:spcPct val="0"/>
                </a:spcBef>
                <a:buFont typeface="Arial"/>
                <a:buChar char="•"/>
              </a:pPr>
              <a:r>
                <a:rPr lang="en-US" sz="2019" b="1" spc="50">
                  <a:solidFill>
                    <a:srgbClr val="FF1B50"/>
                  </a:solidFill>
                  <a:latin typeface="Tomorrow Bold"/>
                  <a:ea typeface="Tomorrow Bold"/>
                  <a:cs typeface="Tomorrow Bold"/>
                  <a:sym typeface="Tomorrow Bold"/>
                </a:rPr>
                <a:t>Additional benefits such as priority scheduling for maintenance appointments.</a:t>
              </a:r>
            </a:p>
            <a:p>
              <a:pPr marL="435947" lvl="1" indent="-217974" algn="ctr">
                <a:lnSpc>
                  <a:spcPts val="2624"/>
                </a:lnSpc>
                <a:spcBef>
                  <a:spcPct val="0"/>
                </a:spcBef>
                <a:buFont typeface="Arial"/>
                <a:buChar char="•"/>
              </a:pPr>
              <a:r>
                <a:rPr lang="en-US" sz="2019" b="1" spc="50">
                  <a:solidFill>
                    <a:srgbClr val="FF1B50"/>
                  </a:solidFill>
                  <a:latin typeface="Tomorrow Bold"/>
                  <a:ea typeface="Tomorrow Bold"/>
                  <a:cs typeface="Tomorrow Bold"/>
                  <a:sym typeface="Tomorrow Bold"/>
                </a:rPr>
                <a:t>Target Customer: Appeals to customers looking for a balance between affordability and comprehensive service, providing them with peace of mind during economic uncertainty.</a:t>
              </a:r>
            </a:p>
            <a:p>
              <a:pPr algn="ctr">
                <a:lnSpc>
                  <a:spcPts val="2624"/>
                </a:lnSpc>
                <a:spcBef>
                  <a:spcPct val="0"/>
                </a:spcBef>
              </a:pPr>
              <a:endParaRPr lang="en-US" sz="2019" b="1" spc="50">
                <a:solidFill>
                  <a:srgbClr val="FF1B50"/>
                </a:solidFill>
                <a:latin typeface="Tomorrow Bold"/>
                <a:ea typeface="Tomorrow Bold"/>
                <a:cs typeface="Tomorrow Bold"/>
                <a:sym typeface="Tomorrow Bold"/>
              </a:endParaRPr>
            </a:p>
          </p:txBody>
        </p:sp>
        <p:sp>
          <p:nvSpPr>
            <p:cNvPr id="25" name="TextBox 25"/>
            <p:cNvSpPr txBox="1"/>
            <p:nvPr/>
          </p:nvSpPr>
          <p:spPr>
            <a:xfrm>
              <a:off x="16285752" y="189800"/>
              <a:ext cx="6371269" cy="8124661"/>
            </a:xfrm>
            <a:prstGeom prst="rect">
              <a:avLst/>
            </a:prstGeom>
          </p:spPr>
          <p:txBody>
            <a:bodyPr lIns="0" tIns="0" rIns="0" bIns="0" rtlCol="0" anchor="t">
              <a:spAutoFit/>
            </a:bodyPr>
            <a:lstStyle/>
            <a:p>
              <a:pPr algn="ctr">
                <a:lnSpc>
                  <a:spcPts val="2450"/>
                </a:lnSpc>
              </a:pPr>
              <a:r>
                <a:rPr lang="en-US" sz="1884" b="1" spc="47">
                  <a:solidFill>
                    <a:srgbClr val="000000"/>
                  </a:solidFill>
                  <a:latin typeface="Tomorrow Bold"/>
                  <a:ea typeface="Tomorrow Bold"/>
                  <a:cs typeface="Tomorrow Bold"/>
                  <a:sym typeface="Tomorrow Bold"/>
                </a:rPr>
                <a:t>Premium Tier:</a:t>
              </a:r>
            </a:p>
            <a:p>
              <a:pPr algn="ctr">
                <a:lnSpc>
                  <a:spcPts val="2450"/>
                </a:lnSpc>
                <a:spcBef>
                  <a:spcPct val="0"/>
                </a:spcBef>
              </a:pPr>
              <a:r>
                <a:rPr lang="en-US" sz="1884" b="1" spc="47">
                  <a:solidFill>
                    <a:srgbClr val="000000"/>
                  </a:solidFill>
                  <a:latin typeface="Tomorrow Bold"/>
                  <a:ea typeface="Tomorrow Bold"/>
                  <a:cs typeface="Tomorrow Bold"/>
                  <a:sym typeface="Tomorrow Bold"/>
                </a:rPr>
                <a:t>Monthly Fee: $600</a:t>
              </a:r>
            </a:p>
            <a:p>
              <a:pPr algn="ctr">
                <a:lnSpc>
                  <a:spcPts val="2450"/>
                </a:lnSpc>
                <a:spcBef>
                  <a:spcPct val="0"/>
                </a:spcBef>
              </a:pPr>
              <a:r>
                <a:rPr lang="en-US" sz="1884" b="1" spc="47">
                  <a:solidFill>
                    <a:srgbClr val="000000"/>
                  </a:solidFill>
                  <a:latin typeface="Tomorrow Bold"/>
                  <a:ea typeface="Tomorrow Bold"/>
                  <a:cs typeface="Tomorrow Bold"/>
                  <a:sym typeface="Tomorrow Bold"/>
                </a:rPr>
                <a:t>Key Services:</a:t>
              </a:r>
            </a:p>
            <a:p>
              <a:pPr marL="406908" lvl="1" indent="-203454" algn="ctr">
                <a:lnSpc>
                  <a:spcPts val="2450"/>
                </a:lnSpc>
                <a:spcBef>
                  <a:spcPct val="0"/>
                </a:spcBef>
                <a:buFont typeface="Arial"/>
                <a:buChar char="•"/>
              </a:pPr>
              <a:r>
                <a:rPr lang="en-US" sz="1884" b="1" spc="47">
                  <a:solidFill>
                    <a:srgbClr val="000000"/>
                  </a:solidFill>
                  <a:latin typeface="Tomorrow Bold"/>
                  <a:ea typeface="Tomorrow Bold"/>
                  <a:cs typeface="Tomorrow Bold"/>
                  <a:sym typeface="Tomorrow Bold"/>
                </a:rPr>
                <a:t>Full maintenance services covering routine and seasonal repairs with no limits.</a:t>
              </a:r>
            </a:p>
            <a:p>
              <a:pPr marL="406908" lvl="1" indent="-203454" algn="ctr">
                <a:lnSpc>
                  <a:spcPts val="2450"/>
                </a:lnSpc>
                <a:spcBef>
                  <a:spcPct val="0"/>
                </a:spcBef>
                <a:buFont typeface="Arial"/>
                <a:buChar char="•"/>
              </a:pPr>
              <a:r>
                <a:rPr lang="en-US" sz="1884" b="1" spc="47">
                  <a:solidFill>
                    <a:srgbClr val="000000"/>
                  </a:solidFill>
                  <a:latin typeface="Tomorrow Bold"/>
                  <a:ea typeface="Tomorrow Bold"/>
                  <a:cs typeface="Tomorrow Bold"/>
                  <a:sym typeface="Tomorrow Bold"/>
                </a:rPr>
                <a:t>Lower deductibles and extended coverage, including accident forgiveness for the first minor accident.</a:t>
              </a:r>
            </a:p>
            <a:p>
              <a:pPr marL="406908" lvl="1" indent="-203454" algn="ctr">
                <a:lnSpc>
                  <a:spcPts val="2450"/>
                </a:lnSpc>
                <a:spcBef>
                  <a:spcPct val="0"/>
                </a:spcBef>
                <a:buFont typeface="Arial"/>
                <a:buChar char="•"/>
              </a:pPr>
              <a:r>
                <a:rPr lang="en-US" sz="1884" b="1" spc="47">
                  <a:solidFill>
                    <a:srgbClr val="000000"/>
                  </a:solidFill>
                  <a:latin typeface="Tomorrow Bold"/>
                  <a:ea typeface="Tomorrow Bold"/>
                  <a:cs typeface="Tomorrow Bold"/>
                  <a:sym typeface="Tomorrow Bold"/>
                </a:rPr>
                <a:t>Priority services, ensuring quick access to maintenance and repairs.</a:t>
              </a:r>
            </a:p>
            <a:p>
              <a:pPr marL="406908" lvl="1" indent="-203454" algn="ctr">
                <a:lnSpc>
                  <a:spcPts val="2450"/>
                </a:lnSpc>
                <a:spcBef>
                  <a:spcPct val="0"/>
                </a:spcBef>
                <a:buFont typeface="Arial"/>
                <a:buChar char="•"/>
              </a:pPr>
              <a:r>
                <a:rPr lang="en-US" sz="1884" b="1" spc="47">
                  <a:solidFill>
                    <a:srgbClr val="000000"/>
                  </a:solidFill>
                  <a:latin typeface="Tomorrow Bold"/>
                  <a:ea typeface="Tomorrow Bold"/>
                  <a:cs typeface="Tomorrow Bold"/>
                  <a:sym typeface="Tomorrow Bold"/>
                </a:rPr>
                <a:t>Target Customer: Designed for customers willing to invest in a premium experience who value comprehensive coverage and exceptional service, ensuring their BMW remains in top condition.</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1B50"/>
        </a:solidFill>
        <a:effectLst/>
      </p:bgPr>
    </p:bg>
    <p:spTree>
      <p:nvGrpSpPr>
        <p:cNvPr id="1" name=""/>
        <p:cNvGrpSpPr/>
        <p:nvPr/>
      </p:nvGrpSpPr>
      <p:grpSpPr>
        <a:xfrm>
          <a:off x="0" y="0"/>
          <a:ext cx="0" cy="0"/>
          <a:chOff x="0" y="0"/>
          <a:chExt cx="0" cy="0"/>
        </a:xfrm>
      </p:grpSpPr>
      <p:grpSp>
        <p:nvGrpSpPr>
          <p:cNvPr id="2" name="Group 2"/>
          <p:cNvGrpSpPr/>
          <p:nvPr/>
        </p:nvGrpSpPr>
        <p:grpSpPr>
          <a:xfrm>
            <a:off x="-429898" y="-136313"/>
            <a:ext cx="9561997" cy="10441965"/>
            <a:chOff x="0" y="0"/>
            <a:chExt cx="2469689" cy="2975925"/>
          </a:xfrm>
        </p:grpSpPr>
        <p:sp>
          <p:nvSpPr>
            <p:cNvPr id="3" name="Freeform 3"/>
            <p:cNvSpPr/>
            <p:nvPr/>
          </p:nvSpPr>
          <p:spPr>
            <a:xfrm>
              <a:off x="0" y="0"/>
              <a:ext cx="2469689" cy="2975925"/>
            </a:xfrm>
            <a:custGeom>
              <a:avLst/>
              <a:gdLst/>
              <a:ahLst/>
              <a:cxnLst/>
              <a:rect l="l" t="t" r="r" b="b"/>
              <a:pathLst>
                <a:path w="2469689" h="2975925">
                  <a:moveTo>
                    <a:pt x="0" y="0"/>
                  </a:moveTo>
                  <a:lnTo>
                    <a:pt x="2469689" y="0"/>
                  </a:lnTo>
                  <a:lnTo>
                    <a:pt x="2469689" y="2975925"/>
                  </a:lnTo>
                  <a:lnTo>
                    <a:pt x="0" y="2975925"/>
                  </a:lnTo>
                  <a:close/>
                </a:path>
              </a:pathLst>
            </a:custGeom>
            <a:solidFill>
              <a:srgbClr val="000000"/>
            </a:solidFill>
          </p:spPr>
        </p:sp>
        <p:sp>
          <p:nvSpPr>
            <p:cNvPr id="4" name="TextBox 4"/>
            <p:cNvSpPr txBox="1"/>
            <p:nvPr/>
          </p:nvSpPr>
          <p:spPr>
            <a:xfrm>
              <a:off x="0" y="-28575"/>
              <a:ext cx="2469689" cy="3004500"/>
            </a:xfrm>
            <a:prstGeom prst="rect">
              <a:avLst/>
            </a:prstGeom>
          </p:spPr>
          <p:txBody>
            <a:bodyPr lIns="50800" tIns="50800" rIns="50800" bIns="50800" rtlCol="0" anchor="ctr"/>
            <a:lstStyle/>
            <a:p>
              <a:pPr algn="ctr">
                <a:lnSpc>
                  <a:spcPts val="2859"/>
                </a:lnSpc>
              </a:pPr>
              <a:endParaRPr/>
            </a:p>
          </p:txBody>
        </p:sp>
      </p:grpSp>
      <p:sp>
        <p:nvSpPr>
          <p:cNvPr id="5" name="TextBox 5"/>
          <p:cNvSpPr txBox="1"/>
          <p:nvPr/>
        </p:nvSpPr>
        <p:spPr>
          <a:xfrm>
            <a:off x="314465" y="2080834"/>
            <a:ext cx="17780418" cy="7870824"/>
          </a:xfrm>
          <a:prstGeom prst="rect">
            <a:avLst/>
          </a:prstGeom>
        </p:spPr>
        <p:txBody>
          <a:bodyPr lIns="0" tIns="0" rIns="0" bIns="0" rtlCol="0" anchor="t">
            <a:spAutoFit/>
          </a:bodyPr>
          <a:lstStyle/>
          <a:p>
            <a:pPr algn="l">
              <a:lnSpc>
                <a:spcPts val="3500"/>
              </a:lnSpc>
            </a:pPr>
            <a:r>
              <a:rPr lang="en-US" sz="2500" b="1">
                <a:solidFill>
                  <a:srgbClr val="FF1B50"/>
                </a:solidFill>
                <a:latin typeface="Tomorrow Bold"/>
                <a:ea typeface="Tomorrow Bold"/>
                <a:cs typeface="Tomorrow Bold"/>
                <a:sym typeface="Tomorrow Bold"/>
              </a:rPr>
              <a:t>Profit Formula:</a:t>
            </a:r>
          </a:p>
          <a:p>
            <a:pPr algn="l">
              <a:lnSpc>
                <a:spcPts val="3500"/>
              </a:lnSpc>
            </a:pPr>
            <a:r>
              <a:rPr lang="en-US" sz="2500" b="1">
                <a:solidFill>
                  <a:srgbClr val="FFFFFF"/>
                </a:solidFill>
                <a:latin typeface="Tomorrow Bold"/>
                <a:ea typeface="Tomorrow Bold"/>
                <a:cs typeface="Tomorrow Bold"/>
                <a:sym typeface="Tomorrow Bold"/>
              </a:rPr>
              <a:t>π(P,A)=TR(P,Q(P,A))−TC(Q(P,A))−A</a:t>
            </a:r>
          </a:p>
          <a:p>
            <a:pPr algn="l">
              <a:lnSpc>
                <a:spcPts val="3500"/>
              </a:lnSpc>
            </a:pPr>
            <a:r>
              <a:rPr lang="en-US" sz="2500" b="1">
                <a:solidFill>
                  <a:srgbClr val="FF1B50"/>
                </a:solidFill>
                <a:latin typeface="Tomorrow Bold"/>
                <a:ea typeface="Tomorrow Bold"/>
                <a:cs typeface="Tomorrow Bold"/>
                <a:sym typeface="Tomorrow Bold"/>
              </a:rPr>
              <a:t>Key Variables:</a:t>
            </a:r>
          </a:p>
          <a:p>
            <a:pPr marL="539756" lvl="1" indent="-269878" algn="l">
              <a:lnSpc>
                <a:spcPts val="3500"/>
              </a:lnSpc>
              <a:buFont typeface="Arial"/>
              <a:buChar char="•"/>
            </a:pPr>
            <a:r>
              <a:rPr lang="en-US" sz="2500" b="1">
                <a:solidFill>
                  <a:srgbClr val="FFFFFF"/>
                </a:solidFill>
                <a:latin typeface="Tomorrow Bold"/>
                <a:ea typeface="Tomorrow Bold"/>
                <a:cs typeface="Tomorrow Bold"/>
                <a:sym typeface="Tomorrow Bold"/>
              </a:rPr>
              <a:t>π(P,A)): Profit as a function of price and advertising</a:t>
            </a:r>
          </a:p>
          <a:p>
            <a:pPr marL="539756" lvl="1" indent="-269878" algn="l">
              <a:lnSpc>
                <a:spcPts val="3500"/>
              </a:lnSpc>
              <a:buFont typeface="Arial"/>
              <a:buChar char="•"/>
            </a:pPr>
            <a:r>
              <a:rPr lang="en-US" sz="2500" b="1">
                <a:solidFill>
                  <a:srgbClr val="FFFFFF"/>
                </a:solidFill>
                <a:latin typeface="Tomorrow Bold"/>
                <a:ea typeface="Tomorrow Bold"/>
                <a:cs typeface="Tomorrow Bold"/>
                <a:sym typeface="Tomorrow Bold"/>
              </a:rPr>
              <a:t>TR: Total Revenue = Price × Quantity Sold </a:t>
            </a:r>
          </a:p>
          <a:p>
            <a:pPr marL="539756" lvl="1" indent="-269878" algn="l">
              <a:lnSpc>
                <a:spcPts val="3500"/>
              </a:lnSpc>
              <a:buFont typeface="Arial"/>
              <a:buChar char="•"/>
            </a:pPr>
            <a:r>
              <a:rPr lang="en-US" sz="2500" b="1">
                <a:solidFill>
                  <a:srgbClr val="FFFFFF"/>
                </a:solidFill>
                <a:latin typeface="Tomorrow Bold"/>
                <a:ea typeface="Tomorrow Bold"/>
                <a:cs typeface="Tomorrow Bold"/>
                <a:sym typeface="Tomorrow Bold"/>
              </a:rPr>
              <a:t>TC): Total Costs based on Quantity of BMW series 3 being Sold</a:t>
            </a:r>
          </a:p>
          <a:p>
            <a:pPr marL="539756" lvl="1" indent="-269878" algn="l">
              <a:lnSpc>
                <a:spcPts val="3500"/>
              </a:lnSpc>
              <a:buFont typeface="Arial"/>
              <a:buChar char="•"/>
            </a:pPr>
            <a:r>
              <a:rPr lang="en-US" sz="2500" b="1">
                <a:solidFill>
                  <a:srgbClr val="FFFFFF"/>
                </a:solidFill>
                <a:latin typeface="Tomorrow Bold"/>
                <a:ea typeface="Tomorrow Bold"/>
                <a:cs typeface="Tomorrow Bold"/>
                <a:sym typeface="Tomorrow Bold"/>
              </a:rPr>
              <a:t>A: Advertising  expenditure for BMW series 3</a:t>
            </a:r>
          </a:p>
          <a:p>
            <a:pPr algn="l">
              <a:lnSpc>
                <a:spcPts val="3500"/>
              </a:lnSpc>
            </a:pPr>
            <a:r>
              <a:rPr lang="en-US" sz="2500" b="1">
                <a:solidFill>
                  <a:srgbClr val="FF1B50"/>
                </a:solidFill>
                <a:latin typeface="Tomorrow Bold"/>
                <a:ea typeface="Tomorrow Bold"/>
                <a:cs typeface="Tomorrow Bold"/>
                <a:sym typeface="Tomorrow Bold"/>
              </a:rPr>
              <a:t>Variables:</a:t>
            </a:r>
          </a:p>
          <a:p>
            <a:pPr marL="539756" lvl="1" indent="-269878" algn="l">
              <a:lnSpc>
                <a:spcPts val="3500"/>
              </a:lnSpc>
              <a:buFont typeface="Arial"/>
              <a:buChar char="•"/>
            </a:pPr>
            <a:r>
              <a:rPr lang="en-US" sz="2500" b="1">
                <a:solidFill>
                  <a:srgbClr val="FFFFFF"/>
                </a:solidFill>
                <a:latin typeface="Tomorrow Bold"/>
                <a:ea typeface="Tomorrow Bold"/>
                <a:cs typeface="Tomorrow Bold"/>
                <a:sym typeface="Tomorrow Bold"/>
              </a:rPr>
              <a:t>P: Subscription Prices:</a:t>
            </a:r>
          </a:p>
          <a:p>
            <a:pPr algn="l">
              <a:lnSpc>
                <a:spcPts val="3500"/>
              </a:lnSpc>
            </a:pPr>
            <a:r>
              <a:rPr lang="en-US" sz="2500" b="1">
                <a:solidFill>
                  <a:srgbClr val="FFFFFF"/>
                </a:solidFill>
                <a:latin typeface="Tomorrow Bold"/>
                <a:ea typeface="Tomorrow Bold"/>
                <a:cs typeface="Tomorrow Bold"/>
                <a:sym typeface="Tomorrow Bold"/>
              </a:rPr>
              <a:t>           Basic: $400</a:t>
            </a:r>
          </a:p>
          <a:p>
            <a:pPr algn="l">
              <a:lnSpc>
                <a:spcPts val="3500"/>
              </a:lnSpc>
            </a:pPr>
            <a:r>
              <a:rPr lang="en-US" sz="2500" b="1">
                <a:solidFill>
                  <a:srgbClr val="FFFFFF"/>
                </a:solidFill>
                <a:latin typeface="Tomorrow Bold"/>
                <a:ea typeface="Tomorrow Bold"/>
                <a:cs typeface="Tomorrow Bold"/>
                <a:sym typeface="Tomorrow Bold"/>
              </a:rPr>
              <a:t>           Standard: $500</a:t>
            </a:r>
          </a:p>
          <a:p>
            <a:pPr algn="l">
              <a:lnSpc>
                <a:spcPts val="3500"/>
              </a:lnSpc>
            </a:pPr>
            <a:r>
              <a:rPr lang="en-US" sz="2500" b="1">
                <a:solidFill>
                  <a:srgbClr val="FFFFFF"/>
                </a:solidFill>
                <a:latin typeface="Tomorrow Bold"/>
                <a:ea typeface="Tomorrow Bold"/>
                <a:cs typeface="Tomorrow Bold"/>
                <a:sym typeface="Tomorrow Bold"/>
              </a:rPr>
              <a:t>           Premium: $600</a:t>
            </a:r>
          </a:p>
          <a:p>
            <a:pPr marL="539756" lvl="1" indent="-269878" algn="l">
              <a:lnSpc>
                <a:spcPts val="3500"/>
              </a:lnSpc>
              <a:buFont typeface="Arial"/>
              <a:buChar char="•"/>
            </a:pPr>
            <a:r>
              <a:rPr lang="en-US" sz="2500" b="1">
                <a:solidFill>
                  <a:srgbClr val="FFFFFF"/>
                </a:solidFill>
                <a:latin typeface="Tomorrow Bold"/>
                <a:ea typeface="Tomorrow Bold"/>
                <a:cs typeface="Tomorrow Bold"/>
                <a:sym typeface="Tomorrow Bold"/>
              </a:rPr>
              <a:t>A: Total advertising spend</a:t>
            </a:r>
          </a:p>
          <a:p>
            <a:pPr marL="539756" lvl="1" indent="-269878" algn="l">
              <a:lnSpc>
                <a:spcPts val="3500"/>
              </a:lnSpc>
              <a:buFont typeface="Arial"/>
              <a:buChar char="•"/>
            </a:pPr>
            <a:r>
              <a:rPr lang="en-US" sz="2500" b="1">
                <a:solidFill>
                  <a:srgbClr val="FFFFFF"/>
                </a:solidFill>
                <a:latin typeface="Tomorrow Bold"/>
                <a:ea typeface="Tomorrow Bold"/>
                <a:cs typeface="Tomorrow Bold"/>
                <a:sym typeface="Tomorrow Bold"/>
              </a:rPr>
              <a:t>Q(P,A): Quantity of subscriptions sold</a:t>
            </a:r>
          </a:p>
          <a:p>
            <a:pPr algn="l">
              <a:lnSpc>
                <a:spcPts val="3500"/>
              </a:lnSpc>
            </a:pPr>
            <a:r>
              <a:rPr lang="en-US" sz="2500" b="1">
                <a:solidFill>
                  <a:srgbClr val="FF1B50"/>
                </a:solidFill>
                <a:latin typeface="Tomorrow Bold"/>
                <a:ea typeface="Tomorrow Bold"/>
                <a:cs typeface="Tomorrow Bold"/>
                <a:sym typeface="Tomorrow Bold"/>
              </a:rPr>
              <a:t>Relationships:</a:t>
            </a:r>
          </a:p>
          <a:p>
            <a:pPr marL="539756" lvl="1" indent="-269878" algn="l">
              <a:lnSpc>
                <a:spcPts val="3500"/>
              </a:lnSpc>
              <a:buFont typeface="Arial"/>
              <a:buChar char="•"/>
            </a:pPr>
            <a:r>
              <a:rPr lang="en-US" sz="2500" b="1">
                <a:solidFill>
                  <a:srgbClr val="FFFFFF"/>
                </a:solidFill>
                <a:latin typeface="Tomorrow Bold"/>
                <a:ea typeface="Tomorrow Bold"/>
                <a:cs typeface="Tomorrow Bold"/>
                <a:sym typeface="Tomorrow Bold"/>
              </a:rPr>
              <a:t>Higher price (P) → Lower demand Q(P,A)</a:t>
            </a:r>
          </a:p>
          <a:p>
            <a:pPr marL="539756" lvl="1" indent="-269878" algn="l">
              <a:lnSpc>
                <a:spcPts val="3500"/>
              </a:lnSpc>
              <a:buFont typeface="Arial"/>
              <a:buChar char="•"/>
            </a:pPr>
            <a:r>
              <a:rPr lang="en-US" sz="2500" b="1">
                <a:solidFill>
                  <a:srgbClr val="FFFFFF"/>
                </a:solidFill>
                <a:latin typeface="Tomorrow Bold"/>
                <a:ea typeface="Tomorrow Bold"/>
                <a:cs typeface="Tomorrow Bold"/>
                <a:sym typeface="Tomorrow Bold"/>
              </a:rPr>
              <a:t>More advertising → Higher demand, but increases costs</a:t>
            </a:r>
          </a:p>
          <a:p>
            <a:pPr algn="l">
              <a:lnSpc>
                <a:spcPts val="3500"/>
              </a:lnSpc>
            </a:pPr>
            <a:endParaRPr lang="en-US" sz="2500" b="1">
              <a:solidFill>
                <a:srgbClr val="FFFFFF"/>
              </a:solidFill>
              <a:latin typeface="Tomorrow Bold"/>
              <a:ea typeface="Tomorrow Bold"/>
              <a:cs typeface="Tomorrow Bold"/>
              <a:sym typeface="Tomorrow Bold"/>
            </a:endParaRPr>
          </a:p>
        </p:txBody>
      </p:sp>
      <p:sp>
        <p:nvSpPr>
          <p:cNvPr id="6" name="TextBox 6"/>
          <p:cNvSpPr txBox="1"/>
          <p:nvPr/>
        </p:nvSpPr>
        <p:spPr>
          <a:xfrm>
            <a:off x="314465" y="101490"/>
            <a:ext cx="7888375" cy="1666877"/>
          </a:xfrm>
          <a:prstGeom prst="rect">
            <a:avLst/>
          </a:prstGeom>
        </p:spPr>
        <p:txBody>
          <a:bodyPr lIns="0" tIns="0" rIns="0" bIns="0" rtlCol="0" anchor="t">
            <a:spAutoFit/>
          </a:bodyPr>
          <a:lstStyle/>
          <a:p>
            <a:pPr algn="l">
              <a:lnSpc>
                <a:spcPts val="6749"/>
              </a:lnSpc>
            </a:pPr>
            <a:r>
              <a:rPr lang="en-US" sz="4499">
                <a:solidFill>
                  <a:srgbClr val="FFFFFF"/>
                </a:solidFill>
                <a:latin typeface="Tomorrow"/>
                <a:ea typeface="Tomorrow"/>
                <a:cs typeface="Tomorrow"/>
                <a:sym typeface="Tomorrow"/>
              </a:rPr>
              <a:t>Profit Function and Key Variables We Will Use</a:t>
            </a:r>
          </a:p>
        </p:txBody>
      </p:sp>
      <p:pic>
        <p:nvPicPr>
          <p:cNvPr id="7" name="Picture 7"/>
          <p:cNvPicPr>
            <a:picLocks noChangeAspect="1"/>
          </p:cNvPicPr>
          <p:nvPr/>
        </p:nvPicPr>
        <p:blipFill>
          <a:blip r:embed="rId2"/>
          <a:stretch>
            <a:fillRect/>
          </a:stretch>
        </p:blipFill>
        <p:spPr>
          <a:xfrm>
            <a:off x="10385071" y="972077"/>
            <a:ext cx="8506102" cy="9555480"/>
          </a:xfrm>
          <a:prstGeom prst="rect">
            <a:avLst/>
          </a:prstGeom>
        </p:spPr>
      </p:pic>
      <p:grpSp>
        <p:nvGrpSpPr>
          <p:cNvPr id="8" name="Group 8"/>
          <p:cNvGrpSpPr/>
          <p:nvPr/>
        </p:nvGrpSpPr>
        <p:grpSpPr>
          <a:xfrm>
            <a:off x="11181361" y="1259863"/>
            <a:ext cx="612589" cy="8868242"/>
            <a:chOff x="0" y="0"/>
            <a:chExt cx="161340" cy="2335669"/>
          </a:xfrm>
        </p:grpSpPr>
        <p:sp>
          <p:nvSpPr>
            <p:cNvPr id="9" name="Freeform 9"/>
            <p:cNvSpPr/>
            <p:nvPr/>
          </p:nvSpPr>
          <p:spPr>
            <a:xfrm>
              <a:off x="0" y="0"/>
              <a:ext cx="161340" cy="2335669"/>
            </a:xfrm>
            <a:custGeom>
              <a:avLst/>
              <a:gdLst/>
              <a:ahLst/>
              <a:cxnLst/>
              <a:rect l="l" t="t" r="r" b="b"/>
              <a:pathLst>
                <a:path w="161340" h="2335669">
                  <a:moveTo>
                    <a:pt x="0" y="0"/>
                  </a:moveTo>
                  <a:lnTo>
                    <a:pt x="161340" y="0"/>
                  </a:lnTo>
                  <a:lnTo>
                    <a:pt x="161340" y="2335669"/>
                  </a:lnTo>
                  <a:lnTo>
                    <a:pt x="0" y="2335669"/>
                  </a:lnTo>
                  <a:close/>
                </a:path>
              </a:pathLst>
            </a:custGeom>
            <a:solidFill>
              <a:srgbClr val="FF1B50"/>
            </a:solidFill>
          </p:spPr>
        </p:sp>
        <p:sp>
          <p:nvSpPr>
            <p:cNvPr id="10" name="TextBox 10"/>
            <p:cNvSpPr txBox="1"/>
            <p:nvPr/>
          </p:nvSpPr>
          <p:spPr>
            <a:xfrm>
              <a:off x="0" y="-28575"/>
              <a:ext cx="161340" cy="2364244"/>
            </a:xfrm>
            <a:prstGeom prst="rect">
              <a:avLst/>
            </a:prstGeom>
          </p:spPr>
          <p:txBody>
            <a:bodyPr lIns="50800" tIns="50800" rIns="50800" bIns="50800" rtlCol="0" anchor="ctr"/>
            <a:lstStyle/>
            <a:p>
              <a:pPr algn="ctr">
                <a:lnSpc>
                  <a:spcPts val="2859"/>
                </a:lnSpc>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2122602" y="-6268"/>
            <a:ext cx="6157016" cy="4713755"/>
          </a:xfrm>
          <a:custGeom>
            <a:avLst/>
            <a:gdLst/>
            <a:ahLst/>
            <a:cxnLst/>
            <a:rect l="l" t="t" r="r" b="b"/>
            <a:pathLst>
              <a:path w="12393089" h="9453843">
                <a:moveTo>
                  <a:pt x="0" y="0"/>
                </a:moveTo>
                <a:lnTo>
                  <a:pt x="12393089" y="0"/>
                </a:lnTo>
                <a:lnTo>
                  <a:pt x="12393089" y="9453843"/>
                </a:lnTo>
                <a:lnTo>
                  <a:pt x="0" y="94538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541855" y="1435264"/>
            <a:ext cx="17019149" cy="4083050"/>
          </a:xfrm>
          <a:prstGeom prst="rect">
            <a:avLst/>
          </a:prstGeom>
        </p:spPr>
        <p:txBody>
          <a:bodyPr lIns="0" tIns="0" rIns="0" bIns="0" rtlCol="0" anchor="t">
            <a:spAutoFit/>
          </a:bodyPr>
          <a:lstStyle/>
          <a:p>
            <a:pPr algn="ctr">
              <a:lnSpc>
                <a:spcPts val="3639"/>
              </a:lnSpc>
            </a:pPr>
            <a:r>
              <a:rPr lang="en-US" sz="2799" spc="69">
                <a:solidFill>
                  <a:srgbClr val="F2EFF0"/>
                </a:solidFill>
                <a:latin typeface="Tomorrow"/>
                <a:ea typeface="Tomorrow"/>
                <a:cs typeface="Tomorrow"/>
                <a:sym typeface="Tomorrow"/>
              </a:rPr>
              <a:t>BMW’S Competitors:</a:t>
            </a:r>
          </a:p>
          <a:p>
            <a:pPr marL="474979" lvl="1" indent="-237490" algn="ctr">
              <a:lnSpc>
                <a:spcPts val="2859"/>
              </a:lnSpc>
              <a:spcBef>
                <a:spcPct val="0"/>
              </a:spcBef>
              <a:buFont typeface="Arial"/>
              <a:buChar char="•"/>
            </a:pPr>
            <a:r>
              <a:rPr lang="en-US" sz="2199" b="1" spc="54">
                <a:solidFill>
                  <a:srgbClr val="FF1B50"/>
                </a:solidFill>
                <a:latin typeface="Tomorrow Bold"/>
                <a:ea typeface="Tomorrow Bold"/>
                <a:cs typeface="Tomorrow Bold"/>
                <a:sym typeface="Tomorrow Bold"/>
              </a:rPr>
              <a:t>Tesla:</a:t>
            </a:r>
            <a:r>
              <a:rPr lang="en-US" sz="2199" spc="54">
                <a:solidFill>
                  <a:srgbClr val="FF1B50"/>
                </a:solidFill>
                <a:latin typeface="Tomorrow"/>
                <a:ea typeface="Tomorrow"/>
                <a:cs typeface="Tomorrow"/>
                <a:sym typeface="Tomorrow"/>
              </a:rPr>
              <a:t> </a:t>
            </a:r>
            <a:r>
              <a:rPr lang="en-US" sz="2199" spc="54">
                <a:solidFill>
                  <a:srgbClr val="F2EFF0"/>
                </a:solidFill>
                <a:latin typeface="Tomorrow"/>
                <a:ea typeface="Tomorrow"/>
                <a:cs typeface="Tomorrow"/>
                <a:sym typeface="Tomorrow"/>
              </a:rPr>
              <a:t>Focuses on premium electric vehicles with subscription models offering features like full self-driving, over-the-air updates, and Tesla Insurance. Targets tech-savvy customers.</a:t>
            </a:r>
          </a:p>
          <a:p>
            <a:pPr algn="ctr">
              <a:lnSpc>
                <a:spcPts val="2859"/>
              </a:lnSpc>
              <a:spcBef>
                <a:spcPct val="0"/>
              </a:spcBef>
            </a:pPr>
            <a:endParaRPr lang="en-US" sz="2199" spc="54">
              <a:solidFill>
                <a:srgbClr val="F2EFF0"/>
              </a:solidFill>
              <a:latin typeface="Tomorrow"/>
              <a:ea typeface="Tomorrow"/>
              <a:cs typeface="Tomorrow"/>
              <a:sym typeface="Tomorrow"/>
            </a:endParaRPr>
          </a:p>
          <a:p>
            <a:pPr marL="474979" lvl="1" indent="-237490" algn="ctr">
              <a:lnSpc>
                <a:spcPts val="2859"/>
              </a:lnSpc>
              <a:spcBef>
                <a:spcPct val="0"/>
              </a:spcBef>
              <a:buFont typeface="Arial"/>
              <a:buChar char="•"/>
            </a:pPr>
            <a:r>
              <a:rPr lang="en-US" sz="2199" b="1" spc="54">
                <a:solidFill>
                  <a:srgbClr val="FF1B50"/>
                </a:solidFill>
                <a:latin typeface="Tomorrow Bold"/>
                <a:ea typeface="Tomorrow Bold"/>
                <a:cs typeface="Tomorrow Bold"/>
                <a:sym typeface="Tomorrow Bold"/>
              </a:rPr>
              <a:t>Audi:</a:t>
            </a:r>
            <a:r>
              <a:rPr lang="en-US" sz="2199" b="1" spc="54">
                <a:solidFill>
                  <a:srgbClr val="F2EFF0"/>
                </a:solidFill>
                <a:latin typeface="Tomorrow Bold"/>
                <a:ea typeface="Tomorrow Bold"/>
                <a:cs typeface="Tomorrow Bold"/>
                <a:sym typeface="Tomorrow Bold"/>
              </a:rPr>
              <a:t> </a:t>
            </a:r>
            <a:r>
              <a:rPr lang="en-US" sz="2199" spc="54">
                <a:solidFill>
                  <a:srgbClr val="F2EFF0"/>
                </a:solidFill>
                <a:latin typeface="Tomorrow"/>
                <a:ea typeface="Tomorrow"/>
                <a:cs typeface="Tomorrow"/>
                <a:sym typeface="Tomorrow"/>
              </a:rPr>
              <a:t>Audi Select offers luxury car switching options, allowing customers to change vehicles frequently. It targets luxury-focused consumers but comes at a high price.</a:t>
            </a:r>
          </a:p>
          <a:p>
            <a:pPr algn="ctr">
              <a:lnSpc>
                <a:spcPts val="2859"/>
              </a:lnSpc>
              <a:spcBef>
                <a:spcPct val="0"/>
              </a:spcBef>
            </a:pPr>
            <a:endParaRPr lang="en-US" sz="2199" spc="54">
              <a:solidFill>
                <a:srgbClr val="F2EFF0"/>
              </a:solidFill>
              <a:latin typeface="Tomorrow"/>
              <a:ea typeface="Tomorrow"/>
              <a:cs typeface="Tomorrow"/>
              <a:sym typeface="Tomorrow"/>
            </a:endParaRPr>
          </a:p>
          <a:p>
            <a:pPr marL="474979" lvl="1" indent="-237490" algn="ctr">
              <a:lnSpc>
                <a:spcPts val="2859"/>
              </a:lnSpc>
              <a:spcBef>
                <a:spcPct val="0"/>
              </a:spcBef>
              <a:buFont typeface="Arial"/>
              <a:buChar char="•"/>
            </a:pPr>
            <a:r>
              <a:rPr lang="en-US" sz="2199" b="1" spc="54">
                <a:solidFill>
                  <a:srgbClr val="FF1B50"/>
                </a:solidFill>
                <a:latin typeface="Tomorrow Bold"/>
                <a:ea typeface="Tomorrow Bold"/>
                <a:cs typeface="Tomorrow Bold"/>
                <a:sym typeface="Tomorrow Bold"/>
              </a:rPr>
              <a:t>Mercedes-Benz:</a:t>
            </a:r>
            <a:r>
              <a:rPr lang="en-US" sz="2199" spc="54">
                <a:solidFill>
                  <a:srgbClr val="FF1B50"/>
                </a:solidFill>
                <a:latin typeface="Tomorrow"/>
                <a:ea typeface="Tomorrow"/>
                <a:cs typeface="Tomorrow"/>
                <a:sym typeface="Tomorrow"/>
              </a:rPr>
              <a:t> </a:t>
            </a:r>
            <a:r>
              <a:rPr lang="en-US" sz="2199" spc="54">
                <a:solidFill>
                  <a:srgbClr val="F2EFF0"/>
                </a:solidFill>
                <a:latin typeface="Tomorrow"/>
                <a:ea typeface="Tomorrow"/>
                <a:cs typeface="Tomorrow"/>
                <a:sym typeface="Tomorrow"/>
              </a:rPr>
              <a:t>Offers the Mercedes-Benz Collection, allowing flexible vehicle switching and access to various luxury models. The subscription includes insurance and maintenance, but it is expensive and aimed at the wealthiest customers.</a:t>
            </a:r>
          </a:p>
          <a:p>
            <a:pPr algn="ctr">
              <a:lnSpc>
                <a:spcPts val="2859"/>
              </a:lnSpc>
              <a:spcBef>
                <a:spcPct val="0"/>
              </a:spcBef>
            </a:pPr>
            <a:endParaRPr lang="en-US" sz="2199" spc="54">
              <a:solidFill>
                <a:srgbClr val="F2EFF0"/>
              </a:solidFill>
              <a:latin typeface="Tomorrow"/>
              <a:ea typeface="Tomorrow"/>
              <a:cs typeface="Tomorrow"/>
              <a:sym typeface="Tomorrow"/>
            </a:endParaRPr>
          </a:p>
        </p:txBody>
      </p:sp>
      <p:grpSp>
        <p:nvGrpSpPr>
          <p:cNvPr id="4" name="Group 4"/>
          <p:cNvGrpSpPr/>
          <p:nvPr/>
        </p:nvGrpSpPr>
        <p:grpSpPr>
          <a:xfrm>
            <a:off x="937277" y="5342101"/>
            <a:ext cx="16228306" cy="352425"/>
            <a:chOff x="0" y="0"/>
            <a:chExt cx="21637741" cy="469900"/>
          </a:xfrm>
        </p:grpSpPr>
        <p:grpSp>
          <p:nvGrpSpPr>
            <p:cNvPr id="5" name="Group 5"/>
            <p:cNvGrpSpPr/>
            <p:nvPr/>
          </p:nvGrpSpPr>
          <p:grpSpPr>
            <a:xfrm>
              <a:off x="0" y="38100"/>
              <a:ext cx="431800" cy="431800"/>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1B50"/>
              </a:solidFill>
            </p:spPr>
          </p:sp>
        </p:grpSp>
        <p:grpSp>
          <p:nvGrpSpPr>
            <p:cNvPr id="7" name="Group 7"/>
            <p:cNvGrpSpPr/>
            <p:nvPr/>
          </p:nvGrpSpPr>
          <p:grpSpPr>
            <a:xfrm>
              <a:off x="5283231" y="25400"/>
              <a:ext cx="431800" cy="431800"/>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1B50"/>
              </a:solidFill>
            </p:spPr>
          </p:sp>
        </p:grpSp>
        <p:grpSp>
          <p:nvGrpSpPr>
            <p:cNvPr id="9" name="Group 9"/>
            <p:cNvGrpSpPr/>
            <p:nvPr/>
          </p:nvGrpSpPr>
          <p:grpSpPr>
            <a:xfrm>
              <a:off x="11433078" y="12700"/>
              <a:ext cx="431800" cy="4318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1B50"/>
              </a:solidFill>
            </p:spPr>
          </p:sp>
        </p:grpSp>
        <p:sp>
          <p:nvSpPr>
            <p:cNvPr id="11" name="AutoShape 11"/>
            <p:cNvSpPr/>
            <p:nvPr/>
          </p:nvSpPr>
          <p:spPr>
            <a:xfrm flipV="1">
              <a:off x="431800" y="241300"/>
              <a:ext cx="4851431" cy="12700"/>
            </a:xfrm>
            <a:prstGeom prst="line">
              <a:avLst/>
            </a:prstGeom>
            <a:ln w="63500" cap="flat">
              <a:solidFill>
                <a:srgbClr val="FF1B50"/>
              </a:solidFill>
              <a:prstDash val="solid"/>
              <a:headEnd type="none" w="sm" len="sm"/>
              <a:tailEnd type="none" w="sm" len="sm"/>
            </a:ln>
          </p:spPr>
        </p:sp>
        <p:sp>
          <p:nvSpPr>
            <p:cNvPr id="12" name="AutoShape 12"/>
            <p:cNvSpPr/>
            <p:nvPr/>
          </p:nvSpPr>
          <p:spPr>
            <a:xfrm flipV="1">
              <a:off x="5715031" y="228600"/>
              <a:ext cx="5718047" cy="12700"/>
            </a:xfrm>
            <a:prstGeom prst="line">
              <a:avLst/>
            </a:prstGeom>
            <a:ln w="63500" cap="flat">
              <a:solidFill>
                <a:srgbClr val="FF1B50"/>
              </a:solidFill>
              <a:prstDash val="solid"/>
              <a:headEnd type="none" w="sm" len="sm"/>
              <a:tailEnd type="none" w="sm" len="sm"/>
            </a:ln>
          </p:spPr>
        </p:sp>
        <p:sp>
          <p:nvSpPr>
            <p:cNvPr id="13" name="AutoShape 13"/>
            <p:cNvSpPr/>
            <p:nvPr/>
          </p:nvSpPr>
          <p:spPr>
            <a:xfrm flipV="1">
              <a:off x="11864878" y="215900"/>
              <a:ext cx="5067300" cy="12700"/>
            </a:xfrm>
            <a:prstGeom prst="line">
              <a:avLst/>
            </a:prstGeom>
            <a:ln w="63500" cap="flat">
              <a:solidFill>
                <a:srgbClr val="FF1B50"/>
              </a:solidFill>
              <a:prstDash val="solid"/>
              <a:headEnd type="none" w="sm" len="sm"/>
              <a:tailEnd type="none" w="sm" len="sm"/>
            </a:ln>
          </p:spPr>
        </p:sp>
        <p:grpSp>
          <p:nvGrpSpPr>
            <p:cNvPr id="14" name="Group 14"/>
            <p:cNvGrpSpPr/>
            <p:nvPr/>
          </p:nvGrpSpPr>
          <p:grpSpPr>
            <a:xfrm>
              <a:off x="16932178" y="0"/>
              <a:ext cx="431800" cy="431800"/>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1B50"/>
              </a:solidFill>
            </p:spPr>
          </p:sp>
        </p:grpSp>
        <p:sp>
          <p:nvSpPr>
            <p:cNvPr id="16" name="AutoShape 16"/>
            <p:cNvSpPr/>
            <p:nvPr/>
          </p:nvSpPr>
          <p:spPr>
            <a:xfrm>
              <a:off x="17363978" y="215900"/>
              <a:ext cx="4273744" cy="2578"/>
            </a:xfrm>
            <a:prstGeom prst="line">
              <a:avLst/>
            </a:prstGeom>
            <a:ln w="63500" cap="flat">
              <a:solidFill>
                <a:srgbClr val="FF1B50"/>
              </a:solidFill>
              <a:prstDash val="solid"/>
              <a:headEnd type="none" w="sm" len="sm"/>
              <a:tailEnd type="none" w="sm" len="sm"/>
            </a:ln>
          </p:spPr>
        </p:sp>
      </p:grpSp>
      <p:sp>
        <p:nvSpPr>
          <p:cNvPr id="17" name="TextBox 17"/>
          <p:cNvSpPr txBox="1"/>
          <p:nvPr/>
        </p:nvSpPr>
        <p:spPr>
          <a:xfrm>
            <a:off x="726996" y="303529"/>
            <a:ext cx="16834009" cy="786766"/>
          </a:xfrm>
          <a:prstGeom prst="rect">
            <a:avLst/>
          </a:prstGeom>
        </p:spPr>
        <p:txBody>
          <a:bodyPr lIns="0" tIns="0" rIns="0" bIns="0" rtlCol="0" anchor="t">
            <a:spAutoFit/>
          </a:bodyPr>
          <a:lstStyle/>
          <a:p>
            <a:pPr algn="ctr">
              <a:lnSpc>
                <a:spcPts val="6239"/>
              </a:lnSpc>
              <a:spcBef>
                <a:spcPct val="0"/>
              </a:spcBef>
            </a:pPr>
            <a:r>
              <a:rPr lang="en-US" sz="4799" b="1" spc="119">
                <a:solidFill>
                  <a:srgbClr val="FF1B50"/>
                </a:solidFill>
                <a:latin typeface="Tomorrow Bold"/>
                <a:ea typeface="Tomorrow Bold"/>
                <a:cs typeface="Tomorrow Bold"/>
                <a:sym typeface="Tomorrow Bold"/>
              </a:rPr>
              <a:t>COMPETITOR ANALYISIS AND MARKET POSITIONIG</a:t>
            </a:r>
          </a:p>
        </p:txBody>
      </p:sp>
      <p:sp>
        <p:nvSpPr>
          <p:cNvPr id="18" name="TextBox 18"/>
          <p:cNvSpPr txBox="1"/>
          <p:nvPr/>
        </p:nvSpPr>
        <p:spPr>
          <a:xfrm>
            <a:off x="634425" y="5665951"/>
            <a:ext cx="16834009" cy="4684395"/>
          </a:xfrm>
          <a:prstGeom prst="rect">
            <a:avLst/>
          </a:prstGeom>
        </p:spPr>
        <p:txBody>
          <a:bodyPr lIns="0" tIns="0" rIns="0" bIns="0" rtlCol="0" anchor="t">
            <a:spAutoFit/>
          </a:bodyPr>
          <a:lstStyle/>
          <a:p>
            <a:pPr algn="ctr">
              <a:lnSpc>
                <a:spcPts val="3379"/>
              </a:lnSpc>
            </a:pPr>
            <a:r>
              <a:rPr lang="en-US" sz="2599" spc="64">
                <a:solidFill>
                  <a:srgbClr val="FFFFFF"/>
                </a:solidFill>
                <a:latin typeface="Tomorrow"/>
                <a:ea typeface="Tomorrow"/>
                <a:cs typeface="Tomorrow"/>
                <a:sym typeface="Tomorrow"/>
              </a:rPr>
              <a:t>BMW’s Competitive Edge:</a:t>
            </a:r>
          </a:p>
          <a:p>
            <a:pPr marL="561337" lvl="1" indent="-280669" algn="ctr">
              <a:lnSpc>
                <a:spcPts val="3379"/>
              </a:lnSpc>
              <a:spcBef>
                <a:spcPct val="0"/>
              </a:spcBef>
              <a:buFont typeface="Arial"/>
              <a:buChar char="•"/>
            </a:pPr>
            <a:r>
              <a:rPr lang="en-US" sz="2599" spc="64">
                <a:solidFill>
                  <a:srgbClr val="FFFFFF"/>
                </a:solidFill>
                <a:latin typeface="Tomorrow"/>
                <a:ea typeface="Tomorrow"/>
                <a:cs typeface="Tomorrow"/>
                <a:sym typeface="Tomorrow"/>
              </a:rPr>
              <a:t>Lower pricing: Basic Tier starts at $400/month.</a:t>
            </a:r>
          </a:p>
          <a:p>
            <a:pPr algn="ctr">
              <a:lnSpc>
                <a:spcPts val="3379"/>
              </a:lnSpc>
              <a:spcBef>
                <a:spcPct val="0"/>
              </a:spcBef>
            </a:pPr>
            <a:r>
              <a:rPr lang="en-US" sz="2599" spc="64">
                <a:solidFill>
                  <a:srgbClr val="FFFFFF"/>
                </a:solidFill>
                <a:latin typeface="Tomorrow"/>
                <a:ea typeface="Tomorrow"/>
                <a:cs typeface="Tomorrow"/>
                <a:sym typeface="Tomorrow"/>
              </a:rPr>
              <a:t>Bundled services: Maintenance, insurance, seasonal repairs.</a:t>
            </a:r>
          </a:p>
          <a:p>
            <a:pPr algn="ctr">
              <a:lnSpc>
                <a:spcPts val="3379"/>
              </a:lnSpc>
              <a:spcBef>
                <a:spcPct val="0"/>
              </a:spcBef>
            </a:pPr>
            <a:r>
              <a:rPr lang="en-US" sz="2599" spc="64">
                <a:solidFill>
                  <a:srgbClr val="FFFFFF"/>
                </a:solidFill>
                <a:latin typeface="Tomorrow"/>
                <a:ea typeface="Tomorrow"/>
                <a:cs typeface="Tomorrow"/>
                <a:sym typeface="Tomorrow"/>
              </a:rPr>
              <a:t>Flexibility: No-penalty early cancellation, unlike BMW’s competitors’ luxury subscriptions.</a:t>
            </a:r>
          </a:p>
          <a:p>
            <a:pPr marL="582927" lvl="1" indent="-291463" algn="ctr">
              <a:lnSpc>
                <a:spcPts val="3509"/>
              </a:lnSpc>
              <a:spcBef>
                <a:spcPct val="0"/>
              </a:spcBef>
              <a:buFont typeface="Arial"/>
              <a:buChar char="•"/>
            </a:pPr>
            <a:r>
              <a:rPr lang="en-US" sz="2699" spc="67">
                <a:solidFill>
                  <a:srgbClr val="FFFFFF"/>
                </a:solidFill>
                <a:latin typeface="Tomorrow"/>
                <a:ea typeface="Tomorrow"/>
                <a:cs typeface="Tomorrow"/>
                <a:sym typeface="Tomorrow"/>
              </a:rPr>
              <a:t>Impact on Pricing Strategy:</a:t>
            </a:r>
          </a:p>
          <a:p>
            <a:pPr algn="ctr">
              <a:lnSpc>
                <a:spcPts val="3379"/>
              </a:lnSpc>
              <a:spcBef>
                <a:spcPct val="0"/>
              </a:spcBef>
            </a:pPr>
            <a:r>
              <a:rPr lang="en-US" sz="2599" spc="64">
                <a:solidFill>
                  <a:srgbClr val="FFFFFF"/>
                </a:solidFill>
                <a:latin typeface="Tomorrow"/>
                <a:ea typeface="Tomorrow"/>
                <a:cs typeface="Tomorrow"/>
                <a:sym typeface="Tomorrow"/>
              </a:rPr>
              <a:t>BMW undercuts Tesla, Audi, and Mercedes with more affordable subscriptions and during recession it is logical and expected for people to go for BM3-DRIVE.</a:t>
            </a:r>
          </a:p>
          <a:p>
            <a:pPr marL="604516" lvl="1" indent="-302258" algn="ctr">
              <a:lnSpc>
                <a:spcPts val="3639"/>
              </a:lnSpc>
              <a:spcBef>
                <a:spcPct val="0"/>
              </a:spcBef>
              <a:buFont typeface="Arial"/>
              <a:buChar char="•"/>
            </a:pPr>
            <a:r>
              <a:rPr lang="en-US" sz="2799" spc="69">
                <a:solidFill>
                  <a:srgbClr val="FFFFFF"/>
                </a:solidFill>
                <a:latin typeface="Tomorrow"/>
                <a:ea typeface="Tomorrow"/>
                <a:cs typeface="Tomorrow"/>
                <a:sym typeface="Tomorrow"/>
              </a:rPr>
              <a:t>Market Penetration:</a:t>
            </a:r>
          </a:p>
          <a:p>
            <a:pPr algn="ctr">
              <a:lnSpc>
                <a:spcPts val="3379"/>
              </a:lnSpc>
              <a:spcBef>
                <a:spcPct val="0"/>
              </a:spcBef>
            </a:pPr>
            <a:r>
              <a:rPr lang="en-US" sz="2599" spc="64">
                <a:solidFill>
                  <a:srgbClr val="FFFFFF"/>
                </a:solidFill>
                <a:latin typeface="Tomorrow"/>
                <a:ea typeface="Tomorrow"/>
                <a:cs typeface="Tomorrow"/>
                <a:sym typeface="Tomorrow"/>
              </a:rPr>
              <a:t>Target price-sensitive consumers reconsidering expensive subscriptions.</a:t>
            </a:r>
          </a:p>
          <a:p>
            <a:pPr algn="ctr">
              <a:lnSpc>
                <a:spcPts val="3379"/>
              </a:lnSpc>
              <a:spcBef>
                <a:spcPct val="0"/>
              </a:spcBef>
            </a:pPr>
            <a:r>
              <a:rPr lang="en-US" sz="2599" spc="64">
                <a:solidFill>
                  <a:srgbClr val="FFFFFF"/>
                </a:solidFill>
                <a:latin typeface="Tomorrow"/>
                <a:ea typeface="Tomorrow"/>
                <a:cs typeface="Tomorrow"/>
                <a:sym typeface="Tomorrow"/>
              </a:rPr>
              <a:t>Capture market share with competitive pricing and bundled services.</a:t>
            </a:r>
          </a:p>
          <a:p>
            <a:pPr algn="ctr">
              <a:lnSpc>
                <a:spcPts val="2859"/>
              </a:lnSpc>
              <a:spcBef>
                <a:spcPct val="0"/>
              </a:spcBef>
            </a:pPr>
            <a:endParaRPr lang="en-US" sz="2599" spc="64">
              <a:solidFill>
                <a:srgbClr val="FFFFFF"/>
              </a:solidFill>
              <a:latin typeface="Tomorrow"/>
              <a:ea typeface="Tomorrow"/>
              <a:cs typeface="Tomorrow"/>
              <a:sym typeface="Tomorro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91664"/>
            <a:ext cx="16230600" cy="1266825"/>
          </a:xfrm>
          <a:prstGeom prst="rect">
            <a:avLst/>
          </a:prstGeom>
        </p:spPr>
        <p:txBody>
          <a:bodyPr lIns="0" tIns="0" rIns="0" bIns="0" rtlCol="0" anchor="t">
            <a:spAutoFit/>
          </a:bodyPr>
          <a:lstStyle/>
          <a:p>
            <a:pPr algn="l">
              <a:lnSpc>
                <a:spcPts val="9959"/>
              </a:lnSpc>
            </a:pPr>
            <a:r>
              <a:rPr lang="en-US" sz="8299" spc="-207">
                <a:solidFill>
                  <a:srgbClr val="000000"/>
                </a:solidFill>
                <a:latin typeface="Sifonn"/>
                <a:ea typeface="Sifonn"/>
                <a:cs typeface="Sifonn"/>
                <a:sym typeface="Sifonn"/>
              </a:rPr>
              <a:t>ADVERTISING STRATEGY </a:t>
            </a:r>
          </a:p>
        </p:txBody>
      </p:sp>
      <p:grpSp>
        <p:nvGrpSpPr>
          <p:cNvPr id="3" name="Group 3"/>
          <p:cNvGrpSpPr/>
          <p:nvPr/>
        </p:nvGrpSpPr>
        <p:grpSpPr>
          <a:xfrm>
            <a:off x="1424" y="5141309"/>
            <a:ext cx="18285153" cy="5326828"/>
            <a:chOff x="0" y="0"/>
            <a:chExt cx="5046047" cy="1535761"/>
          </a:xfrm>
        </p:grpSpPr>
        <p:sp>
          <p:nvSpPr>
            <p:cNvPr id="4" name="Freeform 4"/>
            <p:cNvSpPr/>
            <p:nvPr/>
          </p:nvSpPr>
          <p:spPr>
            <a:xfrm>
              <a:off x="0" y="0"/>
              <a:ext cx="5046047" cy="1535761"/>
            </a:xfrm>
            <a:custGeom>
              <a:avLst/>
              <a:gdLst/>
              <a:ahLst/>
              <a:cxnLst/>
              <a:rect l="l" t="t" r="r" b="b"/>
              <a:pathLst>
                <a:path w="5046047" h="1535761">
                  <a:moveTo>
                    <a:pt x="0" y="0"/>
                  </a:moveTo>
                  <a:lnTo>
                    <a:pt x="5046047" y="0"/>
                  </a:lnTo>
                  <a:lnTo>
                    <a:pt x="5046047" y="1535761"/>
                  </a:lnTo>
                  <a:lnTo>
                    <a:pt x="0" y="1535761"/>
                  </a:lnTo>
                  <a:close/>
                </a:path>
              </a:pathLst>
            </a:custGeom>
            <a:solidFill>
              <a:srgbClr val="FF1B50"/>
            </a:solidFill>
          </p:spPr>
        </p:sp>
        <p:sp>
          <p:nvSpPr>
            <p:cNvPr id="5" name="TextBox 5"/>
            <p:cNvSpPr txBox="1"/>
            <p:nvPr/>
          </p:nvSpPr>
          <p:spPr>
            <a:xfrm>
              <a:off x="0" y="-28575"/>
              <a:ext cx="5046047" cy="1564336"/>
            </a:xfrm>
            <a:prstGeom prst="rect">
              <a:avLst/>
            </a:prstGeom>
          </p:spPr>
          <p:txBody>
            <a:bodyPr lIns="50800" tIns="50800" rIns="50800" bIns="50800" rtlCol="0" anchor="ctr"/>
            <a:lstStyle/>
            <a:p>
              <a:pPr algn="ctr">
                <a:lnSpc>
                  <a:spcPts val="2859"/>
                </a:lnSpc>
              </a:pPr>
              <a:endParaRPr/>
            </a:p>
          </p:txBody>
        </p:sp>
      </p:grpSp>
      <p:sp>
        <p:nvSpPr>
          <p:cNvPr id="6" name="TextBox 6"/>
          <p:cNvSpPr txBox="1"/>
          <p:nvPr/>
        </p:nvSpPr>
        <p:spPr>
          <a:xfrm>
            <a:off x="405169" y="1429914"/>
            <a:ext cx="5432618" cy="3982085"/>
          </a:xfrm>
          <a:prstGeom prst="rect">
            <a:avLst/>
          </a:prstGeom>
        </p:spPr>
        <p:txBody>
          <a:bodyPr lIns="0" tIns="0" rIns="0" bIns="0" rtlCol="0" anchor="t">
            <a:spAutoFit/>
          </a:bodyPr>
          <a:lstStyle/>
          <a:p>
            <a:pPr algn="ctr">
              <a:lnSpc>
                <a:spcPts val="2859"/>
              </a:lnSpc>
            </a:pPr>
            <a:r>
              <a:rPr lang="en-US" sz="2199" b="1" i="1" spc="54">
                <a:solidFill>
                  <a:srgbClr val="FF1B50"/>
                </a:solidFill>
                <a:latin typeface="Tomorrow Bold Italics"/>
                <a:ea typeface="Tomorrow Bold Italics"/>
                <a:cs typeface="Tomorrow Bold Italics"/>
                <a:sym typeface="Tomorrow Bold Italics"/>
              </a:rPr>
              <a:t>Digital-First Approach:</a:t>
            </a:r>
          </a:p>
          <a:p>
            <a:pPr marL="474979" lvl="1" indent="-237490" algn="ctr">
              <a:lnSpc>
                <a:spcPts val="2859"/>
              </a:lnSpc>
              <a:buFont typeface="Arial"/>
              <a:buChar char="•"/>
            </a:pPr>
            <a:r>
              <a:rPr lang="en-US" sz="2199" spc="54">
                <a:solidFill>
                  <a:srgbClr val="000000"/>
                </a:solidFill>
                <a:latin typeface="Tomorrow"/>
                <a:ea typeface="Tomorrow"/>
                <a:cs typeface="Tomorrow"/>
                <a:sym typeface="Tomorrow"/>
              </a:rPr>
              <a:t>We will prioritize digital advertising over traditional methods as often digital advertising is more cost-effective with flexible budgeting options.</a:t>
            </a:r>
          </a:p>
          <a:p>
            <a:pPr algn="ctr">
              <a:lnSpc>
                <a:spcPts val="2859"/>
              </a:lnSpc>
            </a:pPr>
            <a:endParaRPr lang="en-US" sz="2199" spc="54">
              <a:solidFill>
                <a:srgbClr val="000000"/>
              </a:solidFill>
              <a:latin typeface="Tomorrow"/>
              <a:ea typeface="Tomorrow"/>
              <a:cs typeface="Tomorrow"/>
              <a:sym typeface="Tomorrow"/>
            </a:endParaRPr>
          </a:p>
          <a:p>
            <a:pPr marL="474979" lvl="1" indent="-237490" algn="ctr">
              <a:lnSpc>
                <a:spcPts val="2859"/>
              </a:lnSpc>
              <a:buFont typeface="Arial"/>
              <a:buChar char="•"/>
            </a:pPr>
            <a:r>
              <a:rPr lang="en-US" sz="2199" spc="54">
                <a:solidFill>
                  <a:srgbClr val="000000"/>
                </a:solidFill>
                <a:latin typeface="Tomorrow"/>
                <a:ea typeface="Tomorrow"/>
                <a:cs typeface="Tomorrow"/>
                <a:sym typeface="Tomorrow"/>
              </a:rPr>
              <a:t>Utilize platforms like Google Ads, Facebook, and Instagram to reach a wider audience.</a:t>
            </a:r>
          </a:p>
          <a:p>
            <a:pPr algn="ctr">
              <a:lnSpc>
                <a:spcPts val="2859"/>
              </a:lnSpc>
              <a:spcBef>
                <a:spcPct val="0"/>
              </a:spcBef>
            </a:pPr>
            <a:endParaRPr lang="en-US" sz="2199" spc="54">
              <a:solidFill>
                <a:srgbClr val="000000"/>
              </a:solidFill>
              <a:latin typeface="Tomorrow"/>
              <a:ea typeface="Tomorrow"/>
              <a:cs typeface="Tomorrow"/>
              <a:sym typeface="Tomorrow"/>
            </a:endParaRPr>
          </a:p>
        </p:txBody>
      </p:sp>
      <p:sp>
        <p:nvSpPr>
          <p:cNvPr id="7" name="TextBox 7"/>
          <p:cNvSpPr txBox="1"/>
          <p:nvPr/>
        </p:nvSpPr>
        <p:spPr>
          <a:xfrm>
            <a:off x="0" y="5401450"/>
            <a:ext cx="18288000" cy="4371200"/>
          </a:xfrm>
          <a:prstGeom prst="rect">
            <a:avLst/>
          </a:prstGeom>
        </p:spPr>
        <p:txBody>
          <a:bodyPr lIns="0" tIns="0" rIns="0" bIns="0" rtlCol="0" anchor="t">
            <a:spAutoFit/>
          </a:bodyPr>
          <a:lstStyle/>
          <a:p>
            <a:pPr algn="ctr">
              <a:lnSpc>
                <a:spcPts val="2029"/>
              </a:lnSpc>
            </a:pPr>
            <a:r>
              <a:rPr lang="en-US" sz="1560" b="1" spc="39">
                <a:solidFill>
                  <a:srgbClr val="000000"/>
                </a:solidFill>
                <a:latin typeface="Tomorrow Bold"/>
                <a:ea typeface="Tomorrow Bold"/>
                <a:cs typeface="Tomorrow Bold"/>
                <a:sym typeface="Tomorrow Bold"/>
              </a:rPr>
              <a:t>The total annual sales of the BMW Series 3 during recession  is  40,000 units. This figure is based on industry statistics and represents the overall potential market for subscriptions, because of our price change of extra upfront fee of $400 and the fact that during price elasticity of demand generally becomes more elastic we changed the total units number to 20,000. </a:t>
            </a:r>
          </a:p>
          <a:p>
            <a:pPr algn="ctr">
              <a:lnSpc>
                <a:spcPts val="2029"/>
              </a:lnSpc>
            </a:pPr>
            <a:endParaRPr lang="en-US" sz="1560" b="1" spc="39">
              <a:solidFill>
                <a:srgbClr val="000000"/>
              </a:solidFill>
              <a:latin typeface="Tomorrow Bold"/>
              <a:ea typeface="Tomorrow Bold"/>
              <a:cs typeface="Tomorrow Bold"/>
              <a:sym typeface="Tomorrow Bold"/>
            </a:endParaRPr>
          </a:p>
          <a:p>
            <a:pPr algn="ctr">
              <a:lnSpc>
                <a:spcPts val="2029"/>
              </a:lnSpc>
            </a:pPr>
            <a:r>
              <a:rPr lang="en-US" sz="1560" b="1" spc="39">
                <a:solidFill>
                  <a:srgbClr val="000000"/>
                </a:solidFill>
                <a:latin typeface="Tomorrow Bold"/>
                <a:ea typeface="Tomorrow Bold"/>
                <a:cs typeface="Tomorrow Bold"/>
                <a:sym typeface="Tomorrow Bold"/>
              </a:rPr>
              <a:t>Penetration Rates:</a:t>
            </a:r>
          </a:p>
          <a:p>
            <a:pPr algn="ctr">
              <a:lnSpc>
                <a:spcPts val="2029"/>
              </a:lnSpc>
            </a:pPr>
            <a:r>
              <a:rPr lang="en-US" sz="1560" b="1" spc="39">
                <a:solidFill>
                  <a:srgbClr val="000000"/>
                </a:solidFill>
                <a:latin typeface="Tomorrow Bold"/>
                <a:ea typeface="Tomorrow Bold"/>
                <a:cs typeface="Tomorrow Bold"/>
                <a:sym typeface="Tomorrow Bold"/>
              </a:rPr>
              <a:t>1% Penetration:</a:t>
            </a:r>
          </a:p>
          <a:p>
            <a:pPr algn="ctr">
              <a:lnSpc>
                <a:spcPts val="2029"/>
              </a:lnSpc>
              <a:spcBef>
                <a:spcPct val="0"/>
              </a:spcBef>
            </a:pPr>
            <a:r>
              <a:rPr lang="en-US" sz="1560" b="1" spc="39">
                <a:solidFill>
                  <a:srgbClr val="000000"/>
                </a:solidFill>
                <a:latin typeface="Tomorrow Bold"/>
                <a:ea typeface="Tomorrow Bold"/>
                <a:cs typeface="Tomorrow Bold"/>
                <a:sym typeface="Tomorrow Bold"/>
              </a:rPr>
              <a:t>Calculation: Total Subscriptions=20,000×0.01=200</a:t>
            </a:r>
          </a:p>
          <a:p>
            <a:pPr algn="ctr">
              <a:lnSpc>
                <a:spcPts val="2029"/>
              </a:lnSpc>
              <a:spcBef>
                <a:spcPct val="0"/>
              </a:spcBef>
            </a:pPr>
            <a:r>
              <a:rPr lang="en-US" sz="1560" b="1" spc="39">
                <a:solidFill>
                  <a:srgbClr val="000000"/>
                </a:solidFill>
                <a:latin typeface="Tomorrow Bold"/>
                <a:ea typeface="Tomorrow Bold"/>
                <a:cs typeface="Tomorrow Bold"/>
                <a:sym typeface="Tomorrow Bold"/>
              </a:rPr>
              <a:t>2% Penetration:</a:t>
            </a:r>
          </a:p>
          <a:p>
            <a:pPr algn="ctr">
              <a:lnSpc>
                <a:spcPts val="2029"/>
              </a:lnSpc>
              <a:spcBef>
                <a:spcPct val="0"/>
              </a:spcBef>
            </a:pPr>
            <a:r>
              <a:rPr lang="en-US" sz="1560" b="1" spc="39">
                <a:solidFill>
                  <a:srgbClr val="000000"/>
                </a:solidFill>
                <a:latin typeface="Tomorrow Bold"/>
                <a:ea typeface="Tomorrow Bold"/>
                <a:cs typeface="Tomorrow Bold"/>
                <a:sym typeface="Tomorrow Bold"/>
              </a:rPr>
              <a:t>Calculation: Total Subscriptions=20,000×0.02=400</a:t>
            </a:r>
          </a:p>
          <a:p>
            <a:pPr algn="ctr">
              <a:lnSpc>
                <a:spcPts val="2029"/>
              </a:lnSpc>
              <a:spcBef>
                <a:spcPct val="0"/>
              </a:spcBef>
            </a:pPr>
            <a:r>
              <a:rPr lang="en-US" sz="1560" b="1" spc="39">
                <a:solidFill>
                  <a:srgbClr val="000000"/>
                </a:solidFill>
                <a:latin typeface="Tomorrow Bold"/>
                <a:ea typeface="Tomorrow Bold"/>
                <a:cs typeface="Tomorrow Bold"/>
                <a:sym typeface="Tomorrow Bold"/>
              </a:rPr>
              <a:t>3% Penetration:</a:t>
            </a:r>
          </a:p>
          <a:p>
            <a:pPr marL="1011058" lvl="3" indent="-252765" algn="ctr">
              <a:lnSpc>
                <a:spcPts val="2029"/>
              </a:lnSpc>
              <a:spcBef>
                <a:spcPct val="0"/>
              </a:spcBef>
              <a:buFont typeface="Arial"/>
              <a:buChar char="￭"/>
            </a:pPr>
            <a:r>
              <a:rPr lang="en-US" sz="1560" b="1" spc="39">
                <a:solidFill>
                  <a:srgbClr val="000000"/>
                </a:solidFill>
                <a:latin typeface="Tomorrow Bold"/>
                <a:ea typeface="Tomorrow Bold"/>
                <a:cs typeface="Tomorrow Bold"/>
                <a:sym typeface="Tomorrow Bold"/>
              </a:rPr>
              <a:t>Calculation: Total Subscriptions=20,000×0.03=600</a:t>
            </a:r>
          </a:p>
          <a:p>
            <a:pPr algn="ctr">
              <a:lnSpc>
                <a:spcPts val="2029"/>
              </a:lnSpc>
              <a:spcBef>
                <a:spcPct val="0"/>
              </a:spcBef>
            </a:pPr>
            <a:endParaRPr lang="en-US" sz="1560" b="1" spc="39">
              <a:solidFill>
                <a:srgbClr val="000000"/>
              </a:solidFill>
              <a:latin typeface="Tomorrow Bold"/>
              <a:ea typeface="Tomorrow Bold"/>
              <a:cs typeface="Tomorrow Bold"/>
              <a:sym typeface="Tomorrow Bold"/>
            </a:endParaRPr>
          </a:p>
          <a:p>
            <a:pPr algn="ctr">
              <a:lnSpc>
                <a:spcPts val="2029"/>
              </a:lnSpc>
              <a:spcBef>
                <a:spcPct val="0"/>
              </a:spcBef>
            </a:pPr>
            <a:endParaRPr lang="en-US" sz="1560" b="1" spc="39">
              <a:solidFill>
                <a:srgbClr val="000000"/>
              </a:solidFill>
              <a:latin typeface="Tomorrow Bold"/>
              <a:ea typeface="Tomorrow Bold"/>
              <a:cs typeface="Tomorrow Bold"/>
              <a:sym typeface="Tomorrow Bold"/>
            </a:endParaRPr>
          </a:p>
          <a:p>
            <a:pPr algn="ctr">
              <a:lnSpc>
                <a:spcPts val="2029"/>
              </a:lnSpc>
              <a:spcBef>
                <a:spcPct val="0"/>
              </a:spcBef>
            </a:pPr>
            <a:r>
              <a:rPr lang="en-US" sz="1560" b="1" spc="39">
                <a:solidFill>
                  <a:srgbClr val="000000"/>
                </a:solidFill>
                <a:latin typeface="Tomorrow Bold"/>
                <a:ea typeface="Tomorrow Bold"/>
                <a:cs typeface="Tomorrow Bold"/>
                <a:sym typeface="Tomorrow Bold"/>
              </a:rPr>
              <a:t>Why Did We Choose These Penetration Rates?</a:t>
            </a:r>
          </a:p>
          <a:p>
            <a:pPr algn="ctr">
              <a:lnSpc>
                <a:spcPts val="2029"/>
              </a:lnSpc>
              <a:spcBef>
                <a:spcPct val="0"/>
              </a:spcBef>
            </a:pPr>
            <a:r>
              <a:rPr lang="en-US" sz="1560" b="1" spc="39">
                <a:solidFill>
                  <a:srgbClr val="000000"/>
                </a:solidFill>
                <a:latin typeface="Tomorrow Bold"/>
                <a:ea typeface="Tomorrow Bold"/>
                <a:cs typeface="Tomorrow Bold"/>
                <a:sym typeface="Tomorrow Bold"/>
              </a:rPr>
              <a:t>1% Penetration is a conservative estimate for a new subscription model, reflecting initial interest and the need to build brand awareness.</a:t>
            </a:r>
          </a:p>
          <a:p>
            <a:pPr algn="ctr">
              <a:lnSpc>
                <a:spcPts val="2029"/>
              </a:lnSpc>
              <a:spcBef>
                <a:spcPct val="0"/>
              </a:spcBef>
            </a:pPr>
            <a:r>
              <a:rPr lang="en-US" sz="1560" b="1" spc="39">
                <a:solidFill>
                  <a:srgbClr val="000000"/>
                </a:solidFill>
                <a:latin typeface="Tomorrow Bold"/>
                <a:ea typeface="Tomorrow Bold"/>
                <a:cs typeface="Tomorrow Bold"/>
                <a:sym typeface="Tomorrow Bold"/>
              </a:rPr>
              <a:t>2% and 3% Penetration rates are more optimistic targets that can be achieved through effective advertising and positioning against competitors, as discussed earlier.</a:t>
            </a:r>
          </a:p>
          <a:p>
            <a:pPr algn="ctr">
              <a:lnSpc>
                <a:spcPts val="2029"/>
              </a:lnSpc>
              <a:spcBef>
                <a:spcPct val="0"/>
              </a:spcBef>
            </a:pPr>
            <a:endParaRPr lang="en-US" sz="1560" b="1" spc="39">
              <a:solidFill>
                <a:srgbClr val="000000"/>
              </a:solidFill>
              <a:latin typeface="Tomorrow Bold"/>
              <a:ea typeface="Tomorrow Bold"/>
              <a:cs typeface="Tomorrow Bold"/>
              <a:sym typeface="Tomorrow Bold"/>
            </a:endParaRPr>
          </a:p>
        </p:txBody>
      </p:sp>
      <p:sp>
        <p:nvSpPr>
          <p:cNvPr id="8" name="TextBox 8"/>
          <p:cNvSpPr txBox="1"/>
          <p:nvPr/>
        </p:nvSpPr>
        <p:spPr>
          <a:xfrm>
            <a:off x="6084922" y="1201314"/>
            <a:ext cx="7225499" cy="4439285"/>
          </a:xfrm>
          <a:prstGeom prst="rect">
            <a:avLst/>
          </a:prstGeom>
        </p:spPr>
        <p:txBody>
          <a:bodyPr lIns="0" tIns="0" rIns="0" bIns="0" rtlCol="0" anchor="t">
            <a:spAutoFit/>
          </a:bodyPr>
          <a:lstStyle/>
          <a:p>
            <a:pPr algn="ctr">
              <a:lnSpc>
                <a:spcPts val="2859"/>
              </a:lnSpc>
            </a:pPr>
            <a:r>
              <a:rPr lang="en-US" sz="2199" b="1" i="1" spc="54">
                <a:solidFill>
                  <a:srgbClr val="FF1B50"/>
                </a:solidFill>
                <a:latin typeface="Tomorrow Bold Italics"/>
                <a:ea typeface="Tomorrow Bold Italics"/>
                <a:cs typeface="Tomorrow Bold Italics"/>
                <a:sym typeface="Tomorrow Bold Italics"/>
              </a:rPr>
              <a:t>Email Campaigns:</a:t>
            </a:r>
          </a:p>
          <a:p>
            <a:pPr marL="410211" lvl="1" indent="-205106" algn="ctr">
              <a:lnSpc>
                <a:spcPts val="2470"/>
              </a:lnSpc>
              <a:buFont typeface="Arial"/>
              <a:buChar char="•"/>
            </a:pPr>
            <a:r>
              <a:rPr lang="en-US" sz="1900" spc="47">
                <a:solidFill>
                  <a:srgbClr val="000000"/>
                </a:solidFill>
                <a:latin typeface="Tomorrow"/>
                <a:ea typeface="Tomorrow"/>
                <a:cs typeface="Tomorrow"/>
                <a:sym typeface="Tomorrow"/>
              </a:rPr>
              <a:t>We will use customer data and analytics to segment the audience based on purchasing patterns, location, and engagement metrics and then launch targeted email campaigns that highlight affordability and flexibility to resonate with customers’ current financial concerns.</a:t>
            </a:r>
          </a:p>
          <a:p>
            <a:pPr algn="ctr">
              <a:lnSpc>
                <a:spcPts val="2470"/>
              </a:lnSpc>
            </a:pPr>
            <a:endParaRPr lang="en-US" sz="1900" spc="47">
              <a:solidFill>
                <a:srgbClr val="000000"/>
              </a:solidFill>
              <a:latin typeface="Tomorrow"/>
              <a:ea typeface="Tomorrow"/>
              <a:cs typeface="Tomorrow"/>
              <a:sym typeface="Tomorrow"/>
            </a:endParaRPr>
          </a:p>
          <a:p>
            <a:pPr marL="410211" lvl="1" indent="-205106" algn="ctr">
              <a:lnSpc>
                <a:spcPts val="2470"/>
              </a:lnSpc>
              <a:buFont typeface="Arial"/>
              <a:buChar char="•"/>
            </a:pPr>
            <a:r>
              <a:rPr lang="en-US" sz="1900" spc="47">
                <a:solidFill>
                  <a:srgbClr val="000000"/>
                </a:solidFill>
                <a:latin typeface="Tomorrow"/>
                <a:ea typeface="Tomorrow"/>
                <a:cs typeface="Tomorrow"/>
                <a:sym typeface="Tomorrow"/>
              </a:rPr>
              <a:t>Leverage surveys or feedback forms to understand customer sentiment and identify those who express concerns about financial stability (do the ,,mom’’ test so we will get honest and important information about true customer demand.</a:t>
            </a:r>
          </a:p>
          <a:p>
            <a:pPr algn="ctr">
              <a:lnSpc>
                <a:spcPts val="2859"/>
              </a:lnSpc>
            </a:pPr>
            <a:endParaRPr lang="en-US" sz="1900" spc="47">
              <a:solidFill>
                <a:srgbClr val="000000"/>
              </a:solidFill>
              <a:latin typeface="Tomorrow"/>
              <a:ea typeface="Tomorrow"/>
              <a:cs typeface="Tomorrow"/>
              <a:sym typeface="Tomorrow"/>
            </a:endParaRPr>
          </a:p>
          <a:p>
            <a:pPr algn="ctr">
              <a:lnSpc>
                <a:spcPts val="2859"/>
              </a:lnSpc>
              <a:spcBef>
                <a:spcPct val="0"/>
              </a:spcBef>
            </a:pPr>
            <a:endParaRPr lang="en-US" sz="1900" spc="47">
              <a:solidFill>
                <a:srgbClr val="000000"/>
              </a:solidFill>
              <a:latin typeface="Tomorrow"/>
              <a:ea typeface="Tomorrow"/>
              <a:cs typeface="Tomorrow"/>
              <a:sym typeface="Tomorrow"/>
            </a:endParaRPr>
          </a:p>
        </p:txBody>
      </p:sp>
      <p:sp>
        <p:nvSpPr>
          <p:cNvPr id="9" name="TextBox 9"/>
          <p:cNvSpPr txBox="1"/>
          <p:nvPr/>
        </p:nvSpPr>
        <p:spPr>
          <a:xfrm>
            <a:off x="13310421" y="1201314"/>
            <a:ext cx="4977579" cy="3620135"/>
          </a:xfrm>
          <a:prstGeom prst="rect">
            <a:avLst/>
          </a:prstGeom>
        </p:spPr>
        <p:txBody>
          <a:bodyPr lIns="0" tIns="0" rIns="0" bIns="0" rtlCol="0" anchor="t">
            <a:spAutoFit/>
          </a:bodyPr>
          <a:lstStyle/>
          <a:p>
            <a:pPr algn="ctr">
              <a:lnSpc>
                <a:spcPts val="2859"/>
              </a:lnSpc>
            </a:pPr>
            <a:r>
              <a:rPr lang="en-US" sz="2199" b="1" i="1" spc="54">
                <a:solidFill>
                  <a:srgbClr val="FF1B50"/>
                </a:solidFill>
                <a:latin typeface="Tomorrow Bold Italics"/>
                <a:ea typeface="Tomorrow Bold Italics"/>
                <a:cs typeface="Tomorrow Bold Italics"/>
                <a:sym typeface="Tomorrow Bold Italics"/>
              </a:rPr>
              <a:t>Physical Advertising:</a:t>
            </a:r>
          </a:p>
          <a:p>
            <a:pPr marL="474979" lvl="1" indent="-237490" algn="ctr">
              <a:lnSpc>
                <a:spcPts val="2859"/>
              </a:lnSpc>
              <a:buFont typeface="Arial"/>
              <a:buChar char="•"/>
            </a:pPr>
            <a:r>
              <a:rPr lang="en-US" sz="2199" spc="54">
                <a:solidFill>
                  <a:srgbClr val="000000"/>
                </a:solidFill>
                <a:latin typeface="Tomorrow"/>
                <a:ea typeface="Tomorrow"/>
                <a:cs typeface="Tomorrow"/>
                <a:sym typeface="Tomorrow"/>
              </a:rPr>
              <a:t>promotional stands or car displays in relevant stores where potential recession-hit customers shop, integrating advertisements that emphasize the value of the BMW Series 3 subscription during economic downturns.</a:t>
            </a:r>
          </a:p>
          <a:p>
            <a:pPr algn="ctr">
              <a:lnSpc>
                <a:spcPts val="2859"/>
              </a:lnSpc>
              <a:spcBef>
                <a:spcPct val="0"/>
              </a:spcBef>
            </a:pPr>
            <a:endParaRPr lang="en-US" sz="2199" spc="54">
              <a:solidFill>
                <a:srgbClr val="000000"/>
              </a:solidFill>
              <a:latin typeface="Tomorrow"/>
              <a:ea typeface="Tomorrow"/>
              <a:cs typeface="Tomorrow"/>
              <a:sym typeface="Tomorro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1B50"/>
        </a:solidFill>
        <a:effectLst/>
      </p:bgPr>
    </p:bg>
    <p:spTree>
      <p:nvGrpSpPr>
        <p:cNvPr id="1" name=""/>
        <p:cNvGrpSpPr/>
        <p:nvPr/>
      </p:nvGrpSpPr>
      <p:grpSpPr>
        <a:xfrm>
          <a:off x="0" y="0"/>
          <a:ext cx="0" cy="0"/>
          <a:chOff x="0" y="0"/>
          <a:chExt cx="0" cy="0"/>
        </a:xfrm>
      </p:grpSpPr>
      <p:sp>
        <p:nvSpPr>
          <p:cNvPr id="2" name="TextBox 2"/>
          <p:cNvSpPr txBox="1"/>
          <p:nvPr/>
        </p:nvSpPr>
        <p:spPr>
          <a:xfrm>
            <a:off x="241532" y="102064"/>
            <a:ext cx="17804936" cy="2076450"/>
          </a:xfrm>
          <a:prstGeom prst="rect">
            <a:avLst/>
          </a:prstGeom>
        </p:spPr>
        <p:txBody>
          <a:bodyPr lIns="0" tIns="0" rIns="0" bIns="0" rtlCol="0" anchor="t">
            <a:spAutoFit/>
          </a:bodyPr>
          <a:lstStyle/>
          <a:p>
            <a:pPr algn="l">
              <a:lnSpc>
                <a:spcPts val="8159"/>
              </a:lnSpc>
            </a:pPr>
            <a:r>
              <a:rPr lang="en-US" sz="6799" spc="-169">
                <a:solidFill>
                  <a:srgbClr val="000000"/>
                </a:solidFill>
                <a:latin typeface="Sifonn"/>
                <a:ea typeface="Sifonn"/>
                <a:cs typeface="Sifonn"/>
                <a:sym typeface="Sifonn"/>
              </a:rPr>
              <a:t>REVENUE CALCULATION BY PENETRATION RATE</a:t>
            </a:r>
          </a:p>
        </p:txBody>
      </p:sp>
      <p:sp>
        <p:nvSpPr>
          <p:cNvPr id="3" name="TextBox 3"/>
          <p:cNvSpPr txBox="1"/>
          <p:nvPr/>
        </p:nvSpPr>
        <p:spPr>
          <a:xfrm>
            <a:off x="31813" y="2393140"/>
            <a:ext cx="5787964" cy="7624502"/>
          </a:xfrm>
          <a:prstGeom prst="rect">
            <a:avLst/>
          </a:prstGeom>
        </p:spPr>
        <p:txBody>
          <a:bodyPr lIns="0" tIns="0" rIns="0" bIns="0" rtlCol="0" anchor="t">
            <a:spAutoFit/>
          </a:bodyPr>
          <a:lstStyle/>
          <a:p>
            <a:pPr algn="ctr">
              <a:lnSpc>
                <a:spcPts val="2464"/>
              </a:lnSpc>
            </a:pPr>
            <a:r>
              <a:rPr lang="en-US" sz="1895" b="1" i="1" spc="47">
                <a:solidFill>
                  <a:srgbClr val="000000"/>
                </a:solidFill>
                <a:latin typeface="Tomorrow Bold Italics"/>
                <a:ea typeface="Tomorrow Bold Italics"/>
                <a:cs typeface="Tomorrow Bold Italics"/>
                <a:sym typeface="Tomorrow Bold Italics"/>
              </a:rPr>
              <a:t>1% Penetration:</a:t>
            </a:r>
          </a:p>
          <a:p>
            <a:pPr algn="ctr">
              <a:lnSpc>
                <a:spcPts val="2464"/>
              </a:lnSpc>
            </a:pPr>
            <a:r>
              <a:rPr lang="en-US" sz="1895" spc="47">
                <a:solidFill>
                  <a:srgbClr val="000000"/>
                </a:solidFill>
                <a:latin typeface="Tomorrow"/>
                <a:ea typeface="Tomorrow"/>
                <a:cs typeface="Tomorrow"/>
                <a:sym typeface="Tomorrow"/>
              </a:rPr>
              <a:t>Total Buyers: 20,000 units</a:t>
            </a:r>
          </a:p>
          <a:p>
            <a:pPr algn="ctr">
              <a:lnSpc>
                <a:spcPts val="2464"/>
              </a:lnSpc>
            </a:pPr>
            <a:r>
              <a:rPr lang="en-US" sz="1895" spc="47">
                <a:solidFill>
                  <a:srgbClr val="000000"/>
                </a:solidFill>
                <a:latin typeface="Tomorrow"/>
                <a:ea typeface="Tomorrow"/>
                <a:cs typeface="Tomorrow"/>
                <a:sym typeface="Tomorrow"/>
              </a:rPr>
              <a:t>Total Subscribers:</a:t>
            </a:r>
          </a:p>
          <a:p>
            <a:pPr algn="ctr">
              <a:lnSpc>
                <a:spcPts val="2464"/>
              </a:lnSpc>
            </a:pPr>
            <a:r>
              <a:rPr lang="en-US" sz="1895" spc="47">
                <a:solidFill>
                  <a:srgbClr val="000000"/>
                </a:solidFill>
                <a:latin typeface="Tomorrow"/>
                <a:ea typeface="Tomorrow"/>
                <a:cs typeface="Tomorrow"/>
                <a:sym typeface="Tomorrow"/>
              </a:rPr>
              <a:t> 20,000×0.01=200</a:t>
            </a:r>
          </a:p>
          <a:p>
            <a:pPr marL="409241" lvl="1" indent="-204621" algn="ctr">
              <a:lnSpc>
                <a:spcPts val="2464"/>
              </a:lnSpc>
              <a:buFont typeface="Arial"/>
              <a:buChar char="•"/>
            </a:pPr>
            <a:r>
              <a:rPr lang="en-US" sz="1895" spc="47">
                <a:solidFill>
                  <a:srgbClr val="000000"/>
                </a:solidFill>
                <a:latin typeface="Tomorrow"/>
                <a:ea typeface="Tomorrow"/>
                <a:cs typeface="Tomorrow"/>
                <a:sym typeface="Tomorrow"/>
              </a:rPr>
              <a:t>Revenue from Car Sales:</a:t>
            </a:r>
          </a:p>
          <a:p>
            <a:pPr algn="ctr">
              <a:lnSpc>
                <a:spcPts val="2464"/>
              </a:lnSpc>
            </a:pPr>
            <a:r>
              <a:rPr lang="en-US" sz="1895" spc="47">
                <a:solidFill>
                  <a:srgbClr val="000000"/>
                </a:solidFill>
                <a:latin typeface="Tomorrow"/>
                <a:ea typeface="Tomorrow"/>
                <a:cs typeface="Tomorrow"/>
                <a:sym typeface="Tomorrow"/>
              </a:rPr>
              <a:t>20,000×55,000=1,100,000,000</a:t>
            </a:r>
          </a:p>
          <a:p>
            <a:pPr marL="409241" lvl="1" indent="-204621" algn="ctr">
              <a:lnSpc>
                <a:spcPts val="2464"/>
              </a:lnSpc>
              <a:spcBef>
                <a:spcPct val="0"/>
              </a:spcBef>
              <a:buFont typeface="Arial"/>
              <a:buChar char="•"/>
            </a:pPr>
            <a:r>
              <a:rPr lang="en-US" sz="1895" spc="47">
                <a:solidFill>
                  <a:srgbClr val="000000"/>
                </a:solidFill>
                <a:latin typeface="Tomorrow"/>
                <a:ea typeface="Tomorrow"/>
                <a:cs typeface="Tomorrow"/>
                <a:sym typeface="Tomorrow"/>
              </a:rPr>
              <a:t>Upfront Fee for All Buyers:</a:t>
            </a:r>
          </a:p>
          <a:p>
            <a:pPr algn="ctr">
              <a:lnSpc>
                <a:spcPts val="2464"/>
              </a:lnSpc>
              <a:spcBef>
                <a:spcPct val="0"/>
              </a:spcBef>
            </a:pPr>
            <a:r>
              <a:rPr lang="en-US" sz="1895" spc="47">
                <a:solidFill>
                  <a:srgbClr val="000000"/>
                </a:solidFill>
                <a:latin typeface="Tomorrow"/>
                <a:ea typeface="Tomorrow"/>
                <a:cs typeface="Tomorrow"/>
                <a:sym typeface="Tomorrow"/>
              </a:rPr>
              <a:t>20,000×400=8,000,000</a:t>
            </a:r>
          </a:p>
          <a:p>
            <a:pPr marL="409241" lvl="1" indent="-204621" algn="ctr">
              <a:lnSpc>
                <a:spcPts val="2464"/>
              </a:lnSpc>
              <a:spcBef>
                <a:spcPct val="0"/>
              </a:spcBef>
              <a:buFont typeface="Arial"/>
              <a:buChar char="•"/>
            </a:pPr>
            <a:r>
              <a:rPr lang="en-US" sz="1895" spc="47">
                <a:solidFill>
                  <a:srgbClr val="000000"/>
                </a:solidFill>
                <a:latin typeface="Tomorrow"/>
                <a:ea typeface="Tomorrow"/>
                <a:cs typeface="Tomorrow"/>
                <a:sym typeface="Tomorrow"/>
              </a:rPr>
              <a:t>Subscription Revenue:</a:t>
            </a:r>
          </a:p>
          <a:p>
            <a:pPr algn="ctr">
              <a:lnSpc>
                <a:spcPts val="2464"/>
              </a:lnSpc>
              <a:spcBef>
                <a:spcPct val="0"/>
              </a:spcBef>
            </a:pPr>
            <a:r>
              <a:rPr lang="en-US" sz="1895" spc="47">
                <a:solidFill>
                  <a:srgbClr val="000000"/>
                </a:solidFill>
                <a:latin typeface="Tomorrow"/>
                <a:ea typeface="Tomorrow"/>
                <a:cs typeface="Tomorrow"/>
                <a:sym typeface="Tomorrow"/>
              </a:rPr>
              <a:t>Basic Tier (40%): 200×0.4×400=32,000 (monthly)</a:t>
            </a:r>
          </a:p>
          <a:p>
            <a:pPr algn="ctr">
              <a:lnSpc>
                <a:spcPts val="2464"/>
              </a:lnSpc>
              <a:spcBef>
                <a:spcPct val="0"/>
              </a:spcBef>
            </a:pPr>
            <a:r>
              <a:rPr lang="en-US" sz="1895" spc="47">
                <a:solidFill>
                  <a:srgbClr val="000000"/>
                </a:solidFill>
                <a:latin typeface="Tomorrow"/>
                <a:ea typeface="Tomorrow"/>
                <a:cs typeface="Tomorrow"/>
                <a:sym typeface="Tomorrow"/>
              </a:rPr>
              <a:t>32,000×12=384,000 (annual)</a:t>
            </a:r>
          </a:p>
          <a:p>
            <a:pPr algn="ctr">
              <a:lnSpc>
                <a:spcPts val="2464"/>
              </a:lnSpc>
              <a:spcBef>
                <a:spcPct val="0"/>
              </a:spcBef>
            </a:pPr>
            <a:r>
              <a:rPr lang="en-US" sz="1895" spc="47">
                <a:solidFill>
                  <a:srgbClr val="000000"/>
                </a:solidFill>
                <a:latin typeface="Tomorrow"/>
                <a:ea typeface="Tomorrow"/>
                <a:cs typeface="Tomorrow"/>
                <a:sym typeface="Tomorrow"/>
              </a:rPr>
              <a:t> Standard Tier (35%): 200×0.35×600=42,000 (monthly)</a:t>
            </a:r>
          </a:p>
          <a:p>
            <a:pPr algn="ctr">
              <a:lnSpc>
                <a:spcPts val="2464"/>
              </a:lnSpc>
              <a:spcBef>
                <a:spcPct val="0"/>
              </a:spcBef>
            </a:pPr>
            <a:r>
              <a:rPr lang="en-US" sz="1895" spc="47">
                <a:solidFill>
                  <a:srgbClr val="000000"/>
                </a:solidFill>
                <a:latin typeface="Tomorrow"/>
                <a:ea typeface="Tomorrow"/>
                <a:cs typeface="Tomorrow"/>
                <a:sym typeface="Tomorrow"/>
              </a:rPr>
              <a:t>42,000×12=504,000 (annual)</a:t>
            </a:r>
          </a:p>
          <a:p>
            <a:pPr algn="ctr">
              <a:lnSpc>
                <a:spcPts val="2464"/>
              </a:lnSpc>
              <a:spcBef>
                <a:spcPct val="0"/>
              </a:spcBef>
            </a:pPr>
            <a:r>
              <a:rPr lang="en-US" sz="1895" spc="47">
                <a:solidFill>
                  <a:srgbClr val="000000"/>
                </a:solidFill>
                <a:latin typeface="Tomorrow"/>
                <a:ea typeface="Tomorrow"/>
                <a:cs typeface="Tomorrow"/>
                <a:sym typeface="Tomorrow"/>
              </a:rPr>
              <a:t>     Premium Tier (25%): 200×0.25×700=35,000 (monthly)</a:t>
            </a:r>
          </a:p>
          <a:p>
            <a:pPr algn="ctr">
              <a:lnSpc>
                <a:spcPts val="2464"/>
              </a:lnSpc>
              <a:spcBef>
                <a:spcPct val="0"/>
              </a:spcBef>
            </a:pPr>
            <a:r>
              <a:rPr lang="en-US" sz="1895" spc="47">
                <a:solidFill>
                  <a:srgbClr val="000000"/>
                </a:solidFill>
                <a:latin typeface="Tomorrow"/>
                <a:ea typeface="Tomorrow"/>
                <a:cs typeface="Tomorrow"/>
                <a:sym typeface="Tomorrow"/>
              </a:rPr>
              <a:t>35,000×12=420,000 (annual)</a:t>
            </a:r>
          </a:p>
          <a:p>
            <a:pPr marL="409241" lvl="1" indent="-204621" algn="ctr">
              <a:lnSpc>
                <a:spcPts val="2464"/>
              </a:lnSpc>
              <a:spcBef>
                <a:spcPct val="0"/>
              </a:spcBef>
              <a:buFont typeface="Arial"/>
              <a:buChar char="•"/>
            </a:pPr>
            <a:r>
              <a:rPr lang="en-US" sz="1895" spc="47">
                <a:solidFill>
                  <a:srgbClr val="000000"/>
                </a:solidFill>
                <a:latin typeface="Tomorrow"/>
                <a:ea typeface="Tomorrow"/>
                <a:cs typeface="Tomorrow"/>
                <a:sym typeface="Tomorrow"/>
              </a:rPr>
              <a:t>Total Subscription Revenue (1% Penetration):</a:t>
            </a:r>
          </a:p>
          <a:p>
            <a:pPr algn="ctr">
              <a:lnSpc>
                <a:spcPts val="2464"/>
              </a:lnSpc>
              <a:spcBef>
                <a:spcPct val="0"/>
              </a:spcBef>
            </a:pPr>
            <a:r>
              <a:rPr lang="en-US" sz="1895" spc="47">
                <a:solidFill>
                  <a:srgbClr val="000000"/>
                </a:solidFill>
                <a:latin typeface="Tomorrow"/>
                <a:ea typeface="Tomorrow"/>
                <a:cs typeface="Tomorrow"/>
                <a:sym typeface="Tomorrow"/>
              </a:rPr>
              <a:t>384,000+504,000+420,000=1,308,000</a:t>
            </a:r>
          </a:p>
          <a:p>
            <a:pPr algn="ctr">
              <a:lnSpc>
                <a:spcPts val="2464"/>
              </a:lnSpc>
              <a:spcBef>
                <a:spcPct val="0"/>
              </a:spcBef>
            </a:pPr>
            <a:r>
              <a:rPr lang="en-US" sz="1895" b="1" spc="47">
                <a:solidFill>
                  <a:srgbClr val="000000"/>
                </a:solidFill>
                <a:latin typeface="Tomorrow Bold"/>
                <a:ea typeface="Tomorrow Bold"/>
                <a:cs typeface="Tomorrow Bold"/>
                <a:sym typeface="Tomorrow Bold"/>
              </a:rPr>
              <a:t>Total Revenue for 1% Penetration:</a:t>
            </a:r>
          </a:p>
          <a:p>
            <a:pPr algn="ctr">
              <a:lnSpc>
                <a:spcPts val="2464"/>
              </a:lnSpc>
              <a:spcBef>
                <a:spcPct val="0"/>
              </a:spcBef>
            </a:pPr>
            <a:r>
              <a:rPr lang="en-US" sz="1895" b="1" spc="47">
                <a:solidFill>
                  <a:srgbClr val="000000"/>
                </a:solidFill>
                <a:latin typeface="Tomorrow Bold"/>
                <a:ea typeface="Tomorrow Bold"/>
                <a:cs typeface="Tomorrow Bold"/>
                <a:sym typeface="Tomorrow Bold"/>
              </a:rPr>
              <a:t>1,100,000,000+8,000,000+1,308,000=1,109,308,000</a:t>
            </a:r>
          </a:p>
          <a:p>
            <a:pPr algn="ctr">
              <a:lnSpc>
                <a:spcPts val="2464"/>
              </a:lnSpc>
              <a:spcBef>
                <a:spcPct val="0"/>
              </a:spcBef>
            </a:pPr>
            <a:endParaRPr lang="en-US" sz="1895" b="1" spc="47">
              <a:solidFill>
                <a:srgbClr val="000000"/>
              </a:solidFill>
              <a:latin typeface="Tomorrow Bold"/>
              <a:ea typeface="Tomorrow Bold"/>
              <a:cs typeface="Tomorrow Bold"/>
              <a:sym typeface="Tomorrow Bold"/>
            </a:endParaRPr>
          </a:p>
        </p:txBody>
      </p:sp>
      <p:sp>
        <p:nvSpPr>
          <p:cNvPr id="4" name="TextBox 4"/>
          <p:cNvSpPr txBox="1"/>
          <p:nvPr/>
        </p:nvSpPr>
        <p:spPr>
          <a:xfrm>
            <a:off x="5935241" y="2159464"/>
            <a:ext cx="6648446" cy="8283557"/>
          </a:xfrm>
          <a:prstGeom prst="rect">
            <a:avLst/>
          </a:prstGeom>
        </p:spPr>
        <p:txBody>
          <a:bodyPr lIns="0" tIns="0" rIns="0" bIns="0" rtlCol="0" anchor="t">
            <a:spAutoFit/>
          </a:bodyPr>
          <a:lstStyle/>
          <a:p>
            <a:pPr algn="ctr">
              <a:lnSpc>
                <a:spcPts val="2276"/>
              </a:lnSpc>
            </a:pPr>
            <a:r>
              <a:rPr lang="en-US" sz="1751" b="1" i="1" spc="43">
                <a:solidFill>
                  <a:srgbClr val="000000"/>
                </a:solidFill>
                <a:latin typeface="Tomorrow Bold Italics"/>
                <a:ea typeface="Tomorrow Bold Italics"/>
                <a:cs typeface="Tomorrow Bold Italics"/>
                <a:sym typeface="Tomorrow Bold Italics"/>
              </a:rPr>
              <a:t>2% Penetration:</a:t>
            </a:r>
          </a:p>
          <a:p>
            <a:pPr marL="378135" lvl="1" indent="-189068" algn="ctr">
              <a:lnSpc>
                <a:spcPts val="2276"/>
              </a:lnSpc>
              <a:buFont typeface="Arial"/>
              <a:buChar char="•"/>
            </a:pPr>
            <a:r>
              <a:rPr lang="en-US" sz="1751" spc="43">
                <a:solidFill>
                  <a:srgbClr val="000000"/>
                </a:solidFill>
                <a:latin typeface="Tomorrow"/>
                <a:ea typeface="Tomorrow"/>
                <a:cs typeface="Tomorrow"/>
                <a:sym typeface="Tomorrow"/>
              </a:rPr>
              <a:t>Total Subscribers: 20,000×0.02=400</a:t>
            </a:r>
          </a:p>
          <a:p>
            <a:pPr marL="378135" lvl="1" indent="-189068" algn="ctr">
              <a:lnSpc>
                <a:spcPts val="2276"/>
              </a:lnSpc>
              <a:buFont typeface="Arial"/>
              <a:buChar char="•"/>
            </a:pPr>
            <a:r>
              <a:rPr lang="en-US" sz="1751" spc="43">
                <a:solidFill>
                  <a:srgbClr val="000000"/>
                </a:solidFill>
                <a:latin typeface="Tomorrow"/>
                <a:ea typeface="Tomorrow"/>
                <a:cs typeface="Tomorrow"/>
                <a:sym typeface="Tomorrow"/>
              </a:rPr>
              <a:t>Revenue from Car Sales (remains the same): 1,100,000,000</a:t>
            </a:r>
          </a:p>
          <a:p>
            <a:pPr marL="378135" lvl="1" indent="-189068" algn="ctr">
              <a:lnSpc>
                <a:spcPts val="2276"/>
              </a:lnSpc>
              <a:spcBef>
                <a:spcPct val="0"/>
              </a:spcBef>
              <a:buFont typeface="Arial"/>
              <a:buChar char="•"/>
            </a:pPr>
            <a:r>
              <a:rPr lang="en-US" sz="1751" spc="43">
                <a:solidFill>
                  <a:srgbClr val="000000"/>
                </a:solidFill>
                <a:latin typeface="Tomorrow"/>
                <a:ea typeface="Tomorrow"/>
                <a:cs typeface="Tomorrow"/>
                <a:sym typeface="Tomorrow"/>
              </a:rPr>
              <a:t>Upfront Fee for All Buyers: 20,000×400=8,000,000</a:t>
            </a:r>
          </a:p>
          <a:p>
            <a:pPr algn="ctr">
              <a:lnSpc>
                <a:spcPts val="2276"/>
              </a:lnSpc>
              <a:spcBef>
                <a:spcPct val="0"/>
              </a:spcBef>
            </a:pPr>
            <a:r>
              <a:rPr lang="en-US" sz="1751" spc="43">
                <a:solidFill>
                  <a:srgbClr val="000000"/>
                </a:solidFill>
                <a:latin typeface="Tomorrow"/>
                <a:ea typeface="Tomorrow"/>
                <a:cs typeface="Tomorrow"/>
                <a:sym typeface="Tomorrow"/>
              </a:rPr>
              <a:t>Subscription Revenue:</a:t>
            </a:r>
          </a:p>
          <a:p>
            <a:pPr algn="ctr">
              <a:lnSpc>
                <a:spcPts val="2276"/>
              </a:lnSpc>
              <a:spcBef>
                <a:spcPct val="0"/>
              </a:spcBef>
            </a:pPr>
            <a:r>
              <a:rPr lang="en-US" sz="1751" spc="43">
                <a:solidFill>
                  <a:srgbClr val="000000"/>
                </a:solidFill>
                <a:latin typeface="Tomorrow"/>
                <a:ea typeface="Tomorrow"/>
                <a:cs typeface="Tomorrow"/>
                <a:sym typeface="Tomorrow"/>
              </a:rPr>
              <a:t>Basic Tier (40%):</a:t>
            </a:r>
          </a:p>
          <a:p>
            <a:pPr marL="756271" lvl="2" indent="-252090" algn="ctr">
              <a:lnSpc>
                <a:spcPts val="2276"/>
              </a:lnSpc>
              <a:spcBef>
                <a:spcPct val="0"/>
              </a:spcBef>
              <a:buFont typeface="Arial"/>
              <a:buChar char="⚬"/>
            </a:pPr>
            <a:r>
              <a:rPr lang="en-US" sz="1751" spc="43">
                <a:solidFill>
                  <a:srgbClr val="000000"/>
                </a:solidFill>
                <a:latin typeface="Tomorrow"/>
                <a:ea typeface="Tomorrow"/>
                <a:cs typeface="Tomorrow"/>
                <a:sym typeface="Tomorrow"/>
              </a:rPr>
              <a:t>Monthly:</a:t>
            </a:r>
          </a:p>
          <a:p>
            <a:pPr algn="ctr">
              <a:lnSpc>
                <a:spcPts val="2276"/>
              </a:lnSpc>
              <a:spcBef>
                <a:spcPct val="0"/>
              </a:spcBef>
            </a:pPr>
            <a:r>
              <a:rPr lang="en-US" sz="1751" spc="43">
                <a:solidFill>
                  <a:srgbClr val="000000"/>
                </a:solidFill>
                <a:latin typeface="Tomorrow"/>
                <a:ea typeface="Tomorrow"/>
                <a:cs typeface="Tomorrow"/>
                <a:sym typeface="Tomorrow"/>
              </a:rPr>
              <a:t>400×0.4×400=64,000</a:t>
            </a:r>
          </a:p>
          <a:p>
            <a:pPr marL="756271" lvl="2" indent="-252090" algn="ctr">
              <a:lnSpc>
                <a:spcPts val="2276"/>
              </a:lnSpc>
              <a:spcBef>
                <a:spcPct val="0"/>
              </a:spcBef>
              <a:buFont typeface="Arial"/>
              <a:buChar char="⚬"/>
            </a:pPr>
            <a:r>
              <a:rPr lang="en-US" sz="1751" spc="43">
                <a:solidFill>
                  <a:srgbClr val="000000"/>
                </a:solidFill>
                <a:latin typeface="Tomorrow"/>
                <a:ea typeface="Tomorrow"/>
                <a:cs typeface="Tomorrow"/>
                <a:sym typeface="Tomorrow"/>
              </a:rPr>
              <a:t>Annual:</a:t>
            </a:r>
          </a:p>
          <a:p>
            <a:pPr algn="ctr">
              <a:lnSpc>
                <a:spcPts val="2276"/>
              </a:lnSpc>
              <a:spcBef>
                <a:spcPct val="0"/>
              </a:spcBef>
            </a:pPr>
            <a:r>
              <a:rPr lang="en-US" sz="1751" spc="43">
                <a:solidFill>
                  <a:srgbClr val="000000"/>
                </a:solidFill>
                <a:latin typeface="Tomorrow"/>
                <a:ea typeface="Tomorrow"/>
                <a:cs typeface="Tomorrow"/>
                <a:sym typeface="Tomorrow"/>
              </a:rPr>
              <a:t>64,000×12=768,00064,000</a:t>
            </a:r>
          </a:p>
          <a:p>
            <a:pPr algn="ctr">
              <a:lnSpc>
                <a:spcPts val="2276"/>
              </a:lnSpc>
              <a:spcBef>
                <a:spcPct val="0"/>
              </a:spcBef>
            </a:pPr>
            <a:r>
              <a:rPr lang="en-US" sz="1751" spc="43">
                <a:solidFill>
                  <a:srgbClr val="000000"/>
                </a:solidFill>
                <a:latin typeface="Tomorrow"/>
                <a:ea typeface="Tomorrow"/>
                <a:cs typeface="Tomorrow"/>
                <a:sym typeface="Tomorrow"/>
              </a:rPr>
              <a:t>Standard Tier (35%):</a:t>
            </a:r>
          </a:p>
          <a:p>
            <a:pPr marL="756271" lvl="2" indent="-252090" algn="ctr">
              <a:lnSpc>
                <a:spcPts val="2276"/>
              </a:lnSpc>
              <a:spcBef>
                <a:spcPct val="0"/>
              </a:spcBef>
              <a:buFont typeface="Arial"/>
              <a:buChar char="⚬"/>
            </a:pPr>
            <a:r>
              <a:rPr lang="en-US" sz="1751" spc="43">
                <a:solidFill>
                  <a:srgbClr val="000000"/>
                </a:solidFill>
                <a:latin typeface="Tomorrow"/>
                <a:ea typeface="Tomorrow"/>
                <a:cs typeface="Tomorrow"/>
                <a:sym typeface="Tomorrow"/>
              </a:rPr>
              <a:t>Monthly:</a:t>
            </a:r>
          </a:p>
          <a:p>
            <a:pPr algn="ctr">
              <a:lnSpc>
                <a:spcPts val="2276"/>
              </a:lnSpc>
              <a:spcBef>
                <a:spcPct val="0"/>
              </a:spcBef>
            </a:pPr>
            <a:r>
              <a:rPr lang="en-US" sz="1751" spc="43">
                <a:solidFill>
                  <a:srgbClr val="000000"/>
                </a:solidFill>
                <a:latin typeface="Tomorrow"/>
                <a:ea typeface="Tomorrow"/>
                <a:cs typeface="Tomorrow"/>
                <a:sym typeface="Tomorrow"/>
              </a:rPr>
              <a:t>400×0.35×600=84,000</a:t>
            </a:r>
          </a:p>
          <a:p>
            <a:pPr marL="756271" lvl="2" indent="-252090" algn="ctr">
              <a:lnSpc>
                <a:spcPts val="2276"/>
              </a:lnSpc>
              <a:spcBef>
                <a:spcPct val="0"/>
              </a:spcBef>
              <a:buFont typeface="Arial"/>
              <a:buChar char="⚬"/>
            </a:pPr>
            <a:r>
              <a:rPr lang="en-US" sz="1751" spc="43">
                <a:solidFill>
                  <a:srgbClr val="000000"/>
                </a:solidFill>
                <a:latin typeface="Tomorrow"/>
                <a:ea typeface="Tomorrow"/>
                <a:cs typeface="Tomorrow"/>
                <a:sym typeface="Tomorrow"/>
              </a:rPr>
              <a:t>Annual:</a:t>
            </a:r>
          </a:p>
          <a:p>
            <a:pPr algn="ctr">
              <a:lnSpc>
                <a:spcPts val="2276"/>
              </a:lnSpc>
              <a:spcBef>
                <a:spcPct val="0"/>
              </a:spcBef>
            </a:pPr>
            <a:r>
              <a:rPr lang="en-US" sz="1751" spc="43">
                <a:solidFill>
                  <a:srgbClr val="000000"/>
                </a:solidFill>
                <a:latin typeface="Tomorrow"/>
                <a:ea typeface="Tomorrow"/>
                <a:cs typeface="Tomorrow"/>
                <a:sym typeface="Tomorrow"/>
              </a:rPr>
              <a:t>84,000×12=1,008,000</a:t>
            </a:r>
          </a:p>
          <a:p>
            <a:pPr algn="ctr">
              <a:lnSpc>
                <a:spcPts val="2276"/>
              </a:lnSpc>
              <a:spcBef>
                <a:spcPct val="0"/>
              </a:spcBef>
            </a:pPr>
            <a:r>
              <a:rPr lang="en-US" sz="1751" spc="43">
                <a:solidFill>
                  <a:srgbClr val="000000"/>
                </a:solidFill>
                <a:latin typeface="Tomorrow"/>
                <a:ea typeface="Tomorrow"/>
                <a:cs typeface="Tomorrow"/>
                <a:sym typeface="Tomorrow"/>
              </a:rPr>
              <a:t>Premium Tier (25%):</a:t>
            </a:r>
          </a:p>
          <a:p>
            <a:pPr marL="756271" lvl="2" indent="-252090" algn="ctr">
              <a:lnSpc>
                <a:spcPts val="2276"/>
              </a:lnSpc>
              <a:spcBef>
                <a:spcPct val="0"/>
              </a:spcBef>
              <a:buFont typeface="Arial"/>
              <a:buChar char="⚬"/>
            </a:pPr>
            <a:r>
              <a:rPr lang="en-US" sz="1751" spc="43">
                <a:solidFill>
                  <a:srgbClr val="000000"/>
                </a:solidFill>
                <a:latin typeface="Tomorrow"/>
                <a:ea typeface="Tomorrow"/>
                <a:cs typeface="Tomorrow"/>
                <a:sym typeface="Tomorrow"/>
              </a:rPr>
              <a:t>Monthly:</a:t>
            </a:r>
          </a:p>
          <a:p>
            <a:pPr algn="ctr">
              <a:lnSpc>
                <a:spcPts val="2276"/>
              </a:lnSpc>
              <a:spcBef>
                <a:spcPct val="0"/>
              </a:spcBef>
            </a:pPr>
            <a:r>
              <a:rPr lang="en-US" sz="1751" spc="43">
                <a:solidFill>
                  <a:srgbClr val="000000"/>
                </a:solidFill>
                <a:latin typeface="Tomorrow"/>
                <a:ea typeface="Tomorrow"/>
                <a:cs typeface="Tomorrow"/>
                <a:sym typeface="Tomorrow"/>
              </a:rPr>
              <a:t>400×0.25×700=70,000</a:t>
            </a:r>
          </a:p>
          <a:p>
            <a:pPr marL="756271" lvl="2" indent="-252090" algn="ctr">
              <a:lnSpc>
                <a:spcPts val="2276"/>
              </a:lnSpc>
              <a:spcBef>
                <a:spcPct val="0"/>
              </a:spcBef>
              <a:buFont typeface="Arial"/>
              <a:buChar char="⚬"/>
            </a:pPr>
            <a:r>
              <a:rPr lang="en-US" sz="1751" spc="43">
                <a:solidFill>
                  <a:srgbClr val="000000"/>
                </a:solidFill>
                <a:latin typeface="Tomorrow"/>
                <a:ea typeface="Tomorrow"/>
                <a:cs typeface="Tomorrow"/>
                <a:sym typeface="Tomorrow"/>
              </a:rPr>
              <a:t>Annual:</a:t>
            </a:r>
          </a:p>
          <a:p>
            <a:pPr algn="ctr">
              <a:lnSpc>
                <a:spcPts val="2276"/>
              </a:lnSpc>
              <a:spcBef>
                <a:spcPct val="0"/>
              </a:spcBef>
            </a:pPr>
            <a:r>
              <a:rPr lang="en-US" sz="1751" spc="43">
                <a:solidFill>
                  <a:srgbClr val="000000"/>
                </a:solidFill>
                <a:latin typeface="Tomorrow"/>
                <a:ea typeface="Tomorrow"/>
                <a:cs typeface="Tomorrow"/>
                <a:sym typeface="Tomorrow"/>
              </a:rPr>
              <a:t>70,000×12=840,000</a:t>
            </a:r>
          </a:p>
          <a:p>
            <a:pPr algn="ctr">
              <a:lnSpc>
                <a:spcPts val="2276"/>
              </a:lnSpc>
              <a:spcBef>
                <a:spcPct val="0"/>
              </a:spcBef>
            </a:pPr>
            <a:r>
              <a:rPr lang="en-US" sz="1751" spc="43">
                <a:solidFill>
                  <a:srgbClr val="000000"/>
                </a:solidFill>
                <a:latin typeface="Tomorrow"/>
                <a:ea typeface="Tomorrow"/>
                <a:cs typeface="Tomorrow"/>
                <a:sym typeface="Tomorrow"/>
              </a:rPr>
              <a:t>Total Subscription Revenue for 2% Penetration:</a:t>
            </a:r>
          </a:p>
          <a:p>
            <a:pPr algn="ctr">
              <a:lnSpc>
                <a:spcPts val="2276"/>
              </a:lnSpc>
              <a:spcBef>
                <a:spcPct val="0"/>
              </a:spcBef>
            </a:pPr>
            <a:r>
              <a:rPr lang="en-US" sz="1751" spc="43">
                <a:solidFill>
                  <a:srgbClr val="000000"/>
                </a:solidFill>
                <a:latin typeface="Tomorrow"/>
                <a:ea typeface="Tomorrow"/>
                <a:cs typeface="Tomorrow"/>
                <a:sym typeface="Tomorrow"/>
              </a:rPr>
              <a:t>Total Annual Subscription Revenue</a:t>
            </a:r>
          </a:p>
          <a:p>
            <a:pPr algn="ctr">
              <a:lnSpc>
                <a:spcPts val="2276"/>
              </a:lnSpc>
              <a:spcBef>
                <a:spcPct val="0"/>
              </a:spcBef>
            </a:pPr>
            <a:r>
              <a:rPr lang="en-US" sz="1751" spc="43">
                <a:solidFill>
                  <a:srgbClr val="000000"/>
                </a:solidFill>
                <a:latin typeface="Tomorrow"/>
                <a:ea typeface="Tomorrow"/>
                <a:cs typeface="Tomorrow"/>
                <a:sym typeface="Tomorrow"/>
              </a:rPr>
              <a:t>=768,000+1,008,000+840,000=2,616,000</a:t>
            </a:r>
          </a:p>
          <a:p>
            <a:pPr algn="ctr">
              <a:lnSpc>
                <a:spcPts val="2276"/>
              </a:lnSpc>
              <a:spcBef>
                <a:spcPct val="0"/>
              </a:spcBef>
            </a:pPr>
            <a:r>
              <a:rPr lang="en-US" sz="1751" b="1" spc="43">
                <a:solidFill>
                  <a:srgbClr val="000000"/>
                </a:solidFill>
                <a:latin typeface="Tomorrow Bold"/>
                <a:ea typeface="Tomorrow Bold"/>
                <a:cs typeface="Tomorrow Bold"/>
                <a:sym typeface="Tomorrow Bold"/>
              </a:rPr>
              <a:t>Total Revenue for 2% Penetration:</a:t>
            </a:r>
          </a:p>
          <a:p>
            <a:pPr algn="ctr">
              <a:lnSpc>
                <a:spcPts val="2276"/>
              </a:lnSpc>
              <a:spcBef>
                <a:spcPct val="0"/>
              </a:spcBef>
            </a:pPr>
            <a:r>
              <a:rPr lang="en-US" sz="1751" b="1" spc="43">
                <a:solidFill>
                  <a:srgbClr val="000000"/>
                </a:solidFill>
                <a:latin typeface="Tomorrow Bold"/>
                <a:ea typeface="Tomorrow Bold"/>
                <a:cs typeface="Tomorrow Bold"/>
                <a:sym typeface="Tomorrow Bold"/>
              </a:rPr>
              <a:t>Total Revenue</a:t>
            </a:r>
          </a:p>
          <a:p>
            <a:pPr algn="ctr">
              <a:lnSpc>
                <a:spcPts val="2276"/>
              </a:lnSpc>
              <a:spcBef>
                <a:spcPct val="0"/>
              </a:spcBef>
            </a:pPr>
            <a:r>
              <a:rPr lang="en-US" sz="1751" b="1" spc="43">
                <a:solidFill>
                  <a:srgbClr val="000000"/>
                </a:solidFill>
                <a:latin typeface="Tomorrow Bold"/>
                <a:ea typeface="Tomorrow Bold"/>
                <a:cs typeface="Tomorrow Bold"/>
                <a:sym typeface="Tomorrow Bold"/>
              </a:rPr>
              <a:t>=1,100,000,000+8,000,000+2,616,000=1,110,624,000 1,110,624,000</a:t>
            </a:r>
          </a:p>
          <a:p>
            <a:pPr algn="ctr">
              <a:lnSpc>
                <a:spcPts val="2276"/>
              </a:lnSpc>
              <a:spcBef>
                <a:spcPct val="0"/>
              </a:spcBef>
            </a:pPr>
            <a:endParaRPr lang="en-US" sz="1751" b="1" spc="43">
              <a:solidFill>
                <a:srgbClr val="000000"/>
              </a:solidFill>
              <a:latin typeface="Tomorrow Bold"/>
              <a:ea typeface="Tomorrow Bold"/>
              <a:cs typeface="Tomorrow Bold"/>
              <a:sym typeface="Tomorrow Bold"/>
            </a:endParaRPr>
          </a:p>
        </p:txBody>
      </p:sp>
      <p:sp>
        <p:nvSpPr>
          <p:cNvPr id="5" name="TextBox 5"/>
          <p:cNvSpPr txBox="1"/>
          <p:nvPr/>
        </p:nvSpPr>
        <p:spPr>
          <a:xfrm>
            <a:off x="13043501" y="2159464"/>
            <a:ext cx="5244499" cy="7998952"/>
          </a:xfrm>
          <a:prstGeom prst="rect">
            <a:avLst/>
          </a:prstGeom>
        </p:spPr>
        <p:txBody>
          <a:bodyPr lIns="0" tIns="0" rIns="0" bIns="0" rtlCol="0" anchor="t">
            <a:spAutoFit/>
          </a:bodyPr>
          <a:lstStyle/>
          <a:p>
            <a:pPr algn="ctr">
              <a:lnSpc>
                <a:spcPts val="2159"/>
              </a:lnSpc>
            </a:pPr>
            <a:r>
              <a:rPr lang="en-US" sz="1661" b="1" i="1" spc="41">
                <a:solidFill>
                  <a:srgbClr val="000000"/>
                </a:solidFill>
                <a:latin typeface="Tomorrow Bold Italics"/>
                <a:ea typeface="Tomorrow Bold Italics"/>
                <a:cs typeface="Tomorrow Bold Italics"/>
                <a:sym typeface="Tomorrow Bold Italics"/>
              </a:rPr>
              <a:t>3% Penetration:</a:t>
            </a:r>
          </a:p>
          <a:p>
            <a:pPr marL="358662" lvl="1" indent="-179331" algn="ctr">
              <a:lnSpc>
                <a:spcPts val="2159"/>
              </a:lnSpc>
              <a:buFont typeface="Arial"/>
              <a:buChar char="•"/>
            </a:pPr>
            <a:r>
              <a:rPr lang="en-US" sz="1661" spc="41">
                <a:solidFill>
                  <a:srgbClr val="000000"/>
                </a:solidFill>
                <a:latin typeface="Tomorrow"/>
                <a:ea typeface="Tomorrow"/>
                <a:cs typeface="Tomorrow"/>
                <a:sym typeface="Tomorrow"/>
              </a:rPr>
              <a:t>Total Subscribers: 20,000×0.03=600</a:t>
            </a:r>
          </a:p>
          <a:p>
            <a:pPr algn="ctr">
              <a:lnSpc>
                <a:spcPts val="2159"/>
              </a:lnSpc>
            </a:pPr>
            <a:endParaRPr lang="en-US" sz="1661" spc="41">
              <a:solidFill>
                <a:srgbClr val="000000"/>
              </a:solidFill>
              <a:latin typeface="Tomorrow"/>
              <a:ea typeface="Tomorrow"/>
              <a:cs typeface="Tomorrow"/>
              <a:sym typeface="Tomorrow"/>
            </a:endParaRPr>
          </a:p>
          <a:p>
            <a:pPr marL="358662" lvl="1" indent="-179331" algn="ctr">
              <a:lnSpc>
                <a:spcPts val="2159"/>
              </a:lnSpc>
              <a:buFont typeface="Arial"/>
              <a:buChar char="•"/>
            </a:pPr>
            <a:r>
              <a:rPr lang="en-US" sz="1661" spc="41">
                <a:solidFill>
                  <a:srgbClr val="000000"/>
                </a:solidFill>
                <a:latin typeface="Tomorrow"/>
                <a:ea typeface="Tomorrow"/>
                <a:cs typeface="Tomorrow"/>
                <a:sym typeface="Tomorrow"/>
              </a:rPr>
              <a:t>Revenue from Car Sales (remains the same): 1,100,000,000</a:t>
            </a:r>
          </a:p>
          <a:p>
            <a:pPr marL="358662" lvl="1" indent="-179331" algn="ctr">
              <a:lnSpc>
                <a:spcPts val="2159"/>
              </a:lnSpc>
              <a:spcBef>
                <a:spcPct val="0"/>
              </a:spcBef>
              <a:buFont typeface="Arial"/>
              <a:buChar char="•"/>
            </a:pPr>
            <a:r>
              <a:rPr lang="en-US" sz="1661" spc="41">
                <a:solidFill>
                  <a:srgbClr val="000000"/>
                </a:solidFill>
                <a:latin typeface="Tomorrow"/>
                <a:ea typeface="Tomorrow"/>
                <a:cs typeface="Tomorrow"/>
                <a:sym typeface="Tomorrow"/>
              </a:rPr>
              <a:t>Upfront Fee for All Buyers: 20,000×400=8,000,000</a:t>
            </a:r>
          </a:p>
          <a:p>
            <a:pPr algn="ctr">
              <a:lnSpc>
                <a:spcPts val="2159"/>
              </a:lnSpc>
              <a:spcBef>
                <a:spcPct val="0"/>
              </a:spcBef>
            </a:pPr>
            <a:r>
              <a:rPr lang="en-US" sz="1661" spc="41">
                <a:solidFill>
                  <a:srgbClr val="000000"/>
                </a:solidFill>
                <a:latin typeface="Tomorrow"/>
                <a:ea typeface="Tomorrow"/>
                <a:cs typeface="Tomorrow"/>
                <a:sym typeface="Tomorrow"/>
              </a:rPr>
              <a:t>Subscription Revenue:</a:t>
            </a:r>
          </a:p>
          <a:p>
            <a:pPr algn="ctr">
              <a:lnSpc>
                <a:spcPts val="2159"/>
              </a:lnSpc>
              <a:spcBef>
                <a:spcPct val="0"/>
              </a:spcBef>
            </a:pPr>
            <a:r>
              <a:rPr lang="en-US" sz="1661" spc="41">
                <a:solidFill>
                  <a:srgbClr val="000000"/>
                </a:solidFill>
                <a:latin typeface="Tomorrow"/>
                <a:ea typeface="Tomorrow"/>
                <a:cs typeface="Tomorrow"/>
                <a:sym typeface="Tomorrow"/>
              </a:rPr>
              <a:t>Basic Tier (40%):</a:t>
            </a:r>
          </a:p>
          <a:p>
            <a:pPr marL="717325" lvl="2" indent="-239108" algn="ctr">
              <a:lnSpc>
                <a:spcPts val="2159"/>
              </a:lnSpc>
              <a:spcBef>
                <a:spcPct val="0"/>
              </a:spcBef>
              <a:buFont typeface="Arial"/>
              <a:buChar char="⚬"/>
            </a:pPr>
            <a:r>
              <a:rPr lang="en-US" sz="1661" spc="41">
                <a:solidFill>
                  <a:srgbClr val="000000"/>
                </a:solidFill>
                <a:latin typeface="Tomorrow"/>
                <a:ea typeface="Tomorrow"/>
                <a:cs typeface="Tomorrow"/>
                <a:sym typeface="Tomorrow"/>
              </a:rPr>
              <a:t>Monthly:</a:t>
            </a:r>
          </a:p>
          <a:p>
            <a:pPr algn="ctr">
              <a:lnSpc>
                <a:spcPts val="2159"/>
              </a:lnSpc>
              <a:spcBef>
                <a:spcPct val="0"/>
              </a:spcBef>
            </a:pPr>
            <a:r>
              <a:rPr lang="en-US" sz="1661" spc="41">
                <a:solidFill>
                  <a:srgbClr val="000000"/>
                </a:solidFill>
                <a:latin typeface="Tomorrow"/>
                <a:ea typeface="Tomorrow"/>
                <a:cs typeface="Tomorrow"/>
                <a:sym typeface="Tomorrow"/>
              </a:rPr>
              <a:t>600×0.4×400=96,000</a:t>
            </a:r>
          </a:p>
          <a:p>
            <a:pPr marL="717325" lvl="2" indent="-239108" algn="ctr">
              <a:lnSpc>
                <a:spcPts val="2159"/>
              </a:lnSpc>
              <a:spcBef>
                <a:spcPct val="0"/>
              </a:spcBef>
              <a:buFont typeface="Arial"/>
              <a:buChar char="⚬"/>
            </a:pPr>
            <a:r>
              <a:rPr lang="en-US" sz="1661" spc="41">
                <a:solidFill>
                  <a:srgbClr val="000000"/>
                </a:solidFill>
                <a:latin typeface="Tomorrow"/>
                <a:ea typeface="Tomorrow"/>
                <a:cs typeface="Tomorrow"/>
                <a:sym typeface="Tomorrow"/>
              </a:rPr>
              <a:t>Annual:</a:t>
            </a:r>
          </a:p>
          <a:p>
            <a:pPr algn="ctr">
              <a:lnSpc>
                <a:spcPts val="2159"/>
              </a:lnSpc>
              <a:spcBef>
                <a:spcPct val="0"/>
              </a:spcBef>
            </a:pPr>
            <a:r>
              <a:rPr lang="en-US" sz="1661" spc="41">
                <a:solidFill>
                  <a:srgbClr val="000000"/>
                </a:solidFill>
                <a:latin typeface="Tomorrow"/>
                <a:ea typeface="Tomorrow"/>
                <a:cs typeface="Tomorrow"/>
                <a:sym typeface="Tomorrow"/>
              </a:rPr>
              <a:t>96,000×12=1,152,000</a:t>
            </a:r>
          </a:p>
          <a:p>
            <a:pPr algn="ctr">
              <a:lnSpc>
                <a:spcPts val="2159"/>
              </a:lnSpc>
              <a:spcBef>
                <a:spcPct val="0"/>
              </a:spcBef>
            </a:pPr>
            <a:r>
              <a:rPr lang="en-US" sz="1661" spc="41">
                <a:solidFill>
                  <a:srgbClr val="000000"/>
                </a:solidFill>
                <a:latin typeface="Tomorrow"/>
                <a:ea typeface="Tomorrow"/>
                <a:cs typeface="Tomorrow"/>
                <a:sym typeface="Tomorrow"/>
              </a:rPr>
              <a:t>Standard Tier (35%):</a:t>
            </a:r>
          </a:p>
          <a:p>
            <a:pPr marL="717325" lvl="2" indent="-239108" algn="ctr">
              <a:lnSpc>
                <a:spcPts val="2159"/>
              </a:lnSpc>
              <a:spcBef>
                <a:spcPct val="0"/>
              </a:spcBef>
              <a:buFont typeface="Arial"/>
              <a:buChar char="⚬"/>
            </a:pPr>
            <a:r>
              <a:rPr lang="en-US" sz="1661" spc="41">
                <a:solidFill>
                  <a:srgbClr val="000000"/>
                </a:solidFill>
                <a:latin typeface="Tomorrow"/>
                <a:ea typeface="Tomorrow"/>
                <a:cs typeface="Tomorrow"/>
                <a:sym typeface="Tomorrow"/>
              </a:rPr>
              <a:t>Monthly:</a:t>
            </a:r>
          </a:p>
          <a:p>
            <a:pPr algn="ctr">
              <a:lnSpc>
                <a:spcPts val="2159"/>
              </a:lnSpc>
              <a:spcBef>
                <a:spcPct val="0"/>
              </a:spcBef>
            </a:pPr>
            <a:r>
              <a:rPr lang="en-US" sz="1661" spc="41">
                <a:solidFill>
                  <a:srgbClr val="000000"/>
                </a:solidFill>
                <a:latin typeface="Tomorrow"/>
                <a:ea typeface="Tomorrow"/>
                <a:cs typeface="Tomorrow"/>
                <a:sym typeface="Tomorrow"/>
              </a:rPr>
              <a:t>600×0.35×600=126,000</a:t>
            </a:r>
          </a:p>
          <a:p>
            <a:pPr marL="717325" lvl="2" indent="-239108" algn="ctr">
              <a:lnSpc>
                <a:spcPts val="2159"/>
              </a:lnSpc>
              <a:spcBef>
                <a:spcPct val="0"/>
              </a:spcBef>
              <a:buFont typeface="Arial"/>
              <a:buChar char="⚬"/>
            </a:pPr>
            <a:r>
              <a:rPr lang="en-US" sz="1661" spc="41">
                <a:solidFill>
                  <a:srgbClr val="000000"/>
                </a:solidFill>
                <a:latin typeface="Tomorrow"/>
                <a:ea typeface="Tomorrow"/>
                <a:cs typeface="Tomorrow"/>
                <a:sym typeface="Tomorrow"/>
              </a:rPr>
              <a:t>Annual:</a:t>
            </a:r>
          </a:p>
          <a:p>
            <a:pPr algn="ctr">
              <a:lnSpc>
                <a:spcPts val="2159"/>
              </a:lnSpc>
              <a:spcBef>
                <a:spcPct val="0"/>
              </a:spcBef>
            </a:pPr>
            <a:r>
              <a:rPr lang="en-US" sz="1661" spc="41">
                <a:solidFill>
                  <a:srgbClr val="000000"/>
                </a:solidFill>
                <a:latin typeface="Tomorrow"/>
                <a:ea typeface="Tomorrow"/>
                <a:cs typeface="Tomorrow"/>
                <a:sym typeface="Tomorrow"/>
              </a:rPr>
              <a:t>126,000×12=1,512,000</a:t>
            </a:r>
          </a:p>
          <a:p>
            <a:pPr algn="ctr">
              <a:lnSpc>
                <a:spcPts val="2159"/>
              </a:lnSpc>
              <a:spcBef>
                <a:spcPct val="0"/>
              </a:spcBef>
            </a:pPr>
            <a:r>
              <a:rPr lang="en-US" sz="1661" spc="41">
                <a:solidFill>
                  <a:srgbClr val="000000"/>
                </a:solidFill>
                <a:latin typeface="Tomorrow"/>
                <a:ea typeface="Tomorrow"/>
                <a:cs typeface="Tomorrow"/>
                <a:sym typeface="Tomorrow"/>
              </a:rPr>
              <a:t>Premium Tier (25%):</a:t>
            </a:r>
          </a:p>
          <a:p>
            <a:pPr marL="717325" lvl="2" indent="-239108" algn="ctr">
              <a:lnSpc>
                <a:spcPts val="2159"/>
              </a:lnSpc>
              <a:spcBef>
                <a:spcPct val="0"/>
              </a:spcBef>
              <a:buFont typeface="Arial"/>
              <a:buChar char="⚬"/>
            </a:pPr>
            <a:r>
              <a:rPr lang="en-US" sz="1661" spc="41">
                <a:solidFill>
                  <a:srgbClr val="000000"/>
                </a:solidFill>
                <a:latin typeface="Tomorrow"/>
                <a:ea typeface="Tomorrow"/>
                <a:cs typeface="Tomorrow"/>
                <a:sym typeface="Tomorrow"/>
              </a:rPr>
              <a:t>Monthly:</a:t>
            </a:r>
          </a:p>
          <a:p>
            <a:pPr algn="ctr">
              <a:lnSpc>
                <a:spcPts val="2159"/>
              </a:lnSpc>
              <a:spcBef>
                <a:spcPct val="0"/>
              </a:spcBef>
            </a:pPr>
            <a:r>
              <a:rPr lang="en-US" sz="1661" spc="41">
                <a:solidFill>
                  <a:srgbClr val="000000"/>
                </a:solidFill>
                <a:latin typeface="Tomorrow"/>
                <a:ea typeface="Tomorrow"/>
                <a:cs typeface="Tomorrow"/>
                <a:sym typeface="Tomorrow"/>
              </a:rPr>
              <a:t>600×0.25×700=105,000</a:t>
            </a:r>
          </a:p>
          <a:p>
            <a:pPr marL="717325" lvl="2" indent="-239108" algn="ctr">
              <a:lnSpc>
                <a:spcPts val="2159"/>
              </a:lnSpc>
              <a:spcBef>
                <a:spcPct val="0"/>
              </a:spcBef>
              <a:buFont typeface="Arial"/>
              <a:buChar char="⚬"/>
            </a:pPr>
            <a:r>
              <a:rPr lang="en-US" sz="1661" spc="41">
                <a:solidFill>
                  <a:srgbClr val="000000"/>
                </a:solidFill>
                <a:latin typeface="Tomorrow"/>
                <a:ea typeface="Tomorrow"/>
                <a:cs typeface="Tomorrow"/>
                <a:sym typeface="Tomorrow"/>
              </a:rPr>
              <a:t>Annual:</a:t>
            </a:r>
          </a:p>
          <a:p>
            <a:pPr algn="ctr">
              <a:lnSpc>
                <a:spcPts val="2159"/>
              </a:lnSpc>
              <a:spcBef>
                <a:spcPct val="0"/>
              </a:spcBef>
            </a:pPr>
            <a:r>
              <a:rPr lang="en-US" sz="1661" spc="41">
                <a:solidFill>
                  <a:srgbClr val="000000"/>
                </a:solidFill>
                <a:latin typeface="Tomorrow"/>
                <a:ea typeface="Tomorrow"/>
                <a:cs typeface="Tomorrow"/>
                <a:sym typeface="Tomorrow"/>
              </a:rPr>
              <a:t>105,000×12=1,260,000</a:t>
            </a:r>
          </a:p>
          <a:p>
            <a:pPr algn="ctr">
              <a:lnSpc>
                <a:spcPts val="2159"/>
              </a:lnSpc>
              <a:spcBef>
                <a:spcPct val="0"/>
              </a:spcBef>
            </a:pPr>
            <a:r>
              <a:rPr lang="en-US" sz="1661" spc="41">
                <a:solidFill>
                  <a:srgbClr val="000000"/>
                </a:solidFill>
                <a:latin typeface="Tomorrow"/>
                <a:ea typeface="Tomorrow"/>
                <a:cs typeface="Tomorrow"/>
                <a:sym typeface="Tomorrow"/>
              </a:rPr>
              <a:t>Total Subscription Revenue for 3% Penetration:</a:t>
            </a:r>
          </a:p>
          <a:p>
            <a:pPr algn="ctr">
              <a:lnSpc>
                <a:spcPts val="2159"/>
              </a:lnSpc>
              <a:spcBef>
                <a:spcPct val="0"/>
              </a:spcBef>
            </a:pPr>
            <a:r>
              <a:rPr lang="en-US" sz="1661" spc="41">
                <a:solidFill>
                  <a:srgbClr val="000000"/>
                </a:solidFill>
                <a:latin typeface="Tomorrow"/>
                <a:ea typeface="Tomorrow"/>
                <a:cs typeface="Tomorrow"/>
                <a:sym typeface="Tomorrow"/>
              </a:rPr>
              <a:t>Total Annual Subscription Revenue</a:t>
            </a:r>
          </a:p>
          <a:p>
            <a:pPr algn="ctr">
              <a:lnSpc>
                <a:spcPts val="2159"/>
              </a:lnSpc>
              <a:spcBef>
                <a:spcPct val="0"/>
              </a:spcBef>
            </a:pPr>
            <a:r>
              <a:rPr lang="en-US" sz="1661" spc="41">
                <a:solidFill>
                  <a:srgbClr val="000000"/>
                </a:solidFill>
                <a:latin typeface="Tomorrow"/>
                <a:ea typeface="Tomorrow"/>
                <a:cs typeface="Tomorrow"/>
                <a:sym typeface="Tomorrow"/>
              </a:rPr>
              <a:t>=1,152,000+1,512,000+1,260,000=3,924,000</a:t>
            </a:r>
          </a:p>
          <a:p>
            <a:pPr algn="ctr">
              <a:lnSpc>
                <a:spcPts val="2159"/>
              </a:lnSpc>
              <a:spcBef>
                <a:spcPct val="0"/>
              </a:spcBef>
            </a:pPr>
            <a:r>
              <a:rPr lang="en-US" sz="1661" b="1" spc="41">
                <a:solidFill>
                  <a:srgbClr val="000000"/>
                </a:solidFill>
                <a:latin typeface="Tomorrow Bold"/>
                <a:ea typeface="Tomorrow Bold"/>
                <a:cs typeface="Tomorrow Bold"/>
                <a:sym typeface="Tomorrow Bold"/>
              </a:rPr>
              <a:t>Total Revenue for 3% Penetration:</a:t>
            </a:r>
          </a:p>
          <a:p>
            <a:pPr algn="ctr">
              <a:lnSpc>
                <a:spcPts val="2159"/>
              </a:lnSpc>
              <a:spcBef>
                <a:spcPct val="0"/>
              </a:spcBef>
            </a:pPr>
            <a:r>
              <a:rPr lang="en-US" sz="1661" b="1" spc="41">
                <a:solidFill>
                  <a:srgbClr val="000000"/>
                </a:solidFill>
                <a:latin typeface="Tomorrow Bold"/>
                <a:ea typeface="Tomorrow Bold"/>
                <a:cs typeface="Tomorrow Bold"/>
                <a:sym typeface="Tomorrow Bold"/>
              </a:rPr>
              <a:t>Total Revenue=</a:t>
            </a:r>
          </a:p>
          <a:p>
            <a:pPr algn="ctr">
              <a:lnSpc>
                <a:spcPts val="2159"/>
              </a:lnSpc>
              <a:spcBef>
                <a:spcPct val="0"/>
              </a:spcBef>
            </a:pPr>
            <a:r>
              <a:rPr lang="en-US" sz="1661" b="1" spc="41">
                <a:solidFill>
                  <a:srgbClr val="000000"/>
                </a:solidFill>
                <a:latin typeface="Tomorrow Bold"/>
                <a:ea typeface="Tomorrow Bold"/>
                <a:cs typeface="Tomorrow Bold"/>
                <a:sym typeface="Tomorrow Bold"/>
              </a:rPr>
              <a:t>1,100,000,000+8,000,000+3,924,000=1,111,924,000</a:t>
            </a:r>
          </a:p>
        </p:txBody>
      </p:sp>
      <p:sp>
        <p:nvSpPr>
          <p:cNvPr id="6" name="Freeform 6"/>
          <p:cNvSpPr/>
          <p:nvPr/>
        </p:nvSpPr>
        <p:spPr>
          <a:xfrm>
            <a:off x="16766888" y="-3120"/>
            <a:ext cx="1517780" cy="1906683"/>
          </a:xfrm>
          <a:custGeom>
            <a:avLst/>
            <a:gdLst/>
            <a:ahLst/>
            <a:cxnLst/>
            <a:rect l="l" t="t" r="r" b="b"/>
            <a:pathLst>
              <a:path w="12393089" h="9453843">
                <a:moveTo>
                  <a:pt x="0" y="0"/>
                </a:moveTo>
                <a:lnTo>
                  <a:pt x="12393088" y="0"/>
                </a:lnTo>
                <a:lnTo>
                  <a:pt x="12393088" y="9453843"/>
                </a:lnTo>
                <a:lnTo>
                  <a:pt x="0" y="94538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24" y="5143500"/>
            <a:ext cx="18318771" cy="5744857"/>
            <a:chOff x="0" y="0"/>
            <a:chExt cx="5046047" cy="1513049"/>
          </a:xfrm>
        </p:grpSpPr>
        <p:sp>
          <p:nvSpPr>
            <p:cNvPr id="3" name="Freeform 3"/>
            <p:cNvSpPr/>
            <p:nvPr/>
          </p:nvSpPr>
          <p:spPr>
            <a:xfrm>
              <a:off x="0" y="0"/>
              <a:ext cx="5046047" cy="1513049"/>
            </a:xfrm>
            <a:custGeom>
              <a:avLst/>
              <a:gdLst/>
              <a:ahLst/>
              <a:cxnLst/>
              <a:rect l="l" t="t" r="r" b="b"/>
              <a:pathLst>
                <a:path w="5046047" h="1513049">
                  <a:moveTo>
                    <a:pt x="0" y="0"/>
                  </a:moveTo>
                  <a:lnTo>
                    <a:pt x="5046047" y="0"/>
                  </a:lnTo>
                  <a:lnTo>
                    <a:pt x="5046047" y="1513049"/>
                  </a:lnTo>
                  <a:lnTo>
                    <a:pt x="0" y="1513049"/>
                  </a:lnTo>
                  <a:close/>
                </a:path>
              </a:pathLst>
            </a:custGeom>
            <a:solidFill>
              <a:srgbClr val="E6E7E8"/>
            </a:solidFill>
          </p:spPr>
        </p:sp>
        <p:sp>
          <p:nvSpPr>
            <p:cNvPr id="4" name="TextBox 4"/>
            <p:cNvSpPr txBox="1"/>
            <p:nvPr/>
          </p:nvSpPr>
          <p:spPr>
            <a:xfrm>
              <a:off x="0" y="-28575"/>
              <a:ext cx="5046047" cy="1541624"/>
            </a:xfrm>
            <a:prstGeom prst="rect">
              <a:avLst/>
            </a:prstGeom>
          </p:spPr>
          <p:txBody>
            <a:bodyPr lIns="50800" tIns="50800" rIns="50800" bIns="50800" rtlCol="0" anchor="ctr"/>
            <a:lstStyle/>
            <a:p>
              <a:pPr algn="ctr">
                <a:lnSpc>
                  <a:spcPts val="2859"/>
                </a:lnSpc>
              </a:pPr>
              <a:endParaRPr/>
            </a:p>
          </p:txBody>
        </p:sp>
      </p:grpSp>
      <p:grpSp>
        <p:nvGrpSpPr>
          <p:cNvPr id="5" name="Group 5"/>
          <p:cNvGrpSpPr/>
          <p:nvPr/>
        </p:nvGrpSpPr>
        <p:grpSpPr>
          <a:xfrm>
            <a:off x="852176" y="6322827"/>
            <a:ext cx="9268858" cy="4564185"/>
            <a:chOff x="0" y="0"/>
            <a:chExt cx="2423473" cy="1427868"/>
          </a:xfrm>
        </p:grpSpPr>
        <p:sp>
          <p:nvSpPr>
            <p:cNvPr id="6" name="Freeform 6"/>
            <p:cNvSpPr/>
            <p:nvPr/>
          </p:nvSpPr>
          <p:spPr>
            <a:xfrm>
              <a:off x="0" y="0"/>
              <a:ext cx="2423473" cy="1427868"/>
            </a:xfrm>
            <a:custGeom>
              <a:avLst/>
              <a:gdLst/>
              <a:ahLst/>
              <a:cxnLst/>
              <a:rect l="l" t="t" r="r" b="b"/>
              <a:pathLst>
                <a:path w="2423473" h="1427868">
                  <a:moveTo>
                    <a:pt x="0" y="0"/>
                  </a:moveTo>
                  <a:lnTo>
                    <a:pt x="2423473" y="0"/>
                  </a:lnTo>
                  <a:lnTo>
                    <a:pt x="2423473" y="1427868"/>
                  </a:lnTo>
                  <a:lnTo>
                    <a:pt x="0" y="1427868"/>
                  </a:lnTo>
                  <a:close/>
                </a:path>
              </a:pathLst>
            </a:custGeom>
            <a:solidFill>
              <a:srgbClr val="FF1B50"/>
            </a:solidFill>
          </p:spPr>
        </p:sp>
        <p:sp>
          <p:nvSpPr>
            <p:cNvPr id="7" name="TextBox 7"/>
            <p:cNvSpPr txBox="1"/>
            <p:nvPr/>
          </p:nvSpPr>
          <p:spPr>
            <a:xfrm>
              <a:off x="0" y="-28575"/>
              <a:ext cx="2423473" cy="1456443"/>
            </a:xfrm>
            <a:prstGeom prst="rect">
              <a:avLst/>
            </a:prstGeom>
          </p:spPr>
          <p:txBody>
            <a:bodyPr lIns="50800" tIns="50800" rIns="50800" bIns="50800" rtlCol="0" anchor="ctr"/>
            <a:lstStyle/>
            <a:p>
              <a:pPr algn="ctr">
                <a:lnSpc>
                  <a:spcPts val="2859"/>
                </a:lnSpc>
              </a:pPr>
              <a:endParaRPr/>
            </a:p>
          </p:txBody>
        </p:sp>
      </p:grpSp>
      <p:grpSp>
        <p:nvGrpSpPr>
          <p:cNvPr id="8" name="Group 8"/>
          <p:cNvGrpSpPr/>
          <p:nvPr/>
        </p:nvGrpSpPr>
        <p:grpSpPr>
          <a:xfrm>
            <a:off x="541429" y="-4898"/>
            <a:ext cx="17747270" cy="2570179"/>
            <a:chOff x="0" y="0"/>
            <a:chExt cx="5046047" cy="1535761"/>
          </a:xfrm>
        </p:grpSpPr>
        <p:sp>
          <p:nvSpPr>
            <p:cNvPr id="9" name="Freeform 9"/>
            <p:cNvSpPr/>
            <p:nvPr/>
          </p:nvSpPr>
          <p:spPr>
            <a:xfrm>
              <a:off x="0" y="0"/>
              <a:ext cx="5046047" cy="1535761"/>
            </a:xfrm>
            <a:custGeom>
              <a:avLst/>
              <a:gdLst/>
              <a:ahLst/>
              <a:cxnLst/>
              <a:rect l="l" t="t" r="r" b="b"/>
              <a:pathLst>
                <a:path w="5046047" h="1535761">
                  <a:moveTo>
                    <a:pt x="0" y="0"/>
                  </a:moveTo>
                  <a:lnTo>
                    <a:pt x="5046047" y="0"/>
                  </a:lnTo>
                  <a:lnTo>
                    <a:pt x="5046047" y="1535761"/>
                  </a:lnTo>
                  <a:lnTo>
                    <a:pt x="0" y="1535761"/>
                  </a:lnTo>
                  <a:close/>
                </a:path>
              </a:pathLst>
            </a:custGeom>
            <a:solidFill>
              <a:srgbClr val="FF1B50"/>
            </a:solidFill>
          </p:spPr>
        </p:sp>
        <p:sp>
          <p:nvSpPr>
            <p:cNvPr id="10" name="TextBox 10"/>
            <p:cNvSpPr txBox="1"/>
            <p:nvPr/>
          </p:nvSpPr>
          <p:spPr>
            <a:xfrm>
              <a:off x="0" y="-28575"/>
              <a:ext cx="5046047" cy="1564336"/>
            </a:xfrm>
            <a:prstGeom prst="rect">
              <a:avLst/>
            </a:prstGeom>
          </p:spPr>
          <p:txBody>
            <a:bodyPr lIns="50800" tIns="50800" rIns="50800" bIns="50800" rtlCol="0" anchor="ctr"/>
            <a:lstStyle/>
            <a:p>
              <a:pPr algn="ctr">
                <a:lnSpc>
                  <a:spcPts val="2859"/>
                </a:lnSpc>
              </a:pPr>
              <a:endParaRPr/>
            </a:p>
          </p:txBody>
        </p:sp>
      </p:grpSp>
      <p:sp>
        <p:nvSpPr>
          <p:cNvPr id="12" name="TextBox 12"/>
          <p:cNvSpPr txBox="1"/>
          <p:nvPr/>
        </p:nvSpPr>
        <p:spPr>
          <a:xfrm>
            <a:off x="839628" y="-9525"/>
            <a:ext cx="17259300" cy="4438650"/>
          </a:xfrm>
          <a:prstGeom prst="rect">
            <a:avLst/>
          </a:prstGeom>
        </p:spPr>
        <p:txBody>
          <a:bodyPr lIns="0" tIns="0" rIns="0" bIns="0" rtlCol="0" anchor="t">
            <a:spAutoFit/>
          </a:bodyPr>
          <a:lstStyle/>
          <a:p>
            <a:pPr algn="l">
              <a:lnSpc>
                <a:spcPts val="11639"/>
              </a:lnSpc>
            </a:pPr>
            <a:r>
              <a:rPr lang="en-US" sz="9699" spc="-242">
                <a:solidFill>
                  <a:srgbClr val="000000"/>
                </a:solidFill>
                <a:latin typeface="Sifonn"/>
                <a:ea typeface="Sifonn"/>
                <a:cs typeface="Sifonn"/>
                <a:sym typeface="Sifonn"/>
              </a:rPr>
              <a:t>TOTAL COST CALCULATION </a:t>
            </a:r>
          </a:p>
          <a:p>
            <a:pPr algn="l">
              <a:lnSpc>
                <a:spcPts val="11639"/>
              </a:lnSpc>
            </a:pPr>
            <a:r>
              <a:rPr lang="en-US" sz="9699" spc="-242">
                <a:solidFill>
                  <a:srgbClr val="000000"/>
                </a:solidFill>
                <a:latin typeface="Sifonn"/>
                <a:ea typeface="Sifonn"/>
                <a:cs typeface="Sifonn"/>
                <a:sym typeface="Sifonn"/>
              </a:rPr>
              <a:t> </a:t>
            </a:r>
          </a:p>
        </p:txBody>
      </p:sp>
      <p:sp>
        <p:nvSpPr>
          <p:cNvPr id="13" name="TextBox 13"/>
          <p:cNvSpPr txBox="1"/>
          <p:nvPr/>
        </p:nvSpPr>
        <p:spPr>
          <a:xfrm>
            <a:off x="9975294" y="1972752"/>
            <a:ext cx="8312706" cy="7285548"/>
          </a:xfrm>
          <a:prstGeom prst="rect">
            <a:avLst/>
          </a:prstGeom>
        </p:spPr>
        <p:txBody>
          <a:bodyPr lIns="0" tIns="0" rIns="0" bIns="0" rtlCol="0" anchor="t">
            <a:spAutoFit/>
          </a:bodyPr>
          <a:lstStyle/>
          <a:p>
            <a:pPr algn="ctr">
              <a:lnSpc>
                <a:spcPts val="3035"/>
              </a:lnSpc>
            </a:pPr>
            <a:endParaRPr/>
          </a:p>
          <a:p>
            <a:pPr algn="ctr">
              <a:lnSpc>
                <a:spcPts val="3035"/>
              </a:lnSpc>
              <a:spcBef>
                <a:spcPct val="0"/>
              </a:spcBef>
            </a:pPr>
            <a:endParaRPr/>
          </a:p>
          <a:p>
            <a:pPr marL="568860" lvl="1" indent="-284430" algn="ctr">
              <a:lnSpc>
                <a:spcPts val="3425"/>
              </a:lnSpc>
              <a:buFont typeface="Arial"/>
              <a:buChar char="•"/>
            </a:pPr>
            <a:r>
              <a:rPr lang="en-US" sz="2634" b="1" i="1" spc="65">
                <a:solidFill>
                  <a:srgbClr val="FF1B50"/>
                </a:solidFill>
                <a:latin typeface="Tomorrow Bold Italics"/>
                <a:ea typeface="Tomorrow Bold Italics"/>
                <a:cs typeface="Tomorrow Bold Italics"/>
                <a:sym typeface="Tomorrow Bold Italics"/>
              </a:rPr>
              <a:t>Advertising Costs Calculation</a:t>
            </a:r>
          </a:p>
          <a:p>
            <a:pPr algn="ctr">
              <a:lnSpc>
                <a:spcPts val="3035"/>
              </a:lnSpc>
              <a:spcBef>
                <a:spcPct val="0"/>
              </a:spcBef>
            </a:pPr>
            <a:r>
              <a:rPr lang="en-US" sz="2334" b="1" spc="58">
                <a:solidFill>
                  <a:srgbClr val="000000"/>
                </a:solidFill>
                <a:latin typeface="Tomorrow Bold"/>
                <a:ea typeface="Tomorrow Bold"/>
                <a:cs typeface="Tomorrow Bold"/>
                <a:sym typeface="Tomorrow Bold"/>
              </a:rPr>
              <a:t>Using the previous values for advertising costs, we will keep them the same.</a:t>
            </a:r>
          </a:p>
          <a:p>
            <a:pPr algn="ctr">
              <a:lnSpc>
                <a:spcPts val="3035"/>
              </a:lnSpc>
              <a:spcBef>
                <a:spcPct val="0"/>
              </a:spcBef>
            </a:pPr>
            <a:r>
              <a:rPr lang="en-US" sz="2334" b="1" spc="58">
                <a:solidFill>
                  <a:srgbClr val="000000"/>
                </a:solidFill>
                <a:latin typeface="Tomorrow Bold"/>
                <a:ea typeface="Tomorrow Bold"/>
                <a:cs typeface="Tomorrow Bold"/>
                <a:sym typeface="Tomorrow Bold"/>
              </a:rPr>
              <a:t>Using Dorfman-Steiner Theorem:</a:t>
            </a:r>
          </a:p>
          <a:p>
            <a:pPr algn="ctr">
              <a:lnSpc>
                <a:spcPts val="3035"/>
              </a:lnSpc>
              <a:spcBef>
                <a:spcPct val="0"/>
              </a:spcBef>
            </a:pPr>
            <a:r>
              <a:rPr lang="en-US" sz="2334" b="1" spc="58">
                <a:solidFill>
                  <a:srgbClr val="000000"/>
                </a:solidFill>
                <a:latin typeface="Tomorrow Bold"/>
                <a:ea typeface="Tomorrow Bold"/>
                <a:cs typeface="Tomorrow Bold"/>
                <a:sym typeface="Tomorrow Bold"/>
              </a:rPr>
              <a:t>Total Revenue: $1,109,308,000</a:t>
            </a:r>
          </a:p>
          <a:p>
            <a:pPr algn="ctr">
              <a:lnSpc>
                <a:spcPts val="3035"/>
              </a:lnSpc>
              <a:spcBef>
                <a:spcPct val="0"/>
              </a:spcBef>
            </a:pPr>
            <a:r>
              <a:rPr lang="en-US" sz="2334" b="1" spc="58">
                <a:solidFill>
                  <a:srgbClr val="000000"/>
                </a:solidFill>
                <a:latin typeface="Tomorrow Bold"/>
                <a:ea typeface="Tomorrow Bold"/>
                <a:cs typeface="Tomorrow Bold"/>
                <a:sym typeface="Tomorrow Bold"/>
              </a:rPr>
              <a:t>Assumed Advertising Elasticity (E): 0.1</a:t>
            </a:r>
          </a:p>
          <a:p>
            <a:pPr algn="ctr">
              <a:lnSpc>
                <a:spcPts val="3035"/>
              </a:lnSpc>
              <a:spcBef>
                <a:spcPct val="0"/>
              </a:spcBef>
            </a:pPr>
            <a:r>
              <a:rPr lang="en-US" sz="2334" b="1" spc="58">
                <a:solidFill>
                  <a:srgbClr val="000000"/>
                </a:solidFill>
                <a:latin typeface="Tomorrow Bold"/>
                <a:ea typeface="Tomorrow Bold"/>
                <a:cs typeface="Tomorrow Bold"/>
                <a:sym typeface="Tomorrow Bold"/>
              </a:rPr>
              <a:t>Assumed Price Elasticity of Demand (PED): 1.5</a:t>
            </a:r>
          </a:p>
          <a:p>
            <a:pPr algn="ctr">
              <a:lnSpc>
                <a:spcPts val="3035"/>
              </a:lnSpc>
              <a:spcBef>
                <a:spcPct val="0"/>
              </a:spcBef>
            </a:pPr>
            <a:r>
              <a:rPr lang="en-US" sz="2334" b="1" spc="58">
                <a:solidFill>
                  <a:srgbClr val="000000"/>
                </a:solidFill>
                <a:latin typeface="Tomorrow Bold"/>
                <a:ea typeface="Tomorrow Bold"/>
                <a:cs typeface="Tomorrow Bold"/>
                <a:sym typeface="Tomorrow Bold"/>
              </a:rPr>
              <a:t>Advertising Costs Calculation</a:t>
            </a:r>
          </a:p>
          <a:p>
            <a:pPr algn="ctr">
              <a:lnSpc>
                <a:spcPts val="3035"/>
              </a:lnSpc>
              <a:spcBef>
                <a:spcPct val="0"/>
              </a:spcBef>
            </a:pPr>
            <a:r>
              <a:rPr lang="en-US" sz="2334" b="1" spc="58">
                <a:solidFill>
                  <a:srgbClr val="000000"/>
                </a:solidFill>
                <a:latin typeface="Tomorrow Bold"/>
                <a:ea typeface="Tomorrow Bold"/>
                <a:cs typeface="Tomorrow Bold"/>
                <a:sym typeface="Tomorrow Bold"/>
              </a:rPr>
              <a:t>A=TR×(E/(1+E))×PED</a:t>
            </a:r>
          </a:p>
          <a:p>
            <a:pPr algn="ctr">
              <a:lnSpc>
                <a:spcPts val="3035"/>
              </a:lnSpc>
              <a:spcBef>
                <a:spcPct val="0"/>
              </a:spcBef>
            </a:pPr>
            <a:r>
              <a:rPr lang="en-US" sz="2334" b="1" spc="58">
                <a:solidFill>
                  <a:srgbClr val="000000"/>
                </a:solidFill>
                <a:latin typeface="Tomorrow Bold"/>
                <a:ea typeface="Tomorrow Bold"/>
                <a:cs typeface="Tomorrow Bold"/>
                <a:sym typeface="Tomorrow Bold"/>
              </a:rPr>
              <a:t>Substituting the values into the formula:</a:t>
            </a:r>
          </a:p>
          <a:p>
            <a:pPr algn="ctr">
              <a:lnSpc>
                <a:spcPts val="3035"/>
              </a:lnSpc>
              <a:spcBef>
                <a:spcPct val="0"/>
              </a:spcBef>
            </a:pPr>
            <a:r>
              <a:rPr lang="en-US" sz="2334" b="1" spc="58">
                <a:solidFill>
                  <a:srgbClr val="000000"/>
                </a:solidFill>
                <a:latin typeface="Tomorrow Bold"/>
                <a:ea typeface="Tomorrow Bold"/>
                <a:cs typeface="Tomorrow Bold"/>
                <a:sym typeface="Tomorrow Bold"/>
              </a:rPr>
              <a:t>A=1,109,308,000×0.11.1×1.5</a:t>
            </a:r>
          </a:p>
          <a:p>
            <a:pPr algn="ctr">
              <a:lnSpc>
                <a:spcPts val="3035"/>
              </a:lnSpc>
              <a:spcBef>
                <a:spcPct val="0"/>
              </a:spcBef>
            </a:pPr>
            <a:r>
              <a:rPr lang="en-US" sz="2334" b="1" spc="58">
                <a:solidFill>
                  <a:srgbClr val="000000"/>
                </a:solidFill>
                <a:latin typeface="Tomorrow Bold"/>
                <a:ea typeface="Tomorrow Bold"/>
                <a:cs typeface="Tomorrow Bold"/>
                <a:sym typeface="Tomorrow Bold"/>
              </a:rPr>
              <a:t>Calculating:</a:t>
            </a:r>
          </a:p>
          <a:p>
            <a:pPr algn="ctr">
              <a:lnSpc>
                <a:spcPts val="3035"/>
              </a:lnSpc>
              <a:spcBef>
                <a:spcPct val="0"/>
              </a:spcBef>
            </a:pPr>
            <a:r>
              <a:rPr lang="en-US" sz="2334" b="1" spc="58">
                <a:solidFill>
                  <a:srgbClr val="000000"/>
                </a:solidFill>
                <a:latin typeface="Tomorrow Bold"/>
                <a:ea typeface="Tomorrow Bold"/>
                <a:cs typeface="Tomorrow Bold"/>
                <a:sym typeface="Tomorrow Bold"/>
              </a:rPr>
              <a:t>Calculating 0.11.1≈0.0909</a:t>
            </a:r>
          </a:p>
          <a:p>
            <a:pPr algn="ctr">
              <a:lnSpc>
                <a:spcPts val="3035"/>
              </a:lnSpc>
              <a:spcBef>
                <a:spcPct val="0"/>
              </a:spcBef>
            </a:pPr>
            <a:r>
              <a:rPr lang="en-US" sz="2334" b="1" spc="58">
                <a:solidFill>
                  <a:srgbClr val="000000"/>
                </a:solidFill>
                <a:latin typeface="Tomorrow Bold"/>
                <a:ea typeface="Tomorrow Bold"/>
                <a:cs typeface="Tomorrow Bold"/>
                <a:sym typeface="Tomorrow Bold"/>
              </a:rPr>
              <a:t>A=1,109,308,000×0.0909×1.5</a:t>
            </a:r>
          </a:p>
          <a:p>
            <a:pPr algn="ctr">
              <a:lnSpc>
                <a:spcPts val="3035"/>
              </a:lnSpc>
              <a:spcBef>
                <a:spcPct val="0"/>
              </a:spcBef>
            </a:pPr>
            <a:r>
              <a:rPr lang="en-US" sz="2334" b="1" spc="58">
                <a:solidFill>
                  <a:srgbClr val="000000"/>
                </a:solidFill>
                <a:latin typeface="Tomorrow Bold"/>
                <a:ea typeface="Tomorrow Bold"/>
                <a:cs typeface="Tomorrow Bold"/>
                <a:sym typeface="Tomorrow Bold"/>
              </a:rPr>
              <a:t>Calculating the </a:t>
            </a:r>
            <a:r>
              <a:rPr lang="en-US" sz="2334" b="1" i="1" spc="58">
                <a:solidFill>
                  <a:srgbClr val="000000"/>
                </a:solidFill>
                <a:latin typeface="Tomorrow Bold Italics"/>
                <a:ea typeface="Tomorrow Bold Italics"/>
                <a:cs typeface="Tomorrow Bold Italics"/>
                <a:sym typeface="Tomorrow Bold Italics"/>
              </a:rPr>
              <a:t>OPTIMAL </a:t>
            </a:r>
            <a:r>
              <a:rPr lang="en-US" sz="2334" b="1" spc="58">
                <a:solidFill>
                  <a:srgbClr val="000000"/>
                </a:solidFill>
                <a:latin typeface="Tomorrow Bold"/>
                <a:ea typeface="Tomorrow Bold"/>
                <a:cs typeface="Tomorrow Bold"/>
                <a:sym typeface="Tomorrow Bold"/>
              </a:rPr>
              <a:t>advertising expenditure:</a:t>
            </a:r>
          </a:p>
          <a:p>
            <a:pPr algn="ctr">
              <a:lnSpc>
                <a:spcPts val="3035"/>
              </a:lnSpc>
              <a:spcBef>
                <a:spcPct val="0"/>
              </a:spcBef>
            </a:pPr>
            <a:r>
              <a:rPr lang="en-US" sz="2334" b="1" spc="58">
                <a:solidFill>
                  <a:srgbClr val="000000"/>
                </a:solidFill>
                <a:latin typeface="Tomorrow Bold"/>
                <a:ea typeface="Tomorrow Bold"/>
                <a:cs typeface="Tomorrow Bold"/>
                <a:sym typeface="Tomorrow Bold"/>
              </a:rPr>
              <a:t>A≈1,109,308,000×0.0909×1.5≈151,254,145</a:t>
            </a:r>
          </a:p>
          <a:p>
            <a:pPr algn="ctr">
              <a:lnSpc>
                <a:spcPts val="3035"/>
              </a:lnSpc>
              <a:spcBef>
                <a:spcPct val="0"/>
              </a:spcBef>
            </a:pPr>
            <a:endParaRPr lang="en-US" sz="2334" b="1" spc="58">
              <a:solidFill>
                <a:srgbClr val="000000"/>
              </a:solidFill>
              <a:latin typeface="Tomorrow Bold"/>
              <a:ea typeface="Tomorrow Bold"/>
              <a:cs typeface="Tomorrow Bold"/>
              <a:sym typeface="Tomorrow Bold"/>
            </a:endParaRPr>
          </a:p>
        </p:txBody>
      </p:sp>
      <p:sp>
        <p:nvSpPr>
          <p:cNvPr id="14" name="TextBox 14"/>
          <p:cNvSpPr txBox="1"/>
          <p:nvPr/>
        </p:nvSpPr>
        <p:spPr>
          <a:xfrm>
            <a:off x="839628" y="2849188"/>
            <a:ext cx="8100936" cy="3476453"/>
          </a:xfrm>
          <a:prstGeom prst="rect">
            <a:avLst/>
          </a:prstGeom>
        </p:spPr>
        <p:txBody>
          <a:bodyPr lIns="0" tIns="0" rIns="0" bIns="0" rtlCol="0" anchor="t">
            <a:spAutoFit/>
          </a:bodyPr>
          <a:lstStyle/>
          <a:p>
            <a:pPr marL="521086" lvl="1" indent="-260543" algn="ctr">
              <a:lnSpc>
                <a:spcPts val="3137"/>
              </a:lnSpc>
              <a:buFont typeface="Arial"/>
              <a:buChar char="•"/>
            </a:pPr>
            <a:r>
              <a:rPr lang="en-US" sz="2413" b="1" i="1" spc="60">
                <a:solidFill>
                  <a:srgbClr val="FF1B50"/>
                </a:solidFill>
                <a:latin typeface="Tomorrow Bold Italics"/>
                <a:ea typeface="Tomorrow Bold Italics"/>
                <a:cs typeface="Tomorrow Bold Italics"/>
                <a:sym typeface="Tomorrow Bold Italics"/>
              </a:rPr>
              <a:t>Operational Costs Calculation</a:t>
            </a:r>
          </a:p>
          <a:p>
            <a:pPr algn="ctr">
              <a:lnSpc>
                <a:spcPts val="2747"/>
              </a:lnSpc>
            </a:pPr>
            <a:r>
              <a:rPr lang="en-US" sz="2113" b="1" spc="52">
                <a:solidFill>
                  <a:srgbClr val="000000"/>
                </a:solidFill>
                <a:latin typeface="Tomorrow Bold"/>
                <a:ea typeface="Tomorrow Bold"/>
                <a:cs typeface="Tomorrow Bold"/>
                <a:sym typeface="Tomorrow Bold"/>
              </a:rPr>
              <a:t>Production Cost per Vehicle: $30,000</a:t>
            </a:r>
          </a:p>
          <a:p>
            <a:pPr algn="ctr">
              <a:lnSpc>
                <a:spcPts val="2747"/>
              </a:lnSpc>
            </a:pPr>
            <a:r>
              <a:rPr lang="en-US" sz="2113" b="1" spc="52">
                <a:solidFill>
                  <a:srgbClr val="000000"/>
                </a:solidFill>
                <a:latin typeface="Tomorrow Bold"/>
                <a:ea typeface="Tomorrow Bold"/>
                <a:cs typeface="Tomorrow Bold"/>
                <a:sym typeface="Tomorrow Bold"/>
              </a:rPr>
              <a:t>Total Buyers: 20,000 units</a:t>
            </a:r>
          </a:p>
          <a:p>
            <a:pPr algn="ctr">
              <a:lnSpc>
                <a:spcPts val="2747"/>
              </a:lnSpc>
            </a:pPr>
            <a:r>
              <a:rPr lang="en-US" sz="2113" b="1" spc="52">
                <a:solidFill>
                  <a:srgbClr val="000000"/>
                </a:solidFill>
                <a:latin typeface="Tomorrow Bold"/>
                <a:ea typeface="Tomorrow Bold"/>
                <a:cs typeface="Tomorrow Bold"/>
                <a:sym typeface="Tomorrow Bold"/>
              </a:rPr>
              <a:t>Subscription Sustainibility Assumed Cost per User: $10,000</a:t>
            </a:r>
          </a:p>
          <a:p>
            <a:pPr algn="ctr">
              <a:lnSpc>
                <a:spcPts val="2747"/>
              </a:lnSpc>
            </a:pPr>
            <a:endParaRPr lang="en-US" sz="2113" b="1" spc="52">
              <a:solidFill>
                <a:srgbClr val="000000"/>
              </a:solidFill>
              <a:latin typeface="Tomorrow Bold"/>
              <a:ea typeface="Tomorrow Bold"/>
              <a:cs typeface="Tomorrow Bold"/>
              <a:sym typeface="Tomorrow Bold"/>
            </a:endParaRPr>
          </a:p>
          <a:p>
            <a:pPr algn="ctr">
              <a:lnSpc>
                <a:spcPts val="2747"/>
              </a:lnSpc>
            </a:pPr>
            <a:r>
              <a:rPr lang="en-US" sz="2113" b="1" spc="52">
                <a:solidFill>
                  <a:srgbClr val="000000"/>
                </a:solidFill>
                <a:latin typeface="Tomorrow Bold"/>
                <a:ea typeface="Tomorrow Bold"/>
                <a:cs typeface="Tomorrow Bold"/>
                <a:sym typeface="Tomorrow Bold"/>
              </a:rPr>
              <a:t>Total </a:t>
            </a:r>
          </a:p>
          <a:p>
            <a:pPr algn="ctr">
              <a:lnSpc>
                <a:spcPts val="2747"/>
              </a:lnSpc>
            </a:pPr>
            <a:r>
              <a:rPr lang="en-US" sz="2113" b="1" spc="52">
                <a:solidFill>
                  <a:srgbClr val="000000"/>
                </a:solidFill>
                <a:latin typeface="Tomorrow Bold"/>
                <a:ea typeface="Tomorrow Bold"/>
                <a:cs typeface="Tomorrow Bold"/>
                <a:sym typeface="Tomorrow Bold"/>
              </a:rPr>
              <a:t>Operational Costs</a:t>
            </a:r>
          </a:p>
          <a:p>
            <a:pPr algn="ctr">
              <a:lnSpc>
                <a:spcPts val="2747"/>
              </a:lnSpc>
            </a:pPr>
            <a:r>
              <a:rPr lang="en-US" sz="2113" b="1" spc="52">
                <a:solidFill>
                  <a:srgbClr val="000000"/>
                </a:solidFill>
                <a:latin typeface="Tomorrow Bold"/>
                <a:ea typeface="Tomorrow Bold"/>
                <a:cs typeface="Tomorrow Bold"/>
                <a:sym typeface="Tomorrow Bold"/>
              </a:rPr>
              <a:t>=30,000×20,000+ 10,000×20,000=800,000,000</a:t>
            </a:r>
          </a:p>
          <a:p>
            <a:pPr algn="ctr">
              <a:lnSpc>
                <a:spcPts val="2747"/>
              </a:lnSpc>
              <a:spcBef>
                <a:spcPct val="0"/>
              </a:spcBef>
            </a:pPr>
            <a:endParaRPr lang="en-US" sz="2113" b="1" spc="52">
              <a:solidFill>
                <a:srgbClr val="000000"/>
              </a:solidFill>
              <a:latin typeface="Tomorrow Bold"/>
              <a:ea typeface="Tomorrow Bold"/>
              <a:cs typeface="Tomorrow Bold"/>
              <a:sym typeface="Tomorrow Bold"/>
            </a:endParaRPr>
          </a:p>
        </p:txBody>
      </p:sp>
      <p:sp>
        <p:nvSpPr>
          <p:cNvPr id="15" name="TextBox 15"/>
          <p:cNvSpPr txBox="1"/>
          <p:nvPr/>
        </p:nvSpPr>
        <p:spPr>
          <a:xfrm>
            <a:off x="-687702" y="6939305"/>
            <a:ext cx="11853363" cy="3044825"/>
          </a:xfrm>
          <a:prstGeom prst="rect">
            <a:avLst/>
          </a:prstGeom>
        </p:spPr>
        <p:txBody>
          <a:bodyPr lIns="0" tIns="0" rIns="0" bIns="0" rtlCol="0" anchor="t">
            <a:spAutoFit/>
          </a:bodyPr>
          <a:lstStyle/>
          <a:p>
            <a:pPr algn="ctr">
              <a:lnSpc>
                <a:spcPts val="4549"/>
              </a:lnSpc>
            </a:pPr>
            <a:r>
              <a:rPr lang="en-US" sz="3499" b="1" i="1" spc="87">
                <a:solidFill>
                  <a:srgbClr val="000000"/>
                </a:solidFill>
                <a:latin typeface="Tomorrow Bold Italics"/>
                <a:ea typeface="Tomorrow Bold Italics"/>
                <a:cs typeface="Tomorrow Bold Italics"/>
                <a:sym typeface="Tomorrow Bold Italics"/>
              </a:rPr>
              <a:t>Summary of Costs</a:t>
            </a:r>
          </a:p>
          <a:p>
            <a:pPr algn="ctr">
              <a:lnSpc>
                <a:spcPts val="3899"/>
              </a:lnSpc>
            </a:pPr>
            <a:r>
              <a:rPr lang="en-US" sz="2999" b="1" spc="74">
                <a:solidFill>
                  <a:srgbClr val="000000"/>
                </a:solidFill>
                <a:latin typeface="Tomorrow Bold"/>
                <a:ea typeface="Tomorrow Bold"/>
                <a:cs typeface="Tomorrow Bold"/>
                <a:sym typeface="Tomorrow Bold"/>
              </a:rPr>
              <a:t>Total Operational Costs: $800,000,000</a:t>
            </a:r>
          </a:p>
          <a:p>
            <a:pPr algn="ctr">
              <a:lnSpc>
                <a:spcPts val="3899"/>
              </a:lnSpc>
            </a:pPr>
            <a:r>
              <a:rPr lang="en-US" sz="2999" b="1" spc="74">
                <a:solidFill>
                  <a:srgbClr val="000000"/>
                </a:solidFill>
                <a:latin typeface="Tomorrow Bold"/>
                <a:ea typeface="Tomorrow Bold"/>
                <a:cs typeface="Tomorrow Bold"/>
                <a:sym typeface="Tomorrow Bold"/>
              </a:rPr>
              <a:t>Total Advertising Costs:151,254,145</a:t>
            </a:r>
          </a:p>
          <a:p>
            <a:pPr algn="ctr">
              <a:lnSpc>
                <a:spcPts val="4159"/>
              </a:lnSpc>
            </a:pPr>
            <a:r>
              <a:rPr lang="en-US" sz="3199" b="1" i="1" spc="79">
                <a:solidFill>
                  <a:srgbClr val="000000"/>
                </a:solidFill>
                <a:latin typeface="Tomorrow Bold Italics"/>
                <a:ea typeface="Tomorrow Bold Italics"/>
                <a:cs typeface="Tomorrow Bold Italics"/>
                <a:sym typeface="Tomorrow Bold Italics"/>
              </a:rPr>
              <a:t>Total Costs Calculation:</a:t>
            </a:r>
          </a:p>
          <a:p>
            <a:pPr algn="ctr">
              <a:lnSpc>
                <a:spcPts val="3899"/>
              </a:lnSpc>
            </a:pPr>
            <a:r>
              <a:rPr lang="en-US" sz="2999" b="1" spc="74">
                <a:solidFill>
                  <a:srgbClr val="000000"/>
                </a:solidFill>
                <a:latin typeface="Tomorrow Bold"/>
                <a:ea typeface="Tomorrow Bold"/>
                <a:cs typeface="Tomorrow Bold"/>
                <a:sym typeface="Tomorrow Bold"/>
              </a:rPr>
              <a:t>    800,000,000+151,254,145=951,254,145</a:t>
            </a:r>
          </a:p>
          <a:p>
            <a:pPr algn="ctr">
              <a:lnSpc>
                <a:spcPts val="3899"/>
              </a:lnSpc>
              <a:spcBef>
                <a:spcPct val="0"/>
              </a:spcBef>
            </a:pPr>
            <a:endParaRPr lang="en-US" sz="2999" b="1" spc="74">
              <a:solidFill>
                <a:srgbClr val="000000"/>
              </a:solidFill>
              <a:latin typeface="Tomorrow Bold"/>
              <a:ea typeface="Tomorrow Bold"/>
              <a:cs typeface="Tomorrow Bold"/>
              <a:sym typeface="Tomorrow Bold"/>
            </a:endParaRPr>
          </a:p>
        </p:txBody>
      </p:sp>
      <p:sp>
        <p:nvSpPr>
          <p:cNvPr id="16" name="TextBox 16"/>
          <p:cNvSpPr txBox="1"/>
          <p:nvPr/>
        </p:nvSpPr>
        <p:spPr>
          <a:xfrm>
            <a:off x="12278623" y="1972752"/>
            <a:ext cx="4633912" cy="362585"/>
          </a:xfrm>
          <a:prstGeom prst="rect">
            <a:avLst/>
          </a:prstGeom>
        </p:spPr>
        <p:txBody>
          <a:bodyPr lIns="0" tIns="0" rIns="0" bIns="0" rtlCol="0" anchor="t">
            <a:spAutoFit/>
          </a:bodyPr>
          <a:lstStyle/>
          <a:p>
            <a:pPr algn="ctr">
              <a:lnSpc>
                <a:spcPts val="2859"/>
              </a:lnSpc>
              <a:spcBef>
                <a:spcPct val="0"/>
              </a:spcBef>
            </a:pPr>
            <a:r>
              <a:rPr lang="en-US" sz="2199" i="1" u="sng" spc="54">
                <a:solidFill>
                  <a:srgbClr val="000000"/>
                </a:solidFill>
                <a:latin typeface="Tomorrow Italics"/>
                <a:ea typeface="Tomorrow Italics"/>
                <a:cs typeface="Tomorrow Italics"/>
                <a:sym typeface="Tomorrow Italics"/>
              </a:rPr>
              <a:t>using  Dorfman-Steiner Theorem</a:t>
            </a:r>
          </a:p>
        </p:txBody>
      </p:sp>
      <p:sp>
        <p:nvSpPr>
          <p:cNvPr id="17" name="TextBox 17"/>
          <p:cNvSpPr txBox="1"/>
          <p:nvPr/>
        </p:nvSpPr>
        <p:spPr>
          <a:xfrm>
            <a:off x="10868207" y="9562465"/>
            <a:ext cx="7454743" cy="724535"/>
          </a:xfrm>
          <a:prstGeom prst="rect">
            <a:avLst/>
          </a:prstGeom>
        </p:spPr>
        <p:txBody>
          <a:bodyPr lIns="0" tIns="0" rIns="0" bIns="0" rtlCol="0" anchor="t">
            <a:spAutoFit/>
          </a:bodyPr>
          <a:lstStyle/>
          <a:p>
            <a:pPr algn="ctr">
              <a:lnSpc>
                <a:spcPts val="2859"/>
              </a:lnSpc>
              <a:spcBef>
                <a:spcPct val="0"/>
              </a:spcBef>
            </a:pPr>
            <a:r>
              <a:rPr lang="en-US" sz="2199" i="1" u="sng" spc="54">
                <a:solidFill>
                  <a:srgbClr val="FF1B50"/>
                </a:solidFill>
                <a:latin typeface="Tomorrow Italics"/>
                <a:ea typeface="Tomorrow Italics"/>
                <a:cs typeface="Tomorrow Italics"/>
                <a:sym typeface="Tomorrow Italics"/>
              </a:rPr>
              <a:t>note: we are continuing calculating with penetration rate of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9B9B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4382306" y="299270"/>
            <a:ext cx="9529375" cy="10884750"/>
          </a:xfrm>
          <a:prstGeom prst="rect">
            <a:avLst/>
          </a:prstGeom>
        </p:spPr>
      </p:pic>
      <p:sp>
        <p:nvSpPr>
          <p:cNvPr id="3" name="TextBox 3"/>
          <p:cNvSpPr txBox="1"/>
          <p:nvPr/>
        </p:nvSpPr>
        <p:spPr>
          <a:xfrm>
            <a:off x="4763691" y="295274"/>
            <a:ext cx="8760619" cy="733426"/>
          </a:xfrm>
          <a:prstGeom prst="rect">
            <a:avLst/>
          </a:prstGeom>
        </p:spPr>
        <p:txBody>
          <a:bodyPr lIns="0" tIns="0" rIns="0" bIns="0" rtlCol="0" anchor="t">
            <a:spAutoFit/>
          </a:bodyPr>
          <a:lstStyle/>
          <a:p>
            <a:pPr algn="ctr">
              <a:lnSpc>
                <a:spcPts val="5849"/>
              </a:lnSpc>
              <a:spcBef>
                <a:spcPct val="0"/>
              </a:spcBef>
            </a:pPr>
            <a:r>
              <a:rPr lang="en-US" sz="4499" b="1" spc="112">
                <a:solidFill>
                  <a:srgbClr val="000000"/>
                </a:solidFill>
                <a:latin typeface="Tomorrow Bold"/>
                <a:ea typeface="Tomorrow Bold"/>
                <a:cs typeface="Tomorrow Bold"/>
                <a:sym typeface="Tomorrow Bold"/>
              </a:rPr>
              <a:t>PIE GRAPH FOR TOTAL COST</a:t>
            </a:r>
          </a:p>
        </p:txBody>
      </p:sp>
      <p:sp>
        <p:nvSpPr>
          <p:cNvPr id="4" name="Freeform 4"/>
          <p:cNvSpPr/>
          <p:nvPr/>
        </p:nvSpPr>
        <p:spPr>
          <a:xfrm>
            <a:off x="10408102" y="-6267"/>
            <a:ext cx="7871516" cy="6596343"/>
          </a:xfrm>
          <a:custGeom>
            <a:avLst/>
            <a:gdLst/>
            <a:ahLst/>
            <a:cxnLst/>
            <a:rect l="l" t="t" r="r" b="b"/>
            <a:pathLst>
              <a:path w="12393089" h="9453843">
                <a:moveTo>
                  <a:pt x="0" y="0"/>
                </a:moveTo>
                <a:lnTo>
                  <a:pt x="12393089" y="0"/>
                </a:lnTo>
                <a:lnTo>
                  <a:pt x="12393089" y="9453843"/>
                </a:lnTo>
                <a:lnTo>
                  <a:pt x="0" y="94538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4881" y="4179562"/>
            <a:ext cx="7266399" cy="6125697"/>
          </a:xfrm>
          <a:custGeom>
            <a:avLst/>
            <a:gdLst/>
            <a:ahLst/>
            <a:cxnLst/>
            <a:rect l="l" t="t" r="r" b="b"/>
            <a:pathLst>
              <a:path w="12393089" h="9453843">
                <a:moveTo>
                  <a:pt x="0" y="0"/>
                </a:moveTo>
                <a:lnTo>
                  <a:pt x="12393089" y="0"/>
                </a:lnTo>
                <a:lnTo>
                  <a:pt x="12393089" y="9453842"/>
                </a:lnTo>
                <a:lnTo>
                  <a:pt x="0" y="945384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036" y="6900"/>
            <a:ext cx="4759867" cy="3537138"/>
          </a:xfrm>
          <a:custGeom>
            <a:avLst/>
            <a:gdLst/>
            <a:ahLst/>
            <a:cxnLst/>
            <a:rect l="l" t="t" r="r" b="b"/>
            <a:pathLst>
              <a:path w="12393089" h="9453843">
                <a:moveTo>
                  <a:pt x="0" y="0"/>
                </a:moveTo>
                <a:lnTo>
                  <a:pt x="12393089" y="0"/>
                </a:lnTo>
                <a:lnTo>
                  <a:pt x="12393089" y="9453842"/>
                </a:lnTo>
                <a:lnTo>
                  <a:pt x="0" y="945384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11885363" y="4417457"/>
            <a:ext cx="6409148" cy="5873564"/>
          </a:xfrm>
          <a:custGeom>
            <a:avLst/>
            <a:gdLst/>
            <a:ahLst/>
            <a:cxnLst/>
            <a:rect l="l" t="t" r="r" b="b"/>
            <a:pathLst>
              <a:path w="12393089" h="9453843">
                <a:moveTo>
                  <a:pt x="0" y="0"/>
                </a:moveTo>
                <a:lnTo>
                  <a:pt x="12393089" y="0"/>
                </a:lnTo>
                <a:lnTo>
                  <a:pt x="12393089" y="9453843"/>
                </a:lnTo>
                <a:lnTo>
                  <a:pt x="0" y="94538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822061" y="5498"/>
            <a:ext cx="7485124" cy="10273877"/>
            <a:chOff x="0" y="0"/>
            <a:chExt cx="2564611" cy="2975925"/>
          </a:xfrm>
        </p:grpSpPr>
        <p:sp>
          <p:nvSpPr>
            <p:cNvPr id="3" name="Freeform 3"/>
            <p:cNvSpPr/>
            <p:nvPr/>
          </p:nvSpPr>
          <p:spPr>
            <a:xfrm>
              <a:off x="0" y="0"/>
              <a:ext cx="2564611" cy="2975925"/>
            </a:xfrm>
            <a:custGeom>
              <a:avLst/>
              <a:gdLst/>
              <a:ahLst/>
              <a:cxnLst/>
              <a:rect l="l" t="t" r="r" b="b"/>
              <a:pathLst>
                <a:path w="2564611" h="2975925">
                  <a:moveTo>
                    <a:pt x="0" y="0"/>
                  </a:moveTo>
                  <a:lnTo>
                    <a:pt x="2564611" y="0"/>
                  </a:lnTo>
                  <a:lnTo>
                    <a:pt x="2564611" y="2975925"/>
                  </a:lnTo>
                  <a:lnTo>
                    <a:pt x="0" y="2975925"/>
                  </a:lnTo>
                  <a:close/>
                </a:path>
              </a:pathLst>
            </a:custGeom>
            <a:solidFill>
              <a:srgbClr val="2E282B"/>
            </a:solidFill>
          </p:spPr>
        </p:sp>
        <p:sp>
          <p:nvSpPr>
            <p:cNvPr id="4" name="TextBox 4"/>
            <p:cNvSpPr txBox="1"/>
            <p:nvPr/>
          </p:nvSpPr>
          <p:spPr>
            <a:xfrm>
              <a:off x="0" y="-28575"/>
              <a:ext cx="2564611" cy="3004500"/>
            </a:xfrm>
            <a:prstGeom prst="rect">
              <a:avLst/>
            </a:prstGeom>
          </p:spPr>
          <p:txBody>
            <a:bodyPr lIns="50800" tIns="50800" rIns="50800" bIns="50800" rtlCol="0" anchor="ctr"/>
            <a:lstStyle/>
            <a:p>
              <a:pPr algn="ctr">
                <a:lnSpc>
                  <a:spcPts val="2859"/>
                </a:lnSpc>
              </a:pPr>
              <a:endParaRPr/>
            </a:p>
          </p:txBody>
        </p:sp>
      </p:grpSp>
      <p:sp>
        <p:nvSpPr>
          <p:cNvPr id="5" name="TextBox 5"/>
          <p:cNvSpPr txBox="1"/>
          <p:nvPr/>
        </p:nvSpPr>
        <p:spPr>
          <a:xfrm>
            <a:off x="1028700" y="1019175"/>
            <a:ext cx="16041577" cy="1333500"/>
          </a:xfrm>
          <a:prstGeom prst="rect">
            <a:avLst/>
          </a:prstGeom>
        </p:spPr>
        <p:txBody>
          <a:bodyPr lIns="0" tIns="0" rIns="0" bIns="0" rtlCol="0" anchor="t">
            <a:spAutoFit/>
          </a:bodyPr>
          <a:lstStyle/>
          <a:p>
            <a:pPr algn="l">
              <a:lnSpc>
                <a:spcPts val="10439"/>
              </a:lnSpc>
            </a:pPr>
            <a:r>
              <a:rPr lang="en-US" sz="8699" spc="-217">
                <a:solidFill>
                  <a:srgbClr val="FF1B50"/>
                </a:solidFill>
                <a:latin typeface="Sifonn"/>
                <a:ea typeface="Sifonn"/>
                <a:cs typeface="Sifonn"/>
                <a:sym typeface="Sifonn"/>
              </a:rPr>
              <a:t>FINAL PROFIT </a:t>
            </a:r>
          </a:p>
        </p:txBody>
      </p:sp>
      <p:sp>
        <p:nvSpPr>
          <p:cNvPr id="6" name="TextBox 6"/>
          <p:cNvSpPr txBox="1"/>
          <p:nvPr/>
        </p:nvSpPr>
        <p:spPr>
          <a:xfrm>
            <a:off x="1028700" y="2314575"/>
            <a:ext cx="10990132" cy="1285875"/>
          </a:xfrm>
          <a:prstGeom prst="rect">
            <a:avLst/>
          </a:prstGeom>
        </p:spPr>
        <p:txBody>
          <a:bodyPr lIns="0" tIns="0" rIns="0" bIns="0" rtlCol="0" anchor="t">
            <a:spAutoFit/>
          </a:bodyPr>
          <a:lstStyle/>
          <a:p>
            <a:pPr algn="l">
              <a:lnSpc>
                <a:spcPts val="10199"/>
              </a:lnSpc>
            </a:pPr>
            <a:r>
              <a:rPr lang="en-US" sz="8499" u="sng" spc="-212">
                <a:solidFill>
                  <a:srgbClr val="FFFFFF"/>
                </a:solidFill>
                <a:latin typeface="Sifonn"/>
                <a:ea typeface="Sifonn"/>
                <a:cs typeface="Sifonn"/>
                <a:sym typeface="Sifonn"/>
              </a:rPr>
              <a:t>CALCULATION</a:t>
            </a:r>
          </a:p>
        </p:txBody>
      </p:sp>
      <p:sp>
        <p:nvSpPr>
          <p:cNvPr id="7" name="Freeform 7"/>
          <p:cNvSpPr/>
          <p:nvPr/>
        </p:nvSpPr>
        <p:spPr>
          <a:xfrm>
            <a:off x="11244561" y="-3763"/>
            <a:ext cx="7062623" cy="10298639"/>
          </a:xfrm>
          <a:custGeom>
            <a:avLst/>
            <a:gdLst/>
            <a:ahLst/>
            <a:cxnLst/>
            <a:rect l="l" t="t" r="r" b="b"/>
            <a:pathLst>
              <a:path w="6978579" h="13189755">
                <a:moveTo>
                  <a:pt x="0" y="0"/>
                </a:moveTo>
                <a:lnTo>
                  <a:pt x="6978580" y="0"/>
                </a:lnTo>
                <a:lnTo>
                  <a:pt x="6978580" y="13189755"/>
                </a:lnTo>
                <a:lnTo>
                  <a:pt x="0" y="13189755"/>
                </a:lnTo>
                <a:lnTo>
                  <a:pt x="0" y="0"/>
                </a:lnTo>
                <a:close/>
              </a:path>
            </a:pathLst>
          </a:custGeom>
          <a:blipFill>
            <a:blip r:embed="rId2">
              <a:extLst>
                <a:ext uri="{96DAC541-7B7A-43D3-8B79-37D633B846F1}">
                  <asvg:svgBlip xmlns:asvg="http://schemas.microsoft.com/office/drawing/2016/SVG/main" r:embed="rId3"/>
                </a:ext>
              </a:extLst>
            </a:blip>
            <a:stretch>
              <a:fillRect/>
            </a:stretch>
          </a:blipFill>
          <a:ln>
            <a:solidFill>
              <a:srgbClr val="4472C4"/>
            </a:solidFill>
          </a:ln>
        </p:spPr>
      </p:sp>
      <p:sp>
        <p:nvSpPr>
          <p:cNvPr id="8" name="TextBox 8"/>
          <p:cNvSpPr txBox="1"/>
          <p:nvPr/>
        </p:nvSpPr>
        <p:spPr>
          <a:xfrm>
            <a:off x="0" y="4119083"/>
            <a:ext cx="11197796" cy="3543935"/>
          </a:xfrm>
          <a:prstGeom prst="rect">
            <a:avLst/>
          </a:prstGeom>
        </p:spPr>
        <p:txBody>
          <a:bodyPr lIns="0" tIns="0" rIns="0" bIns="0" rtlCol="0" anchor="t">
            <a:spAutoFit/>
          </a:bodyPr>
          <a:lstStyle/>
          <a:p>
            <a:pPr marL="712464" lvl="1" indent="-356232" algn="ctr">
              <a:lnSpc>
                <a:spcPts val="4289"/>
              </a:lnSpc>
              <a:buFont typeface="Arial"/>
              <a:buChar char="•"/>
            </a:pPr>
            <a:r>
              <a:rPr lang="en-US" sz="3299" b="1" i="1" u="sng" spc="82">
                <a:solidFill>
                  <a:srgbClr val="FF1B50"/>
                </a:solidFill>
                <a:latin typeface="Tomorrow Bold Italics"/>
                <a:ea typeface="Tomorrow Bold Italics"/>
                <a:cs typeface="Tomorrow Bold Italics"/>
                <a:sym typeface="Tomorrow Bold Italics"/>
              </a:rPr>
              <a:t>Final Profit Calculation</a:t>
            </a:r>
          </a:p>
          <a:p>
            <a:pPr algn="ctr">
              <a:lnSpc>
                <a:spcPts val="3379"/>
              </a:lnSpc>
              <a:spcBef>
                <a:spcPct val="0"/>
              </a:spcBef>
            </a:pPr>
            <a:r>
              <a:rPr lang="en-US" sz="2599" b="1" spc="64">
                <a:solidFill>
                  <a:srgbClr val="FF1B50"/>
                </a:solidFill>
                <a:latin typeface="Tomorrow Bold"/>
                <a:ea typeface="Tomorrow Bold"/>
                <a:cs typeface="Tomorrow Bold"/>
                <a:sym typeface="Tomorrow Bold"/>
              </a:rPr>
              <a:t>Profit Formula: π=TR−TC</a:t>
            </a:r>
          </a:p>
          <a:p>
            <a:pPr algn="ctr">
              <a:lnSpc>
                <a:spcPts val="3379"/>
              </a:lnSpc>
              <a:spcBef>
                <a:spcPct val="0"/>
              </a:spcBef>
            </a:pPr>
            <a:endParaRPr lang="en-US" sz="2599" b="1" spc="64">
              <a:solidFill>
                <a:srgbClr val="FF1B50"/>
              </a:solidFill>
              <a:latin typeface="Tomorrow Bold"/>
              <a:ea typeface="Tomorrow Bold"/>
              <a:cs typeface="Tomorrow Bold"/>
              <a:sym typeface="Tomorrow Bold"/>
            </a:endParaRPr>
          </a:p>
          <a:p>
            <a:pPr algn="ctr">
              <a:lnSpc>
                <a:spcPts val="3379"/>
              </a:lnSpc>
              <a:spcBef>
                <a:spcPct val="0"/>
              </a:spcBef>
            </a:pPr>
            <a:endParaRPr lang="en-US" sz="2599" b="1" spc="64">
              <a:solidFill>
                <a:srgbClr val="FF1B50"/>
              </a:solidFill>
              <a:latin typeface="Tomorrow Bold"/>
              <a:ea typeface="Tomorrow Bold"/>
              <a:cs typeface="Tomorrow Bold"/>
              <a:sym typeface="Tomorrow Bold"/>
            </a:endParaRPr>
          </a:p>
          <a:p>
            <a:pPr algn="ctr">
              <a:lnSpc>
                <a:spcPts val="3379"/>
              </a:lnSpc>
              <a:spcBef>
                <a:spcPct val="0"/>
              </a:spcBef>
            </a:pPr>
            <a:endParaRPr lang="en-US" sz="2599" b="1" spc="64">
              <a:solidFill>
                <a:srgbClr val="FF1B50"/>
              </a:solidFill>
              <a:latin typeface="Tomorrow Bold"/>
              <a:ea typeface="Tomorrow Bold"/>
              <a:cs typeface="Tomorrow Bold"/>
              <a:sym typeface="Tomorrow Bold"/>
            </a:endParaRPr>
          </a:p>
          <a:p>
            <a:pPr algn="ctr">
              <a:lnSpc>
                <a:spcPts val="3379"/>
              </a:lnSpc>
              <a:spcBef>
                <a:spcPct val="0"/>
              </a:spcBef>
            </a:pPr>
            <a:endParaRPr lang="en-US" sz="2599" b="1" spc="64">
              <a:solidFill>
                <a:srgbClr val="FF1B50"/>
              </a:solidFill>
              <a:latin typeface="Tomorrow Bold"/>
              <a:ea typeface="Tomorrow Bold"/>
              <a:cs typeface="Tomorrow Bold"/>
              <a:sym typeface="Tomorrow Bold"/>
            </a:endParaRPr>
          </a:p>
          <a:p>
            <a:pPr algn="ctr">
              <a:lnSpc>
                <a:spcPts val="3379"/>
              </a:lnSpc>
              <a:spcBef>
                <a:spcPct val="0"/>
              </a:spcBef>
            </a:pPr>
            <a:endParaRPr lang="en-US" sz="2599" b="1" spc="64">
              <a:solidFill>
                <a:srgbClr val="FF1B50"/>
              </a:solidFill>
              <a:latin typeface="Tomorrow Bold"/>
              <a:ea typeface="Tomorrow Bold"/>
              <a:cs typeface="Tomorrow Bold"/>
              <a:sym typeface="Tomorrow Bold"/>
            </a:endParaRPr>
          </a:p>
          <a:p>
            <a:pPr algn="ctr">
              <a:lnSpc>
                <a:spcPts val="3379"/>
              </a:lnSpc>
              <a:spcBef>
                <a:spcPct val="0"/>
              </a:spcBef>
            </a:pPr>
            <a:endParaRPr lang="en-US" sz="2599" b="1" spc="64">
              <a:solidFill>
                <a:srgbClr val="FF1B50"/>
              </a:solidFill>
              <a:latin typeface="Tomorrow Bold"/>
              <a:ea typeface="Tomorrow Bold"/>
              <a:cs typeface="Tomorrow Bold"/>
              <a:sym typeface="Tomorrow Bold"/>
            </a:endParaRPr>
          </a:p>
        </p:txBody>
      </p:sp>
      <p:sp>
        <p:nvSpPr>
          <p:cNvPr id="9" name="TextBox 9"/>
          <p:cNvSpPr txBox="1"/>
          <p:nvPr/>
        </p:nvSpPr>
        <p:spPr>
          <a:xfrm>
            <a:off x="0" y="6356436"/>
            <a:ext cx="10822061" cy="2258060"/>
          </a:xfrm>
          <a:prstGeom prst="rect">
            <a:avLst/>
          </a:prstGeom>
        </p:spPr>
        <p:txBody>
          <a:bodyPr lIns="0" tIns="0" rIns="0" bIns="0" rtlCol="0" anchor="t">
            <a:spAutoFit/>
          </a:bodyPr>
          <a:lstStyle/>
          <a:p>
            <a:pPr marL="712464" lvl="1" indent="-356232" algn="ctr">
              <a:lnSpc>
                <a:spcPts val="4289"/>
              </a:lnSpc>
              <a:buFont typeface="Arial"/>
              <a:buChar char="•"/>
            </a:pPr>
            <a:r>
              <a:rPr lang="en-US" sz="3299" b="1" i="1" u="sng" spc="82">
                <a:solidFill>
                  <a:srgbClr val="FF1B50"/>
                </a:solidFill>
                <a:latin typeface="Tomorrow Bold Italics"/>
                <a:ea typeface="Tomorrow Bold Italics"/>
                <a:cs typeface="Tomorrow Bold Italics"/>
                <a:sym typeface="Tomorrow Bold Italics"/>
              </a:rPr>
              <a:t>Profit Calculation:</a:t>
            </a:r>
          </a:p>
          <a:p>
            <a:pPr algn="ctr">
              <a:lnSpc>
                <a:spcPts val="3379"/>
              </a:lnSpc>
            </a:pPr>
            <a:endParaRPr lang="en-US" sz="3299" b="1" i="1" u="sng" spc="82">
              <a:solidFill>
                <a:srgbClr val="FF1B50"/>
              </a:solidFill>
              <a:latin typeface="Tomorrow Bold Italics"/>
              <a:ea typeface="Tomorrow Bold Italics"/>
              <a:cs typeface="Tomorrow Bold Italics"/>
              <a:sym typeface="Tomorrow Bold Italics"/>
            </a:endParaRPr>
          </a:p>
          <a:p>
            <a:pPr algn="ctr">
              <a:lnSpc>
                <a:spcPts val="3379"/>
              </a:lnSpc>
            </a:pPr>
            <a:endParaRPr lang="en-US" sz="3299" b="1" i="1" u="sng" spc="82">
              <a:solidFill>
                <a:srgbClr val="FF1B50"/>
              </a:solidFill>
              <a:latin typeface="Tomorrow Bold Italics"/>
              <a:ea typeface="Tomorrow Bold Italics"/>
              <a:cs typeface="Tomorrow Bold Italics"/>
              <a:sym typeface="Tomorrow Bold Italics"/>
            </a:endParaRPr>
          </a:p>
          <a:p>
            <a:pPr algn="ctr">
              <a:lnSpc>
                <a:spcPts val="3379"/>
              </a:lnSpc>
            </a:pPr>
            <a:endParaRPr lang="en-US" sz="3299" b="1" i="1" u="sng" spc="82">
              <a:solidFill>
                <a:srgbClr val="FF1B50"/>
              </a:solidFill>
              <a:latin typeface="Tomorrow Bold Italics"/>
              <a:ea typeface="Tomorrow Bold Italics"/>
              <a:cs typeface="Tomorrow Bold Italics"/>
              <a:sym typeface="Tomorrow Bold Italics"/>
            </a:endParaRPr>
          </a:p>
          <a:p>
            <a:pPr algn="ctr">
              <a:lnSpc>
                <a:spcPts val="3379"/>
              </a:lnSpc>
              <a:spcBef>
                <a:spcPct val="0"/>
              </a:spcBef>
            </a:pPr>
            <a:r>
              <a:rPr lang="en-US" sz="2599" b="1" spc="64">
                <a:solidFill>
                  <a:srgbClr val="FF1B50"/>
                </a:solidFill>
                <a:latin typeface="Tomorrow Bold"/>
                <a:ea typeface="Tomorrow Bold"/>
                <a:cs typeface="Tomorrow Bold"/>
                <a:sym typeface="Tomorrow Bold"/>
              </a:rPr>
              <a:t> π=1,109,308,000−951,254,145=158,053,855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E282B"/>
        </a:solidFill>
        <a:effectLst/>
      </p:bgPr>
    </p:bg>
    <p:spTree>
      <p:nvGrpSpPr>
        <p:cNvPr id="1" name=""/>
        <p:cNvGrpSpPr/>
        <p:nvPr/>
      </p:nvGrpSpPr>
      <p:grpSpPr>
        <a:xfrm>
          <a:off x="0" y="0"/>
          <a:ext cx="0" cy="0"/>
          <a:chOff x="0" y="0"/>
          <a:chExt cx="0" cy="0"/>
        </a:xfrm>
      </p:grpSpPr>
      <p:sp>
        <p:nvSpPr>
          <p:cNvPr id="2" name="TextBox 2"/>
          <p:cNvSpPr txBox="1"/>
          <p:nvPr/>
        </p:nvSpPr>
        <p:spPr>
          <a:xfrm>
            <a:off x="5107841" y="159703"/>
            <a:ext cx="8879141" cy="1476686"/>
          </a:xfrm>
          <a:prstGeom prst="rect">
            <a:avLst/>
          </a:prstGeom>
        </p:spPr>
        <p:txBody>
          <a:bodyPr wrap="square" lIns="0" tIns="0" rIns="0" bIns="0" rtlCol="0" anchor="t">
            <a:spAutoFit/>
          </a:bodyPr>
          <a:lstStyle/>
          <a:p>
            <a:pPr algn="ctr">
              <a:lnSpc>
                <a:spcPts val="12880"/>
              </a:lnSpc>
            </a:pPr>
            <a:r>
              <a:rPr lang="en-US" sz="9200" b="1" i="1" strike="sngStrike">
                <a:solidFill>
                  <a:srgbClr val="FFFFFF"/>
                </a:solidFill>
                <a:latin typeface="Tomorrow Bold Italics"/>
                <a:ea typeface="Tomorrow Bold Italics"/>
                <a:cs typeface="Tomorrow Bold Italics"/>
                <a:sym typeface="Tomorrow Bold Italics"/>
              </a:rPr>
              <a:t>CONCLUSION</a:t>
            </a:r>
          </a:p>
        </p:txBody>
      </p:sp>
      <p:sp>
        <p:nvSpPr>
          <p:cNvPr id="3" name="TextBox 3"/>
          <p:cNvSpPr txBox="1"/>
          <p:nvPr/>
        </p:nvSpPr>
        <p:spPr>
          <a:xfrm>
            <a:off x="296565" y="1985790"/>
            <a:ext cx="17694870" cy="1448435"/>
          </a:xfrm>
          <a:prstGeom prst="rect">
            <a:avLst/>
          </a:prstGeom>
        </p:spPr>
        <p:txBody>
          <a:bodyPr lIns="0" tIns="0" rIns="0" bIns="0" rtlCol="0" anchor="t">
            <a:spAutoFit/>
          </a:bodyPr>
          <a:lstStyle/>
          <a:p>
            <a:pPr algn="ctr">
              <a:lnSpc>
                <a:spcPts val="2859"/>
              </a:lnSpc>
              <a:spcBef>
                <a:spcPct val="0"/>
              </a:spcBef>
            </a:pPr>
            <a:r>
              <a:rPr lang="en-US" sz="2199" b="1" spc="54">
                <a:solidFill>
                  <a:srgbClr val="FFFFFF"/>
                </a:solidFill>
                <a:latin typeface="Tomorrow Bold"/>
                <a:ea typeface="Tomorrow Bold"/>
                <a:cs typeface="Tomorrow Bold"/>
                <a:sym typeface="Tomorrow Bold"/>
              </a:rPr>
              <a:t>As McKinsey consultant, I present a comprehensive advertising strategy for the BMW Series 3 subscription model that not only maximizes profitability but also stands out as the most appealing solution during these challenging economic times ruling out other competitors’ strategies. Again this approach focuses on a competitive subscription model tailored for price-sensitive consumers facing recession.</a:t>
            </a:r>
          </a:p>
        </p:txBody>
      </p:sp>
      <p:sp>
        <p:nvSpPr>
          <p:cNvPr id="4" name="TextBox 4"/>
          <p:cNvSpPr txBox="1"/>
          <p:nvPr/>
        </p:nvSpPr>
        <p:spPr>
          <a:xfrm>
            <a:off x="2326660" y="3610243"/>
            <a:ext cx="13634681" cy="1810385"/>
          </a:xfrm>
          <a:prstGeom prst="rect">
            <a:avLst/>
          </a:prstGeom>
        </p:spPr>
        <p:txBody>
          <a:bodyPr lIns="0" tIns="0" rIns="0" bIns="0" rtlCol="0" anchor="t">
            <a:spAutoFit/>
          </a:bodyPr>
          <a:lstStyle/>
          <a:p>
            <a:pPr marL="474979" lvl="1" indent="-237490" algn="ctr">
              <a:lnSpc>
                <a:spcPts val="2859"/>
              </a:lnSpc>
              <a:spcBef>
                <a:spcPct val="0"/>
              </a:spcBef>
              <a:buFont typeface="Arial"/>
              <a:buChar char="•"/>
            </a:pPr>
            <a:r>
              <a:rPr lang="en-US" sz="2199" spc="54">
                <a:solidFill>
                  <a:srgbClr val="FF1B50"/>
                </a:solidFill>
                <a:latin typeface="Tomorrow"/>
                <a:ea typeface="Tomorrow"/>
                <a:cs typeface="Tomorrow"/>
                <a:sym typeface="Tomorrow"/>
              </a:rPr>
              <a:t>Robust Revenue Potential:</a:t>
            </a:r>
          </a:p>
          <a:p>
            <a:pPr algn="ctr">
              <a:lnSpc>
                <a:spcPts val="2859"/>
              </a:lnSpc>
              <a:spcBef>
                <a:spcPct val="0"/>
              </a:spcBef>
            </a:pPr>
            <a:r>
              <a:rPr lang="en-US" sz="2199" spc="54">
                <a:solidFill>
                  <a:srgbClr val="FF1B50"/>
                </a:solidFill>
                <a:latin typeface="Tomorrow"/>
                <a:ea typeface="Tomorrow"/>
                <a:cs typeface="Tomorrow"/>
                <a:sym typeface="Tomorrow"/>
              </a:rPr>
              <a:t>Total Revenue for 1% Penetration is projected at $1,109,308,000.</a:t>
            </a:r>
          </a:p>
          <a:p>
            <a:pPr algn="ctr">
              <a:lnSpc>
                <a:spcPts val="2859"/>
              </a:lnSpc>
              <a:spcBef>
                <a:spcPct val="0"/>
              </a:spcBef>
            </a:pPr>
            <a:r>
              <a:rPr lang="en-US" sz="2199" spc="54">
                <a:solidFill>
                  <a:srgbClr val="FF1B50"/>
                </a:solidFill>
                <a:latin typeface="Tomorrow"/>
                <a:ea typeface="Tomorrow"/>
                <a:cs typeface="Tomorrow"/>
                <a:sym typeface="Tomorrow"/>
              </a:rPr>
              <a:t>The Upfront Fee from all buyers adds an additional $8,000,000, significantly enhancing cash flow.</a:t>
            </a:r>
          </a:p>
          <a:p>
            <a:pPr algn="ctr">
              <a:lnSpc>
                <a:spcPts val="2859"/>
              </a:lnSpc>
              <a:spcBef>
                <a:spcPct val="0"/>
              </a:spcBef>
            </a:pPr>
            <a:endParaRPr lang="en-US" sz="2199" spc="54">
              <a:solidFill>
                <a:srgbClr val="FF1B50"/>
              </a:solidFill>
              <a:latin typeface="Tomorrow"/>
              <a:ea typeface="Tomorrow"/>
              <a:cs typeface="Tomorrow"/>
              <a:sym typeface="Tomorrow"/>
            </a:endParaRPr>
          </a:p>
          <a:p>
            <a:pPr algn="ctr">
              <a:lnSpc>
                <a:spcPts val="2859"/>
              </a:lnSpc>
              <a:spcBef>
                <a:spcPct val="0"/>
              </a:spcBef>
            </a:pPr>
            <a:endParaRPr lang="en-US" sz="2199" spc="54">
              <a:solidFill>
                <a:srgbClr val="FF1B50"/>
              </a:solidFill>
              <a:latin typeface="Tomorrow"/>
              <a:ea typeface="Tomorrow"/>
              <a:cs typeface="Tomorrow"/>
              <a:sym typeface="Tomorrow"/>
            </a:endParaRPr>
          </a:p>
        </p:txBody>
      </p:sp>
      <p:sp>
        <p:nvSpPr>
          <p:cNvPr id="5" name="TextBox 5"/>
          <p:cNvSpPr txBox="1"/>
          <p:nvPr/>
        </p:nvSpPr>
        <p:spPr>
          <a:xfrm>
            <a:off x="0" y="5114925"/>
            <a:ext cx="18288000" cy="1810385"/>
          </a:xfrm>
          <a:prstGeom prst="rect">
            <a:avLst/>
          </a:prstGeom>
        </p:spPr>
        <p:txBody>
          <a:bodyPr lIns="0" tIns="0" rIns="0" bIns="0" rtlCol="0" anchor="t">
            <a:spAutoFit/>
          </a:bodyPr>
          <a:lstStyle/>
          <a:p>
            <a:pPr marL="474979" lvl="1" indent="-237490" algn="ctr">
              <a:lnSpc>
                <a:spcPts val="2859"/>
              </a:lnSpc>
              <a:buFont typeface="Arial"/>
              <a:buChar char="•"/>
            </a:pPr>
            <a:r>
              <a:rPr lang="en-US" sz="2199" spc="54">
                <a:solidFill>
                  <a:srgbClr val="FFFFFF"/>
                </a:solidFill>
                <a:latin typeface="Tomorrow"/>
                <a:ea typeface="Tomorrow"/>
                <a:cs typeface="Tomorrow"/>
                <a:sym typeface="Tomorrow"/>
              </a:rPr>
              <a:t>Effective Advertising Strategy:</a:t>
            </a:r>
          </a:p>
          <a:p>
            <a:pPr algn="ctr">
              <a:lnSpc>
                <a:spcPts val="2859"/>
              </a:lnSpc>
              <a:spcBef>
                <a:spcPct val="0"/>
              </a:spcBef>
            </a:pPr>
            <a:r>
              <a:rPr lang="en-US" sz="2199" spc="54">
                <a:solidFill>
                  <a:srgbClr val="FFFFFF"/>
                </a:solidFill>
                <a:latin typeface="Tomorrow"/>
                <a:ea typeface="Tomorrow"/>
                <a:cs typeface="Tomorrow"/>
                <a:sym typeface="Tomorrow"/>
              </a:rPr>
              <a:t>We recommend optimal advertising expenditures calculated through the Dorfman-Steiner theorem, estimated at $151,254,145.</a:t>
            </a:r>
          </a:p>
          <a:p>
            <a:pPr algn="ctr">
              <a:lnSpc>
                <a:spcPts val="2859"/>
              </a:lnSpc>
              <a:spcBef>
                <a:spcPct val="0"/>
              </a:spcBef>
            </a:pPr>
            <a:r>
              <a:rPr lang="en-US" sz="2199" spc="54">
                <a:solidFill>
                  <a:srgbClr val="FFFFFF"/>
                </a:solidFill>
                <a:latin typeface="Tomorrow"/>
                <a:ea typeface="Tomorrow"/>
                <a:cs typeface="Tomorrow"/>
                <a:sym typeface="Tomorrow"/>
              </a:rPr>
              <a:t>This investment will enhance brand visibility and drive demand, effectively leveraging a Dorfman-Steiner ratio that maximizes return on advertising spend.</a:t>
            </a:r>
          </a:p>
          <a:p>
            <a:pPr algn="ctr">
              <a:lnSpc>
                <a:spcPts val="2859"/>
              </a:lnSpc>
              <a:spcBef>
                <a:spcPct val="0"/>
              </a:spcBef>
            </a:pPr>
            <a:endParaRPr lang="en-US" sz="2199" spc="54">
              <a:solidFill>
                <a:srgbClr val="FFFFFF"/>
              </a:solidFill>
              <a:latin typeface="Tomorrow"/>
              <a:ea typeface="Tomorrow"/>
              <a:cs typeface="Tomorrow"/>
              <a:sym typeface="Tomorrow"/>
            </a:endParaRPr>
          </a:p>
        </p:txBody>
      </p:sp>
      <p:sp>
        <p:nvSpPr>
          <p:cNvPr id="6" name="TextBox 6"/>
          <p:cNvSpPr txBox="1"/>
          <p:nvPr/>
        </p:nvSpPr>
        <p:spPr>
          <a:xfrm>
            <a:off x="0" y="6977770"/>
            <a:ext cx="18288000" cy="1448435"/>
          </a:xfrm>
          <a:prstGeom prst="rect">
            <a:avLst/>
          </a:prstGeom>
        </p:spPr>
        <p:txBody>
          <a:bodyPr lIns="0" tIns="0" rIns="0" bIns="0" rtlCol="0" anchor="t">
            <a:spAutoFit/>
          </a:bodyPr>
          <a:lstStyle/>
          <a:p>
            <a:pPr marL="474979" lvl="1" indent="-237490" algn="ctr">
              <a:lnSpc>
                <a:spcPts val="2859"/>
              </a:lnSpc>
              <a:buFont typeface="Arial"/>
              <a:buChar char="•"/>
            </a:pPr>
            <a:r>
              <a:rPr lang="en-US" sz="2199" spc="54">
                <a:solidFill>
                  <a:srgbClr val="FF1B50"/>
                </a:solidFill>
                <a:latin typeface="Tomorrow"/>
                <a:ea typeface="Tomorrow"/>
                <a:cs typeface="Tomorrow"/>
                <a:sym typeface="Tomorrow"/>
              </a:rPr>
              <a:t>Cost Management:</a:t>
            </a:r>
          </a:p>
          <a:p>
            <a:pPr algn="ctr">
              <a:lnSpc>
                <a:spcPts val="2859"/>
              </a:lnSpc>
              <a:spcBef>
                <a:spcPct val="0"/>
              </a:spcBef>
            </a:pPr>
            <a:r>
              <a:rPr lang="en-US" sz="2199" spc="54">
                <a:solidFill>
                  <a:srgbClr val="FF1B50"/>
                </a:solidFill>
                <a:latin typeface="Tomorrow"/>
                <a:ea typeface="Tomorrow"/>
                <a:cs typeface="Tomorrow"/>
                <a:sym typeface="Tomorrow"/>
              </a:rPr>
              <a:t>Total Operational Costs are calculated at $800,000,000, including the subscription model, that we ensure, remains financially sustainable.</a:t>
            </a:r>
          </a:p>
          <a:p>
            <a:pPr algn="ctr">
              <a:lnSpc>
                <a:spcPts val="2859"/>
              </a:lnSpc>
              <a:spcBef>
                <a:spcPct val="0"/>
              </a:spcBef>
            </a:pPr>
            <a:endParaRPr lang="en-US" sz="2199" spc="54">
              <a:solidFill>
                <a:srgbClr val="FF1B50"/>
              </a:solidFill>
              <a:latin typeface="Tomorrow"/>
              <a:ea typeface="Tomorrow"/>
              <a:cs typeface="Tomorrow"/>
              <a:sym typeface="Tomorrow"/>
            </a:endParaRPr>
          </a:p>
        </p:txBody>
      </p:sp>
      <p:sp>
        <p:nvSpPr>
          <p:cNvPr id="7" name="TextBox 7"/>
          <p:cNvSpPr txBox="1"/>
          <p:nvPr/>
        </p:nvSpPr>
        <p:spPr>
          <a:xfrm>
            <a:off x="593130" y="8921505"/>
            <a:ext cx="17694870" cy="742315"/>
          </a:xfrm>
          <a:prstGeom prst="rect">
            <a:avLst/>
          </a:prstGeom>
        </p:spPr>
        <p:txBody>
          <a:bodyPr lIns="0" tIns="0" rIns="0" bIns="0" rtlCol="0" anchor="t">
            <a:spAutoFit/>
          </a:bodyPr>
          <a:lstStyle/>
          <a:p>
            <a:pPr algn="ctr">
              <a:lnSpc>
                <a:spcPts val="2989"/>
              </a:lnSpc>
              <a:spcBef>
                <a:spcPct val="0"/>
              </a:spcBef>
            </a:pPr>
            <a:r>
              <a:rPr lang="en-US" sz="2299" b="1" spc="57">
                <a:solidFill>
                  <a:srgbClr val="FFFFFF"/>
                </a:solidFill>
                <a:latin typeface="Tomorrow Bold"/>
                <a:ea typeface="Tomorrow Bold"/>
                <a:cs typeface="Tomorrow Bold"/>
                <a:sym typeface="Tomorrow Bold"/>
              </a:rPr>
              <a:t>We urge BMW to adopt this strategic plan, embracing the opportunity to lead in the market with an attractive offering during recessionary periods which still has </a:t>
            </a:r>
            <a:r>
              <a:rPr lang="en-US" sz="2299" b="1" spc="57">
                <a:solidFill>
                  <a:srgbClr val="FF1B50"/>
                </a:solidFill>
                <a:latin typeface="Tomorrow Bold"/>
                <a:ea typeface="Tomorrow Bold"/>
                <a:cs typeface="Tomorrow Bold"/>
                <a:sym typeface="Tomorrow Bold"/>
              </a:rPr>
              <a:t>$158,053,855</a:t>
            </a:r>
            <a:r>
              <a:rPr lang="en-US" sz="2299" b="1" spc="57">
                <a:solidFill>
                  <a:srgbClr val="FFFFFF"/>
                </a:solidFill>
                <a:latin typeface="Tomorrow Bold"/>
                <a:ea typeface="Tomorrow Bold"/>
                <a:cs typeface="Tomorrow Bold"/>
                <a:sym typeface="Tomorrow Bold"/>
              </a:rPr>
              <a:t> profit.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D6D6D"/>
        </a:solidFill>
        <a:effectLst/>
      </p:bgPr>
    </p:bg>
    <p:spTree>
      <p:nvGrpSpPr>
        <p:cNvPr id="1" name=""/>
        <p:cNvGrpSpPr/>
        <p:nvPr/>
      </p:nvGrpSpPr>
      <p:grpSpPr>
        <a:xfrm>
          <a:off x="0" y="0"/>
          <a:ext cx="0" cy="0"/>
          <a:chOff x="0" y="0"/>
          <a:chExt cx="0" cy="0"/>
        </a:xfrm>
      </p:grpSpPr>
      <p:sp>
        <p:nvSpPr>
          <p:cNvPr id="2" name="TextBox 2"/>
          <p:cNvSpPr txBox="1"/>
          <p:nvPr/>
        </p:nvSpPr>
        <p:spPr>
          <a:xfrm>
            <a:off x="3129571" y="-171450"/>
            <a:ext cx="12028859" cy="1460495"/>
          </a:xfrm>
          <a:prstGeom prst="rect">
            <a:avLst/>
          </a:prstGeom>
        </p:spPr>
        <p:txBody>
          <a:bodyPr lIns="0" tIns="0" rIns="0" bIns="0" rtlCol="0" anchor="t">
            <a:spAutoFit/>
          </a:bodyPr>
          <a:lstStyle/>
          <a:p>
            <a:pPr algn="ctr">
              <a:lnSpc>
                <a:spcPts val="11900"/>
              </a:lnSpc>
            </a:pPr>
            <a:r>
              <a:rPr lang="en-US" sz="8500" b="1" i="1" u="sng" strike="sngStrike">
                <a:solidFill>
                  <a:srgbClr val="000000"/>
                </a:solidFill>
                <a:latin typeface="Canva Sans Bold Italics"/>
                <a:ea typeface="Canva Sans Bold Italics"/>
                <a:cs typeface="Canva Sans Bold Italics"/>
                <a:sym typeface="Canva Sans Bold Italics"/>
              </a:rPr>
              <a:t>BACK-UP SLIDE</a:t>
            </a:r>
          </a:p>
        </p:txBody>
      </p:sp>
      <p:sp>
        <p:nvSpPr>
          <p:cNvPr id="3" name="TextBox 3"/>
          <p:cNvSpPr txBox="1"/>
          <p:nvPr/>
        </p:nvSpPr>
        <p:spPr>
          <a:xfrm>
            <a:off x="4151531" y="1193795"/>
            <a:ext cx="9984938"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INTERACTION WITH CHAT-GPT</a:t>
            </a:r>
          </a:p>
        </p:txBody>
      </p:sp>
      <p:sp>
        <p:nvSpPr>
          <p:cNvPr id="4" name="TextBox 4"/>
          <p:cNvSpPr txBox="1"/>
          <p:nvPr/>
        </p:nvSpPr>
        <p:spPr>
          <a:xfrm>
            <a:off x="0" y="2014215"/>
            <a:ext cx="18288000" cy="1180465"/>
          </a:xfrm>
          <a:prstGeom prst="rect">
            <a:avLst/>
          </a:prstGeom>
        </p:spPr>
        <p:txBody>
          <a:bodyPr lIns="0" tIns="0" rIns="0" bIns="0" rtlCol="0" anchor="t">
            <a:spAutoFit/>
          </a:bodyPr>
          <a:lstStyle/>
          <a:p>
            <a:pPr algn="ctr">
              <a:lnSpc>
                <a:spcPts val="4759"/>
              </a:lnSpc>
            </a:pPr>
            <a:r>
              <a:rPr lang="en-US" sz="3399" b="1">
                <a:solidFill>
                  <a:srgbClr val="FF1B50"/>
                </a:solidFill>
                <a:latin typeface="Canva Sans Bold"/>
                <a:ea typeface="Canva Sans Bold"/>
                <a:cs typeface="Canva Sans Bold"/>
                <a:sym typeface="Canva Sans Bold"/>
              </a:rPr>
              <a:t>I decided that  the best summary of my interaction with CHAT-GPT could be greatly provided by CHAT-GPT itself,  here is its summarization:</a:t>
            </a:r>
          </a:p>
        </p:txBody>
      </p:sp>
      <p:sp>
        <p:nvSpPr>
          <p:cNvPr id="5" name="TextBox 5"/>
          <p:cNvSpPr txBox="1"/>
          <p:nvPr/>
        </p:nvSpPr>
        <p:spPr>
          <a:xfrm>
            <a:off x="0" y="3396214"/>
            <a:ext cx="18288000" cy="6917722"/>
          </a:xfrm>
          <a:prstGeom prst="rect">
            <a:avLst/>
          </a:prstGeom>
        </p:spPr>
        <p:txBody>
          <a:bodyPr lIns="0" tIns="0" rIns="0" bIns="0" rtlCol="0" anchor="t">
            <a:spAutoFit/>
          </a:bodyPr>
          <a:lstStyle/>
          <a:p>
            <a:pPr algn="ctr">
              <a:lnSpc>
                <a:spcPts val="2397"/>
              </a:lnSpc>
            </a:pPr>
            <a:r>
              <a:rPr lang="en-US" sz="1844" b="1" spc="46">
                <a:solidFill>
                  <a:srgbClr val="000000"/>
                </a:solidFill>
                <a:latin typeface="Tomorrow Bold"/>
                <a:ea typeface="Tomorrow Bold"/>
                <a:cs typeface="Tomorrow Bold"/>
                <a:sym typeface="Tomorrow Bold"/>
              </a:rPr>
              <a:t>,,In our collaborative effort to devise a robust strategy for the BMW Series 3 subscription model, we have successfully navigated the complexities of market dynamics and consumer behavior during a recession. Through insightful discussions and data-driven analysis, we tailored an approach that not only enhances profitability but also appeals directly to price-sensitive customers.</a:t>
            </a:r>
          </a:p>
          <a:p>
            <a:pPr algn="ctr">
              <a:lnSpc>
                <a:spcPts val="2397"/>
              </a:lnSpc>
            </a:pPr>
            <a:r>
              <a:rPr lang="en-US" sz="1844" b="1" spc="46">
                <a:solidFill>
                  <a:srgbClr val="000000"/>
                </a:solidFill>
                <a:latin typeface="Tomorrow Bold"/>
                <a:ea typeface="Tomorrow Bold"/>
                <a:cs typeface="Tomorrow Bold"/>
                <a:sym typeface="Tomorrow Bold"/>
              </a:rPr>
              <a:t>Our process included:</a:t>
            </a:r>
          </a:p>
          <a:p>
            <a:pPr marL="398213" lvl="1" indent="-199107" algn="ctr">
              <a:lnSpc>
                <a:spcPts val="2397"/>
              </a:lnSpc>
              <a:buAutoNum type="arabicPeriod"/>
            </a:pPr>
            <a:r>
              <a:rPr lang="en-US" sz="1844" b="1" spc="46">
                <a:solidFill>
                  <a:srgbClr val="000000"/>
                </a:solidFill>
                <a:latin typeface="Tomorrow Bold"/>
                <a:ea typeface="Tomorrow Bold"/>
                <a:cs typeface="Tomorrow Bold"/>
                <a:sym typeface="Tomorrow Bold"/>
              </a:rPr>
              <a:t>Identifying Key Market Challenges:</a:t>
            </a:r>
          </a:p>
          <a:p>
            <a:pPr marL="796426" lvl="2" indent="-265475" algn="ctr">
              <a:lnSpc>
                <a:spcPts val="2397"/>
              </a:lnSpc>
              <a:buFont typeface="Arial"/>
              <a:buChar char="⚬"/>
            </a:pPr>
            <a:r>
              <a:rPr lang="en-US" sz="1844" b="1" spc="46">
                <a:solidFill>
                  <a:srgbClr val="000000"/>
                </a:solidFill>
                <a:latin typeface="Tomorrow Bold"/>
                <a:ea typeface="Tomorrow Bold"/>
                <a:cs typeface="Tomorrow Bold"/>
                <a:sym typeface="Tomorrow Bold"/>
              </a:rPr>
              <a:t>We thoroughly analyzed the impact of economic downturns on consumer purchasing behavior, understanding the need for affordable options without sacrificing quality.</a:t>
            </a:r>
          </a:p>
          <a:p>
            <a:pPr marL="398213" lvl="1" indent="-199107" algn="ctr">
              <a:lnSpc>
                <a:spcPts val="2397"/>
              </a:lnSpc>
              <a:buAutoNum type="arabicPeriod"/>
            </a:pPr>
            <a:r>
              <a:rPr lang="en-US" sz="1844" b="1" spc="46">
                <a:solidFill>
                  <a:srgbClr val="000000"/>
                </a:solidFill>
                <a:latin typeface="Tomorrow Bold"/>
                <a:ea typeface="Tomorrow Bold"/>
                <a:cs typeface="Tomorrow Bold"/>
                <a:sym typeface="Tomorrow Bold"/>
              </a:rPr>
              <a:t>Developing a Comprehensive Pricing and Advertising Strategy:</a:t>
            </a:r>
          </a:p>
          <a:p>
            <a:pPr marL="796426" lvl="2" indent="-265475" algn="ctr">
              <a:lnSpc>
                <a:spcPts val="2397"/>
              </a:lnSpc>
              <a:buFont typeface="Arial"/>
              <a:buChar char="⚬"/>
            </a:pPr>
            <a:r>
              <a:rPr lang="en-US" sz="1844" b="1" spc="46">
                <a:solidFill>
                  <a:srgbClr val="000000"/>
                </a:solidFill>
                <a:latin typeface="Tomorrow Bold"/>
                <a:ea typeface="Tomorrow Bold"/>
                <a:cs typeface="Tomorrow Bold"/>
                <a:sym typeface="Tomorrow Bold"/>
              </a:rPr>
              <a:t>We constructed a detailed pricing framework, considering competitive pricing tiers and advertising strategies that ensure maximum visibility and demand.</a:t>
            </a:r>
          </a:p>
          <a:p>
            <a:pPr marL="796426" lvl="2" indent="-265475" algn="ctr">
              <a:lnSpc>
                <a:spcPts val="2397"/>
              </a:lnSpc>
              <a:spcBef>
                <a:spcPct val="0"/>
              </a:spcBef>
              <a:buFont typeface="Arial"/>
              <a:buChar char="⚬"/>
            </a:pPr>
            <a:r>
              <a:rPr lang="en-US" sz="1844" b="1" spc="46">
                <a:solidFill>
                  <a:srgbClr val="000000"/>
                </a:solidFill>
                <a:latin typeface="Tomorrow Bold"/>
                <a:ea typeface="Tomorrow Bold"/>
                <a:cs typeface="Tomorrow Bold"/>
                <a:sym typeface="Tomorrow Bold"/>
              </a:rPr>
              <a:t>The integration of the Dorfman-Steiner theorem allowed us to optimize advertising expenditures effectively, ensuring that every dollar spent contributes to increasing market share.</a:t>
            </a:r>
          </a:p>
          <a:p>
            <a:pPr marL="398213" lvl="1" indent="-199107" algn="ctr">
              <a:lnSpc>
                <a:spcPts val="2397"/>
              </a:lnSpc>
              <a:spcBef>
                <a:spcPct val="0"/>
              </a:spcBef>
              <a:buAutoNum type="arabicPeriod"/>
            </a:pPr>
            <a:r>
              <a:rPr lang="en-US" sz="1844" b="1" spc="46">
                <a:solidFill>
                  <a:srgbClr val="000000"/>
                </a:solidFill>
                <a:latin typeface="Tomorrow Bold"/>
                <a:ea typeface="Tomorrow Bold"/>
                <a:cs typeface="Tomorrow Bold"/>
                <a:sym typeface="Tomorrow Bold"/>
              </a:rPr>
              <a:t>Rigorous Calculations and Financial Forecasting:</a:t>
            </a:r>
          </a:p>
          <a:p>
            <a:pPr marL="796426" lvl="2" indent="-265475" algn="ctr">
              <a:lnSpc>
                <a:spcPts val="2397"/>
              </a:lnSpc>
              <a:spcBef>
                <a:spcPct val="0"/>
              </a:spcBef>
              <a:buFont typeface="Arial"/>
              <a:buChar char="⚬"/>
            </a:pPr>
            <a:r>
              <a:rPr lang="en-US" sz="1844" b="1" spc="46">
                <a:solidFill>
                  <a:srgbClr val="000000"/>
                </a:solidFill>
                <a:latin typeface="Tomorrow Bold"/>
                <a:ea typeface="Tomorrow Bold"/>
                <a:cs typeface="Tomorrow Bold"/>
                <a:sym typeface="Tomorrow Bold"/>
              </a:rPr>
              <a:t>Each aspect of the strategy was supported by precise calculations, from total revenue projections to operational and advertising costs.</a:t>
            </a:r>
          </a:p>
          <a:p>
            <a:pPr marL="796426" lvl="2" indent="-265475" algn="ctr">
              <a:lnSpc>
                <a:spcPts val="2397"/>
              </a:lnSpc>
              <a:spcBef>
                <a:spcPct val="0"/>
              </a:spcBef>
              <a:buFont typeface="Arial"/>
              <a:buChar char="⚬"/>
            </a:pPr>
            <a:r>
              <a:rPr lang="en-US" sz="1844" b="1" spc="46">
                <a:solidFill>
                  <a:srgbClr val="000000"/>
                </a:solidFill>
                <a:latin typeface="Tomorrow Bold"/>
                <a:ea typeface="Tomorrow Bold"/>
                <a:cs typeface="Tomorrow Bold"/>
                <a:sym typeface="Tomorrow Bold"/>
              </a:rPr>
              <a:t>By predicting total revenues and costs associated with varying penetration rates, we provided a clear financial outlook that showcases the potential for significant profitability.</a:t>
            </a:r>
          </a:p>
          <a:p>
            <a:pPr marL="398213" lvl="1" indent="-199107" algn="ctr">
              <a:lnSpc>
                <a:spcPts val="2397"/>
              </a:lnSpc>
              <a:spcBef>
                <a:spcPct val="0"/>
              </a:spcBef>
              <a:buAutoNum type="arabicPeriod"/>
            </a:pPr>
            <a:r>
              <a:rPr lang="en-US" sz="1844" b="1" spc="46">
                <a:solidFill>
                  <a:srgbClr val="000000"/>
                </a:solidFill>
                <a:latin typeface="Tomorrow Bold"/>
                <a:ea typeface="Tomorrow Bold"/>
                <a:cs typeface="Tomorrow Bold"/>
                <a:sym typeface="Tomorrow Bold"/>
              </a:rPr>
              <a:t>Final Recommendations:</a:t>
            </a:r>
          </a:p>
          <a:p>
            <a:pPr marL="796426" lvl="2" indent="-265475" algn="ctr">
              <a:lnSpc>
                <a:spcPts val="2397"/>
              </a:lnSpc>
              <a:spcBef>
                <a:spcPct val="0"/>
              </a:spcBef>
              <a:buFont typeface="Arial"/>
              <a:buChar char="⚬"/>
            </a:pPr>
            <a:r>
              <a:rPr lang="en-US" sz="1844" b="1" spc="46">
                <a:solidFill>
                  <a:srgbClr val="000000"/>
                </a:solidFill>
                <a:latin typeface="Tomorrow Bold"/>
                <a:ea typeface="Tomorrow Bold"/>
                <a:cs typeface="Tomorrow Bold"/>
                <a:sym typeface="Tomorrow Bold"/>
              </a:rPr>
              <a:t>Our conclusion emphasizes the feasibility of achieving a profit of approximately $158,053,855, validating the strength of our proposed subscription model.</a:t>
            </a:r>
          </a:p>
          <a:p>
            <a:pPr marL="796426" lvl="2" indent="-265475" algn="ctr">
              <a:lnSpc>
                <a:spcPts val="2397"/>
              </a:lnSpc>
              <a:spcBef>
                <a:spcPct val="0"/>
              </a:spcBef>
              <a:buFont typeface="Arial"/>
              <a:buChar char="⚬"/>
            </a:pPr>
            <a:r>
              <a:rPr lang="en-US" sz="1844" b="1" spc="46">
                <a:solidFill>
                  <a:srgbClr val="000000"/>
                </a:solidFill>
                <a:latin typeface="Tomorrow Bold"/>
                <a:ea typeface="Tomorrow Bold"/>
                <a:cs typeface="Tomorrow Bold"/>
                <a:sym typeface="Tomorrow Bold"/>
              </a:rPr>
              <a:t>This comprehensive strategy not only positions BMW as a leader in the market during recessionary times but also ensures sustainable growth and long-term success.’’ - CHAT_GPT</a:t>
            </a:r>
          </a:p>
          <a:p>
            <a:pPr algn="ctr">
              <a:lnSpc>
                <a:spcPts val="2397"/>
              </a:lnSpc>
              <a:spcBef>
                <a:spcPct val="0"/>
              </a:spcBef>
            </a:pPr>
            <a:endParaRPr lang="en-US" sz="1844" b="1" spc="46">
              <a:solidFill>
                <a:srgbClr val="000000"/>
              </a:solidFill>
              <a:latin typeface="Tomorrow Bold"/>
              <a:ea typeface="Tomorrow Bold"/>
              <a:cs typeface="Tomorrow Bold"/>
              <a:sym typeface="Tomorrow Bold"/>
            </a:endParaRPr>
          </a:p>
          <a:p>
            <a:pPr algn="ctr">
              <a:lnSpc>
                <a:spcPts val="2397"/>
              </a:lnSpc>
              <a:spcBef>
                <a:spcPct val="0"/>
              </a:spcBef>
            </a:pPr>
            <a:endParaRPr lang="en-US" sz="1844" b="1" spc="46">
              <a:solidFill>
                <a:srgbClr val="000000"/>
              </a:solidFill>
              <a:latin typeface="Tomorrow Bold"/>
              <a:ea typeface="Tomorrow Bold"/>
              <a:cs typeface="Tomorrow Bold"/>
              <a:sym typeface="Tomorrow 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1B50"/>
        </a:solidFill>
        <a:effectLst/>
      </p:bgPr>
    </p:bg>
    <p:spTree>
      <p:nvGrpSpPr>
        <p:cNvPr id="1" name=""/>
        <p:cNvGrpSpPr/>
        <p:nvPr/>
      </p:nvGrpSpPr>
      <p:grpSpPr>
        <a:xfrm>
          <a:off x="0" y="0"/>
          <a:ext cx="0" cy="0"/>
          <a:chOff x="0" y="0"/>
          <a:chExt cx="0" cy="0"/>
        </a:xfrm>
      </p:grpSpPr>
      <p:sp>
        <p:nvSpPr>
          <p:cNvPr id="2" name="TextBox 2"/>
          <p:cNvSpPr txBox="1"/>
          <p:nvPr/>
        </p:nvSpPr>
        <p:spPr>
          <a:xfrm>
            <a:off x="4699228" y="4358547"/>
            <a:ext cx="8906351" cy="1566544"/>
          </a:xfrm>
          <a:prstGeom prst="rect">
            <a:avLst/>
          </a:prstGeom>
        </p:spPr>
        <p:txBody>
          <a:bodyPr wrap="square" lIns="0" tIns="0" rIns="0" bIns="0" rtlCol="0" anchor="t">
            <a:spAutoFit/>
          </a:bodyPr>
          <a:lstStyle/>
          <a:p>
            <a:pPr algn="ctr">
              <a:lnSpc>
                <a:spcPts val="12880"/>
              </a:lnSpc>
            </a:pPr>
            <a:r>
              <a:rPr lang="en-US" sz="9200" b="1" i="1">
                <a:solidFill>
                  <a:srgbClr val="000000"/>
                </a:solidFill>
                <a:latin typeface="Canva Sans Bold Italics"/>
                <a:ea typeface="Canva Sans Bold Italics"/>
                <a:cs typeface="Canva Sans Bold Italics"/>
                <a:sym typeface="Canva Sans Bold Italics"/>
              </a:rPr>
              <a:t>THANKS!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9D87856353FA44892D7B59661C784F" ma:contentTypeVersion="5" ma:contentTypeDescription="Create a new document." ma:contentTypeScope="" ma:versionID="bfcbeb8488ecbb905ad373c5db457eab">
  <xsd:schema xmlns:xsd="http://www.w3.org/2001/XMLSchema" xmlns:xs="http://www.w3.org/2001/XMLSchema" xmlns:p="http://schemas.microsoft.com/office/2006/metadata/properties" xmlns:ns2="38cb079a-c0dc-49c2-8acd-b5800c4c30fb" targetNamespace="http://schemas.microsoft.com/office/2006/metadata/properties" ma:root="true" ma:fieldsID="4f797ce584a51189b1d16715f6847b31" ns2:_="">
    <xsd:import namespace="38cb079a-c0dc-49c2-8acd-b5800c4c30fb"/>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cb079a-c0dc-49c2-8acd-b5800c4c30fb"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38cb079a-c0dc-49c2-8acd-b5800c4c30fb" xsi:nil="true"/>
  </documentManagement>
</p:properties>
</file>

<file path=customXml/itemProps1.xml><?xml version="1.0" encoding="utf-8"?>
<ds:datastoreItem xmlns:ds="http://schemas.openxmlformats.org/officeDocument/2006/customXml" ds:itemID="{FF0B95A4-0F9F-4338-8807-CB905A5482F4}"/>
</file>

<file path=customXml/itemProps2.xml><?xml version="1.0" encoding="utf-8"?>
<ds:datastoreItem xmlns:ds="http://schemas.openxmlformats.org/officeDocument/2006/customXml" ds:itemID="{FAF6A76B-248A-4796-9347-57F670A52862}"/>
</file>

<file path=customXml/itemProps3.xml><?xml version="1.0" encoding="utf-8"?>
<ds:datastoreItem xmlns:ds="http://schemas.openxmlformats.org/officeDocument/2006/customXml" ds:itemID="{9CD89530-81E6-45B9-B5D4-1356DF566AA7}"/>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Pink Modern Marketing Plan Presentation</dc:title>
  <cp:revision>49</cp:revision>
  <dcterms:created xsi:type="dcterms:W3CDTF">2006-08-16T00:00:00Z</dcterms:created>
  <dcterms:modified xsi:type="dcterms:W3CDTF">2024-10-14T15:21:16Z</dcterms:modified>
  <dc:identifier>DAGTc9PKxKQ</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0x010100009D87856353FA44892D7B59661C784F</vt:lpwstr>
  </property>
</Properties>
</file>